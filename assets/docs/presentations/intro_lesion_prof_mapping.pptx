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2"/>
  </p:notesMasterIdLst>
  <p:handoutMasterIdLst>
    <p:handoutMasterId r:id="rId53"/>
  </p:handoutMasterIdLst>
  <p:sldIdLst>
    <p:sldId id="258" r:id="rId5"/>
    <p:sldId id="350" r:id="rId6"/>
    <p:sldId id="352" r:id="rId7"/>
    <p:sldId id="486" r:id="rId8"/>
    <p:sldId id="487" r:id="rId9"/>
    <p:sldId id="488" r:id="rId10"/>
    <p:sldId id="344" r:id="rId11"/>
    <p:sldId id="359" r:id="rId12"/>
    <p:sldId id="337" r:id="rId13"/>
    <p:sldId id="343" r:id="rId14"/>
    <p:sldId id="349" r:id="rId15"/>
    <p:sldId id="347" r:id="rId16"/>
    <p:sldId id="348" r:id="rId17"/>
    <p:sldId id="360" r:id="rId18"/>
    <p:sldId id="491" r:id="rId19"/>
    <p:sldId id="353" r:id="rId20"/>
    <p:sldId id="355" r:id="rId21"/>
    <p:sldId id="354" r:id="rId22"/>
    <p:sldId id="493" r:id="rId23"/>
    <p:sldId id="495" r:id="rId24"/>
    <p:sldId id="496" r:id="rId25"/>
    <p:sldId id="497" r:id="rId26"/>
    <p:sldId id="498" r:id="rId27"/>
    <p:sldId id="494" r:id="rId28"/>
    <p:sldId id="361" r:id="rId29"/>
    <p:sldId id="380" r:id="rId30"/>
    <p:sldId id="358" r:id="rId31"/>
    <p:sldId id="364" r:id="rId32"/>
    <p:sldId id="492" r:id="rId33"/>
    <p:sldId id="363" r:id="rId34"/>
    <p:sldId id="369" r:id="rId35"/>
    <p:sldId id="374" r:id="rId36"/>
    <p:sldId id="371" r:id="rId37"/>
    <p:sldId id="372" r:id="rId38"/>
    <p:sldId id="373" r:id="rId39"/>
    <p:sldId id="365" r:id="rId40"/>
    <p:sldId id="384" r:id="rId41"/>
    <p:sldId id="381" r:id="rId42"/>
    <p:sldId id="376" r:id="rId43"/>
    <p:sldId id="377" r:id="rId44"/>
    <p:sldId id="382" r:id="rId45"/>
    <p:sldId id="378" r:id="rId46"/>
    <p:sldId id="383" r:id="rId47"/>
    <p:sldId id="490" r:id="rId48"/>
    <p:sldId id="385" r:id="rId49"/>
    <p:sldId id="370" r:id="rId50"/>
    <p:sldId id="375"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392FA9-6CBF-434B-BC7C-E1CC95A9F4F1}" v="87" dt="2025-10-21T14:37:35.6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60455" autoAdjust="0"/>
  </p:normalViewPr>
  <p:slideViewPr>
    <p:cSldViewPr snapToGrid="0" snapToObjects="1">
      <p:cViewPr varScale="1">
        <p:scale>
          <a:sx n="38" d="100"/>
          <a:sy n="38" d="100"/>
        </p:scale>
        <p:origin x="2192" y="56"/>
      </p:cViewPr>
      <p:guideLst/>
    </p:cSldViewPr>
  </p:slideViewPr>
  <p:outlineViewPr>
    <p:cViewPr>
      <p:scale>
        <a:sx n="33" d="100"/>
        <a:sy n="33" d="100"/>
      </p:scale>
      <p:origin x="0" y="-31296"/>
    </p:cViewPr>
  </p:outlineViewPr>
  <p:notesTextViewPr>
    <p:cViewPr>
      <p:scale>
        <a:sx n="1" d="1"/>
        <a:sy n="1" d="1"/>
      </p:scale>
      <p:origin x="0" y="0"/>
    </p:cViewPr>
  </p:notesTextViewPr>
  <p:notesViewPr>
    <p:cSldViewPr snapToGrid="0" snapToObjects="1">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microsoft.com/office/2015/10/relationships/revisionInfo" Target="revisionInfo.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F77051E-B811-D949-830F-55D35BA79C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2EC375-152E-3F4A-8C1A-308E3DFABC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830E4C-56B7-2443-B370-610F8D1BCD9C}" type="datetimeFigureOut">
              <a:rPr lang="en-US" smtClean="0"/>
              <a:t>4/25/2026</a:t>
            </a:fld>
            <a:endParaRPr lang="en-US"/>
          </a:p>
        </p:txBody>
      </p:sp>
      <p:sp>
        <p:nvSpPr>
          <p:cNvPr id="4" name="Footer Placeholder 3">
            <a:extLst>
              <a:ext uri="{FF2B5EF4-FFF2-40B4-BE49-F238E27FC236}">
                <a16:creationId xmlns:a16="http://schemas.microsoft.com/office/drawing/2014/main" id="{3DAD90D4-C48B-C647-BA8A-B43CFA99A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B40E78B-91EF-F148-8F7B-2AEC532510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57D0152-5968-C24B-9EC0-2DFF74304A89}" type="slidenum">
              <a:rPr lang="en-US" smtClean="0"/>
              <a:t>‹#›</a:t>
            </a:fld>
            <a:endParaRPr lang="en-US"/>
          </a:p>
        </p:txBody>
      </p:sp>
    </p:spTree>
    <p:extLst>
      <p:ext uri="{BB962C8B-B14F-4D97-AF65-F5344CB8AC3E}">
        <p14:creationId xmlns:p14="http://schemas.microsoft.com/office/powerpoint/2010/main" val="1580248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D2FD1-B169-9B41-A890-0ECD81C3476C}" type="datetimeFigureOut">
              <a:rPr lang="en-US" smtClean="0"/>
              <a:t>4/25/2026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943EA-69D9-7E49-97CD-A49926F617C9}" type="slidenum">
              <a:rPr lang="en-US" smtClean="0"/>
              <a:t>‹#›</a:t>
            </a:fld>
            <a:endParaRPr lang="en-US" dirty="0"/>
          </a:p>
        </p:txBody>
      </p:sp>
    </p:spTree>
    <p:extLst>
      <p:ext uri="{BB962C8B-B14F-4D97-AF65-F5344CB8AC3E}">
        <p14:creationId xmlns:p14="http://schemas.microsoft.com/office/powerpoint/2010/main" val="173512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1</a:t>
            </a:fld>
            <a:endParaRPr lang="en-US" dirty="0"/>
          </a:p>
        </p:txBody>
      </p:sp>
    </p:spTree>
    <p:extLst>
      <p:ext uri="{BB962C8B-B14F-4D97-AF65-F5344CB8AC3E}">
        <p14:creationId xmlns:p14="http://schemas.microsoft.com/office/powerpoint/2010/main" val="174915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I’ll be following up on a presentation I gave several months ago. if you weren’t there / don’t remember that’s fine and shouldn’t impact your understanding of this presentation</a:t>
            </a:r>
          </a:p>
        </p:txBody>
      </p:sp>
      <p:sp>
        <p:nvSpPr>
          <p:cNvPr id="4" name="Slide Number Placeholder 3"/>
          <p:cNvSpPr>
            <a:spLocks noGrp="1"/>
          </p:cNvSpPr>
          <p:nvPr>
            <p:ph type="sldNum" sz="quarter" idx="5"/>
          </p:nvPr>
        </p:nvSpPr>
        <p:spPr/>
        <p:txBody>
          <a:bodyPr/>
          <a:lstStyle/>
          <a:p>
            <a:fld id="{769943EA-69D9-7E49-97CD-A49926F617C9}" type="slidenum">
              <a:rPr lang="en-US" smtClean="0"/>
              <a:t>2</a:t>
            </a:fld>
            <a:endParaRPr lang="en-US" dirty="0"/>
          </a:p>
        </p:txBody>
      </p:sp>
    </p:spTree>
    <p:extLst>
      <p:ext uri="{BB962C8B-B14F-4D97-AF65-F5344CB8AC3E}">
        <p14:creationId xmlns:p14="http://schemas.microsoft.com/office/powerpoint/2010/main" val="3098058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30,000 ft view: I’m interested in using rich data to elucidate brain-behavior relationships in patients with brain lesions.</a:t>
            </a:r>
          </a:p>
          <a:p>
            <a:pPr marL="628650" lvl="1" indent="-171450">
              <a:buFontTx/>
              <a:buChar char="-"/>
            </a:pPr>
            <a:r>
              <a:rPr lang="en-US" dirty="0"/>
              <a:t>A lot of my research entails using large datasets containing behavioral and MRI data to 1. answer basic science questions about functional neuroanatomy and 2. use neuroanatomical findings to predict the behavioral effects of a brain lesion based on where the lesion is.</a:t>
            </a:r>
          </a:p>
          <a:p>
            <a:pPr marL="628650" lvl="1" indent="-171450">
              <a:buFontTx/>
              <a:buChar char="-"/>
            </a:pPr>
            <a:r>
              <a:rPr lang="en-US" dirty="0"/>
              <a:t>As a post doc, I have been developing longitudinal predictive models that take in data collected within a week or two following a stroke and predict stroke outcomes months to years after lesion onset</a:t>
            </a:r>
          </a:p>
          <a:p>
            <a:pPr marL="1085850" lvl="2" indent="-171450">
              <a:buFontTx/>
              <a:buChar char="-"/>
            </a:pPr>
            <a:r>
              <a:rPr lang="en-US" dirty="0"/>
              <a:t>In my quest to do this with my PI, we developed a novel approach that I will be sharing we have dubbed ‘lesion profile mapping’</a:t>
            </a:r>
          </a:p>
          <a:p>
            <a:pPr marL="1085850" lvl="2" indent="-171450">
              <a:buFontTx/>
              <a:buChar char="-"/>
            </a:pPr>
            <a:r>
              <a:rPr lang="en-US" dirty="0"/>
              <a:t>Before I tell you what that is, I’ll first describe how we already perform these groupwise analyses</a:t>
            </a:r>
          </a:p>
          <a:p>
            <a:pPr marL="628650" lvl="1"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3</a:t>
            </a:fld>
            <a:endParaRPr lang="en-US" dirty="0"/>
          </a:p>
        </p:txBody>
      </p:sp>
    </p:spTree>
    <p:extLst>
      <p:ext uri="{BB962C8B-B14F-4D97-AF65-F5344CB8AC3E}">
        <p14:creationId xmlns:p14="http://schemas.microsoft.com/office/powerpoint/2010/main" val="807786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Lesion-symptom mapping is a statistical approach that identifies association between lesion cavity and behavior, </a:t>
            </a:r>
          </a:p>
          <a:p>
            <a:pPr marL="628650" lvl="1" indent="-171450">
              <a:buFontTx/>
              <a:buChar char="-"/>
            </a:pPr>
            <a:r>
              <a:rPr lang="en-US" dirty="0"/>
              <a:t>For example purposes, lets say we are trying to identify regions of brain damage associated with impaired time orientation</a:t>
            </a:r>
          </a:p>
          <a:p>
            <a:pPr marL="171450" lvl="0" indent="-171450">
              <a:buFontTx/>
              <a:buChar char="-"/>
            </a:pPr>
            <a:r>
              <a:rPr lang="en-US" dirty="0"/>
              <a:t>To do this, we first get research quality structural MRI (3T or 7T) and manually trace the lesion cavity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730BA-8EF1-44B5-B6B9-2B9D0A0DB2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35408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Which looks like this</a:t>
            </a:r>
          </a:p>
        </p:txBody>
      </p:sp>
      <p:sp>
        <p:nvSpPr>
          <p:cNvPr id="4" name="Slide Number Placeholder 3"/>
          <p:cNvSpPr>
            <a:spLocks noGrp="1"/>
          </p:cNvSpPr>
          <p:nvPr>
            <p:ph type="sldNum" sz="quarter" idx="5"/>
          </p:nvPr>
        </p:nvSpPr>
        <p:spPr/>
        <p:txBody>
          <a:bodyPr/>
          <a:lstStyle/>
          <a:p>
            <a:fld id="{769943EA-69D9-7E49-97CD-A49926F617C9}" type="slidenum">
              <a:rPr lang="en-US" smtClean="0"/>
              <a:t>5</a:t>
            </a:fld>
            <a:endParaRPr lang="en-US"/>
          </a:p>
        </p:txBody>
      </p:sp>
    </p:spTree>
    <p:extLst>
      <p:ext uri="{BB962C8B-B14F-4D97-AF65-F5344CB8AC3E}">
        <p14:creationId xmlns:p14="http://schemas.microsoft.com/office/powerpoint/2010/main" val="42619769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Each voxel for the final lesion mask is a binary value indicating the presence or absence of a lesion</a:t>
            </a:r>
          </a:p>
          <a:p>
            <a:pPr marL="628650" lvl="1" indent="-171450">
              <a:buFontTx/>
              <a:buChar char="-"/>
            </a:pPr>
            <a:r>
              <a:rPr lang="en-US" dirty="0"/>
              <a:t>This is called a lesion mask and we have one for every patient in a cohort</a:t>
            </a:r>
          </a:p>
          <a:p>
            <a:pPr marL="628650" lvl="1" indent="-171450">
              <a:buFontTx/>
              <a:buChar char="-"/>
            </a:pPr>
            <a:r>
              <a:rPr lang="en-US" dirty="0"/>
              <a:t>Then the statistical analysis is performed to identify regions associated with performance on a behavioral measure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3730BA-8EF1-44B5-B6B9-2B9D0A0DB2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06305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 represents some statistical analysis relating region of damage to behavioral test score</a:t>
            </a:r>
          </a:p>
        </p:txBody>
      </p:sp>
      <p:sp>
        <p:nvSpPr>
          <p:cNvPr id="4" name="Slide Number Placeholder 3"/>
          <p:cNvSpPr>
            <a:spLocks noGrp="1"/>
          </p:cNvSpPr>
          <p:nvPr>
            <p:ph type="sldNum" sz="quarter" idx="5"/>
          </p:nvPr>
        </p:nvSpPr>
        <p:spPr/>
        <p:txBody>
          <a:bodyPr/>
          <a:lstStyle/>
          <a:p>
            <a:fld id="{769943EA-69D9-7E49-97CD-A49926F617C9}" type="slidenum">
              <a:rPr lang="en-US" smtClean="0"/>
              <a:t>7</a:t>
            </a:fld>
            <a:endParaRPr lang="en-US" dirty="0"/>
          </a:p>
        </p:txBody>
      </p:sp>
    </p:spTree>
    <p:extLst>
      <p:ext uri="{BB962C8B-B14F-4D97-AF65-F5344CB8AC3E}">
        <p14:creationId xmlns:p14="http://schemas.microsoft.com/office/powerpoint/2010/main" val="3942122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1A3C8-F039-91B6-55F0-EB9335870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01C52-577A-B99C-0510-1148C0CD7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3D1677-29C5-7547-4AFB-2914698617EE}"/>
              </a:ext>
            </a:extLst>
          </p:cNvPr>
          <p:cNvSpPr>
            <a:spLocks noGrp="1"/>
          </p:cNvSpPr>
          <p:nvPr>
            <p:ph type="body" idx="1"/>
          </p:nvPr>
        </p:nvSpPr>
        <p:spPr/>
        <p:txBody>
          <a:bodyPr/>
          <a:lstStyle/>
          <a:p>
            <a:pPr marL="171450" indent="-171450">
              <a:buFontTx/>
              <a:buChar char="-"/>
            </a:pPr>
            <a:r>
              <a:rPr lang="en-US" dirty="0"/>
              <a:t>The result is a set of voxel value intensities showing the localization of time orientation</a:t>
            </a:r>
          </a:p>
          <a:p>
            <a:pPr marL="171450" indent="-171450">
              <a:buFontTx/>
              <a:buChar char="-"/>
            </a:pPr>
            <a:r>
              <a:rPr lang="en-US" dirty="0"/>
              <a:t>But this approach has limitations</a:t>
            </a:r>
          </a:p>
          <a:p>
            <a:pPr marL="628650" lvl="1" indent="-171450">
              <a:buFontTx/>
              <a:buChar char="-"/>
            </a:pPr>
            <a:r>
              <a:rPr lang="en-US" dirty="0"/>
              <a:t>Has limitations: construct underrepresentation, test-specific noise, doesn’t fully make use of the rich data we have for these patients. </a:t>
            </a:r>
          </a:p>
          <a:p>
            <a:pPr marL="1085850" lvl="2" indent="-171450">
              <a:buFontTx/>
              <a:buChar char="-"/>
            </a:pPr>
            <a:r>
              <a:rPr lang="en-US" dirty="0"/>
              <a:t>Most patients have scores for a couple dozen cognitive tests so we richly sample behavior but map single tests</a:t>
            </a:r>
          </a:p>
          <a:p>
            <a:pPr marL="628650" lvl="1" indent="-171450">
              <a:buFontTx/>
              <a:buChar char="-"/>
            </a:pPr>
            <a:r>
              <a:rPr lang="en-US" dirty="0"/>
              <a:t>To be clear, I’m not saying we shouldn’t be doing this. Lots of excellent, high impact studies use this approach and it offers valuable insights. </a:t>
            </a:r>
          </a:p>
          <a:p>
            <a:pPr marL="1085850" lvl="2" indent="-171450">
              <a:buFontTx/>
              <a:buChar char="-"/>
            </a:pPr>
            <a:r>
              <a:rPr lang="en-US" dirty="0"/>
              <a:t>Especially for seeing how a patient might do on a specific test like time orientation</a:t>
            </a:r>
          </a:p>
          <a:p>
            <a:pPr marL="1085850" lvl="2" indent="-171450">
              <a:buFontTx/>
              <a:buChar char="-"/>
            </a:pPr>
            <a:r>
              <a:rPr lang="en-US" dirty="0"/>
              <a:t>Single tests also are valuable because they’re designed to probe specific aspects of cognitive processes </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08FD2E64-CCA6-F95D-D481-38A6EED4C308}"/>
              </a:ext>
            </a:extLst>
          </p:cNvPr>
          <p:cNvSpPr>
            <a:spLocks noGrp="1"/>
          </p:cNvSpPr>
          <p:nvPr>
            <p:ph type="sldNum" sz="quarter" idx="5"/>
          </p:nvPr>
        </p:nvSpPr>
        <p:spPr/>
        <p:txBody>
          <a:bodyPr/>
          <a:lstStyle/>
          <a:p>
            <a:fld id="{769943EA-69D9-7E49-97CD-A49926F617C9}" type="slidenum">
              <a:rPr lang="en-US" smtClean="0"/>
              <a:t>8</a:t>
            </a:fld>
            <a:endParaRPr lang="en-US" dirty="0"/>
          </a:p>
        </p:txBody>
      </p:sp>
    </p:spTree>
    <p:extLst>
      <p:ext uri="{BB962C8B-B14F-4D97-AF65-F5344CB8AC3E}">
        <p14:creationId xmlns:p14="http://schemas.microsoft.com/office/powerpoint/2010/main" val="1084944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Many studies using LSM/LNM as a method seek to identify associations in performance on one behavioral test to regions of brain damage</a:t>
            </a:r>
          </a:p>
          <a:p>
            <a:pPr marL="628650" lvl="1" indent="-171450">
              <a:buFontTx/>
              <a:buChar char="-"/>
            </a:pPr>
            <a:r>
              <a:rPr lang="en-US" dirty="0" err="1"/>
              <a:t>Nonexhaustive</a:t>
            </a:r>
            <a:r>
              <a:rPr lang="en-US" dirty="0"/>
              <a:t> list of examples of this style of lesion mapping done here at Iowa</a:t>
            </a:r>
          </a:p>
          <a:p>
            <a:pPr marL="1085850" lvl="2" indent="-171450">
              <a:buFontTx/>
              <a:buChar char="-"/>
            </a:pPr>
            <a:r>
              <a:rPr lang="en-US" dirty="0"/>
              <a:t>Asmaa’s study looking at </a:t>
            </a:r>
            <a:r>
              <a:rPr lang="en-US" dirty="0" err="1"/>
              <a:t>dysnomia</a:t>
            </a:r>
            <a:r>
              <a:rPr lang="en-US" dirty="0"/>
              <a:t> in epilepsy resection patients mapped BNT</a:t>
            </a:r>
          </a:p>
          <a:p>
            <a:pPr marL="1085850" lvl="2" indent="-171450">
              <a:buFontTx/>
              <a:buChar char="-"/>
            </a:pPr>
            <a:r>
              <a:rPr lang="en-US" dirty="0"/>
              <a:t>Joseph’s toolkit publication looked at COWA and Token test</a:t>
            </a:r>
          </a:p>
          <a:p>
            <a:pPr marL="1085850" lvl="2" indent="-171450">
              <a:buFontTx/>
              <a:buChar char="-"/>
            </a:pPr>
            <a:r>
              <a:rPr lang="en-US" dirty="0"/>
              <a:t>My study looking at time orientation mapped BTOT</a:t>
            </a:r>
          </a:p>
          <a:p>
            <a:pPr marL="628650" lvl="1" indent="-171450">
              <a:buFontTx/>
              <a:buChar char="-"/>
            </a:pPr>
            <a:r>
              <a:rPr lang="en-US" dirty="0"/>
              <a:t>Has limitations: construct underrepresentation, test-specific noise, doesn’t fully make use of the rich data we have for these patients. </a:t>
            </a:r>
          </a:p>
          <a:p>
            <a:pPr marL="628650" lvl="1" indent="-171450">
              <a:buFontTx/>
              <a:buChar char="-"/>
            </a:pPr>
            <a:r>
              <a:rPr lang="en-US" dirty="0"/>
              <a:t>To be clear, I’m not saying we shouldn’t be doing this. Lots of excellent, high impact studies use this approach and it offers valuable insights. </a:t>
            </a:r>
          </a:p>
          <a:p>
            <a:pPr marL="1085850" lvl="2" indent="-171450">
              <a:buFontTx/>
              <a:buChar char="-"/>
            </a:pPr>
            <a:r>
              <a:rPr lang="en-US" dirty="0"/>
              <a:t>Especially for single test prediction</a:t>
            </a:r>
          </a:p>
          <a:p>
            <a:pPr marL="1085850" lvl="2" indent="-171450">
              <a:buFontTx/>
              <a:buChar char="-"/>
            </a:pPr>
            <a:r>
              <a:rPr lang="en-US" dirty="0"/>
              <a:t>Single tests also are valuable because they’re designed to probe specific aspects of cognitive processes</a:t>
            </a:r>
          </a:p>
          <a:p>
            <a:pPr marL="1085850" lvl="2" indent="-171450">
              <a:buFontTx/>
              <a:buChar char="-"/>
            </a:pPr>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9</a:t>
            </a:fld>
            <a:endParaRPr lang="en-US" dirty="0"/>
          </a:p>
        </p:txBody>
      </p:sp>
    </p:spTree>
    <p:extLst>
      <p:ext uri="{BB962C8B-B14F-4D97-AF65-F5344CB8AC3E}">
        <p14:creationId xmlns:p14="http://schemas.microsoft.com/office/powerpoint/2010/main" val="8168755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Involves using patient performance across multiple behavioral measures to identify latent variables probed by a given set of tests</a:t>
            </a:r>
          </a:p>
          <a:p>
            <a:pPr marL="628650" lvl="1" indent="-171450">
              <a:buFontTx/>
              <a:buChar char="-"/>
            </a:pPr>
            <a:r>
              <a:rPr lang="en-US" dirty="0"/>
              <a:t>E.g., my </a:t>
            </a:r>
            <a:r>
              <a:rPr lang="en-US" dirty="0" err="1"/>
              <a:t>vsp</a:t>
            </a:r>
            <a:r>
              <a:rPr lang="en-US" dirty="0"/>
              <a:t> study: EXPLAIN</a:t>
            </a:r>
          </a:p>
          <a:p>
            <a:r>
              <a:rPr lang="en-US" dirty="0"/>
              <a:t>-</a:t>
            </a:r>
          </a:p>
        </p:txBody>
      </p:sp>
      <p:sp>
        <p:nvSpPr>
          <p:cNvPr id="4" name="Slide Number Placeholder 3"/>
          <p:cNvSpPr>
            <a:spLocks noGrp="1"/>
          </p:cNvSpPr>
          <p:nvPr>
            <p:ph type="sldNum" sz="quarter" idx="5"/>
          </p:nvPr>
        </p:nvSpPr>
        <p:spPr/>
        <p:txBody>
          <a:bodyPr/>
          <a:lstStyle/>
          <a:p>
            <a:fld id="{769943EA-69D9-7E49-97CD-A49926F617C9}" type="slidenum">
              <a:rPr lang="en-US" smtClean="0"/>
              <a:t>10</a:t>
            </a:fld>
            <a:endParaRPr lang="en-US" dirty="0"/>
          </a:p>
        </p:txBody>
      </p:sp>
    </p:spTree>
    <p:extLst>
      <p:ext uri="{BB962C8B-B14F-4D97-AF65-F5344CB8AC3E}">
        <p14:creationId xmlns:p14="http://schemas.microsoft.com/office/powerpoint/2010/main" val="3531547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To map multiple related tests, we could do something like a factor analysis which takes a whole set of tests, groups similar ones together in a data-driven manner</a:t>
            </a:r>
          </a:p>
          <a:p>
            <a:pPr marL="171450" indent="-171450">
              <a:buFontTx/>
              <a:buChar char="-"/>
            </a:pPr>
            <a:r>
              <a:rPr lang="en-US" dirty="0" err="1"/>
              <a:t>Gv</a:t>
            </a:r>
            <a:r>
              <a:rPr lang="en-US" dirty="0"/>
              <a:t> here is visuospatial ability, 4 tests in this battery sensitive to that, instead of LSM on 4 separate tests and looking for commonalities manually, could just use the </a:t>
            </a:r>
            <a:r>
              <a:rPr lang="en-US" dirty="0" err="1"/>
              <a:t>Gv</a:t>
            </a:r>
            <a:r>
              <a:rPr lang="en-US" dirty="0"/>
              <a:t> factor score as the behavior</a:t>
            </a:r>
          </a:p>
        </p:txBody>
      </p:sp>
      <p:sp>
        <p:nvSpPr>
          <p:cNvPr id="4" name="Slide Number Placeholder 3"/>
          <p:cNvSpPr>
            <a:spLocks noGrp="1"/>
          </p:cNvSpPr>
          <p:nvPr>
            <p:ph type="sldNum" sz="quarter" idx="5"/>
          </p:nvPr>
        </p:nvSpPr>
        <p:spPr/>
        <p:txBody>
          <a:bodyPr/>
          <a:lstStyle/>
          <a:p>
            <a:fld id="{769943EA-69D9-7E49-97CD-A49926F617C9}" type="slidenum">
              <a:rPr lang="en-US" smtClean="0"/>
              <a:t>11</a:t>
            </a:fld>
            <a:endParaRPr lang="en-US" dirty="0"/>
          </a:p>
        </p:txBody>
      </p:sp>
    </p:spTree>
    <p:extLst>
      <p:ext uri="{BB962C8B-B14F-4D97-AF65-F5344CB8AC3E}">
        <p14:creationId xmlns:p14="http://schemas.microsoft.com/office/powerpoint/2010/main" val="1924631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67D3-E440-51AD-1369-FBE2C40E4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94411-F85B-61BB-DCAD-5BE2D6250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6AF2E-FA25-E35F-B3EC-802D5B0A7854}"/>
              </a:ext>
            </a:extLst>
          </p:cNvPr>
          <p:cNvSpPr>
            <a:spLocks noGrp="1"/>
          </p:cNvSpPr>
          <p:nvPr>
            <p:ph type="body" idx="1"/>
          </p:nvPr>
        </p:nvSpPr>
        <p:spPr/>
        <p:txBody>
          <a:bodyPr/>
          <a:lstStyle/>
          <a:p>
            <a:r>
              <a:rPr lang="en-US" dirty="0"/>
              <a:t>- Lesion symptom mapping example here, but the lesion masks can also be a patient’s lesion-associated networks</a:t>
            </a:r>
          </a:p>
        </p:txBody>
      </p:sp>
      <p:sp>
        <p:nvSpPr>
          <p:cNvPr id="4" name="Slide Number Placeholder 3">
            <a:extLst>
              <a:ext uri="{FF2B5EF4-FFF2-40B4-BE49-F238E27FC236}">
                <a16:creationId xmlns:a16="http://schemas.microsoft.com/office/drawing/2014/main" id="{38E49FAA-75D3-DC65-1DAC-BC359F14FCA3}"/>
              </a:ext>
            </a:extLst>
          </p:cNvPr>
          <p:cNvSpPr>
            <a:spLocks noGrp="1"/>
          </p:cNvSpPr>
          <p:nvPr>
            <p:ph type="sldNum" sz="quarter" idx="5"/>
          </p:nvPr>
        </p:nvSpPr>
        <p:spPr/>
        <p:txBody>
          <a:bodyPr/>
          <a:lstStyle/>
          <a:p>
            <a:fld id="{769943EA-69D9-7E49-97CD-A49926F617C9}" type="slidenum">
              <a:rPr lang="en-US" smtClean="0"/>
              <a:t>12</a:t>
            </a:fld>
            <a:endParaRPr lang="en-US" dirty="0"/>
          </a:p>
        </p:txBody>
      </p:sp>
    </p:spTree>
    <p:extLst>
      <p:ext uri="{BB962C8B-B14F-4D97-AF65-F5344CB8AC3E}">
        <p14:creationId xmlns:p14="http://schemas.microsoft.com/office/powerpoint/2010/main" val="3670313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08487-1764-620F-73B9-C7CDF9CDF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C87FE-7D49-1BAD-024D-E2EE1B172F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DCFF98-327F-2337-3E31-40A6B9FEA23A}"/>
              </a:ext>
            </a:extLst>
          </p:cNvPr>
          <p:cNvSpPr>
            <a:spLocks noGrp="1"/>
          </p:cNvSpPr>
          <p:nvPr>
            <p:ph type="body" idx="1"/>
          </p:nvPr>
        </p:nvSpPr>
        <p:spPr/>
        <p:txBody>
          <a:bodyPr/>
          <a:lstStyle/>
          <a:p>
            <a:pPr marL="171450" indent="-171450">
              <a:buFontTx/>
              <a:buChar char="-"/>
            </a:pPr>
            <a:r>
              <a:rPr lang="en-US" dirty="0"/>
              <a:t>Lesion symptom mapping example here, but the lesion masks can also be a patient’s lesion-associated networks</a:t>
            </a:r>
          </a:p>
          <a:p>
            <a:pPr marL="628650" lvl="1" indent="-171450">
              <a:buFontTx/>
              <a:buChar char="-"/>
            </a:pPr>
            <a:r>
              <a:rPr lang="en-US" dirty="0"/>
              <a:t>Identifying lesion locations associated with this shared variance or factor</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134BF4BD-F618-6544-CB25-80CEEC22C2AD}"/>
              </a:ext>
            </a:extLst>
          </p:cNvPr>
          <p:cNvSpPr>
            <a:spLocks noGrp="1"/>
          </p:cNvSpPr>
          <p:nvPr>
            <p:ph type="sldNum" sz="quarter" idx="5"/>
          </p:nvPr>
        </p:nvSpPr>
        <p:spPr/>
        <p:txBody>
          <a:bodyPr/>
          <a:lstStyle/>
          <a:p>
            <a:fld id="{769943EA-69D9-7E49-97CD-A49926F617C9}" type="slidenum">
              <a:rPr lang="en-US" smtClean="0"/>
              <a:t>13</a:t>
            </a:fld>
            <a:endParaRPr lang="en-US" dirty="0"/>
          </a:p>
        </p:txBody>
      </p:sp>
    </p:spTree>
    <p:extLst>
      <p:ext uri="{BB962C8B-B14F-4D97-AF65-F5344CB8AC3E}">
        <p14:creationId xmlns:p14="http://schemas.microsoft.com/office/powerpoint/2010/main" val="2907768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61747-E8F7-14E8-00A7-6ED941E95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81EF5-09A1-D31D-D3E7-D7D7176497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70B43-921B-B465-0F83-07395B4D1E6D}"/>
              </a:ext>
            </a:extLst>
          </p:cNvPr>
          <p:cNvSpPr>
            <a:spLocks noGrp="1"/>
          </p:cNvSpPr>
          <p:nvPr>
            <p:ph type="body" idx="1"/>
          </p:nvPr>
        </p:nvSpPr>
        <p:spPr/>
        <p:txBody>
          <a:bodyPr/>
          <a:lstStyle/>
          <a:p>
            <a:pPr marL="171450" lvl="0" indent="-171450">
              <a:buFontTx/>
              <a:buChar char="-"/>
            </a:pPr>
            <a:r>
              <a:rPr lang="en-US" dirty="0"/>
              <a:t>Mapping test scores and latent variables doesn’t give us a full picture:</a:t>
            </a:r>
          </a:p>
          <a:p>
            <a:pPr marL="628650" lvl="1" indent="-171450">
              <a:buFontTx/>
              <a:buChar char="-"/>
            </a:pPr>
            <a:r>
              <a:rPr lang="en-US" dirty="0"/>
              <a:t>Clinician friends who talk about how they will quickly and correctly guess lesion location based on a brief interaction with a patient</a:t>
            </a:r>
          </a:p>
          <a:p>
            <a:pPr marL="1085850" lvl="2" indent="-171450">
              <a:buFontTx/>
              <a:buChar char="-"/>
            </a:pPr>
            <a:r>
              <a:rPr lang="en-US" dirty="0"/>
              <a:t>E.g., frontal lobe patients that exhibit a characteristic pattern of behavior </a:t>
            </a:r>
          </a:p>
          <a:p>
            <a:pPr marL="1085850" lvl="2" indent="-171450">
              <a:buFontTx/>
              <a:buChar char="-"/>
            </a:pPr>
            <a:r>
              <a:rPr lang="en-US" dirty="0"/>
              <a:t>That’s </a:t>
            </a:r>
            <a:r>
              <a:rPr lang="en-US" dirty="0" err="1"/>
              <a:t>bc</a:t>
            </a:r>
            <a:r>
              <a:rPr lang="en-US" dirty="0"/>
              <a:t> clinicians have seen tons of types of patients and see trends: some patients are quite similar to each other behaviorally</a:t>
            </a:r>
          </a:p>
          <a:p>
            <a:pPr marL="1543050" lvl="3" indent="-171450">
              <a:buFontTx/>
              <a:buChar char="-"/>
            </a:pPr>
            <a:r>
              <a:rPr lang="en-US" dirty="0"/>
              <a:t>If we could identify lesion locations associated with “types” of patients (groups of patients with </a:t>
            </a:r>
            <a:r>
              <a:rPr lang="en-US"/>
              <a:t>common deficits)</a:t>
            </a:r>
            <a:endParaRPr lang="en-US" dirty="0"/>
          </a:p>
          <a:p>
            <a:pPr marL="1543050" marR="0" lvl="3" indent="-171450" algn="l" defTabSz="914400" rtl="0" eaLnBrk="1" fontAlgn="auto" latinLnBrk="0" hangingPunct="1">
              <a:lnSpc>
                <a:spcPct val="100000"/>
              </a:lnSpc>
              <a:spcBef>
                <a:spcPts val="0"/>
              </a:spcBef>
              <a:spcAft>
                <a:spcPts val="0"/>
              </a:spcAft>
              <a:buClrTx/>
              <a:buSzTx/>
              <a:buFontTx/>
              <a:buChar char="-"/>
              <a:tabLst/>
              <a:defRPr/>
            </a:pPr>
            <a:r>
              <a:rPr lang="en-US" dirty="0"/>
              <a:t>In other words, can we map a behavioral profile to the brain?</a:t>
            </a:r>
          </a:p>
        </p:txBody>
      </p:sp>
      <p:sp>
        <p:nvSpPr>
          <p:cNvPr id="4" name="Slide Number Placeholder 3">
            <a:extLst>
              <a:ext uri="{FF2B5EF4-FFF2-40B4-BE49-F238E27FC236}">
                <a16:creationId xmlns:a16="http://schemas.microsoft.com/office/drawing/2014/main" id="{60A364FA-8923-A71D-F54B-152BC873FD28}"/>
              </a:ext>
            </a:extLst>
          </p:cNvPr>
          <p:cNvSpPr>
            <a:spLocks noGrp="1"/>
          </p:cNvSpPr>
          <p:nvPr>
            <p:ph type="sldNum" sz="quarter" idx="5"/>
          </p:nvPr>
        </p:nvSpPr>
        <p:spPr/>
        <p:txBody>
          <a:bodyPr/>
          <a:lstStyle/>
          <a:p>
            <a:fld id="{769943EA-69D9-7E49-97CD-A49926F617C9}" type="slidenum">
              <a:rPr lang="en-US" smtClean="0"/>
              <a:t>14</a:t>
            </a:fld>
            <a:endParaRPr lang="en-US" dirty="0"/>
          </a:p>
        </p:txBody>
      </p:sp>
    </p:spTree>
    <p:extLst>
      <p:ext uri="{BB962C8B-B14F-4D97-AF65-F5344CB8AC3E}">
        <p14:creationId xmlns:p14="http://schemas.microsoft.com/office/powerpoint/2010/main" val="2003089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EE27E-390B-BAF8-A503-1E77656C7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D6A63D-683E-3DBD-994A-002833069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FCC8D-F57D-8CB8-E240-359F70DAF947}"/>
              </a:ext>
            </a:extLst>
          </p:cNvPr>
          <p:cNvSpPr>
            <a:spLocks noGrp="1"/>
          </p:cNvSpPr>
          <p:nvPr>
            <p:ph type="body" idx="1"/>
          </p:nvPr>
        </p:nvSpPr>
        <p:spPr/>
        <p:txBody>
          <a:bodyPr/>
          <a:lstStyle/>
          <a:p>
            <a:pPr marL="171450" indent="-171450">
              <a:buFontTx/>
              <a:buChar char="-"/>
            </a:pPr>
            <a:r>
              <a:rPr lang="en-US" dirty="0"/>
              <a:t>I’ll switch gears to how we developed this approach in a longitudinal modeling study we are going to submit soon.</a:t>
            </a:r>
          </a:p>
        </p:txBody>
      </p:sp>
      <p:sp>
        <p:nvSpPr>
          <p:cNvPr id="4" name="Slide Number Placeholder 3">
            <a:extLst>
              <a:ext uri="{FF2B5EF4-FFF2-40B4-BE49-F238E27FC236}">
                <a16:creationId xmlns:a16="http://schemas.microsoft.com/office/drawing/2014/main" id="{4E4C51A4-DC8E-020A-38C2-CE1DBFD8A289}"/>
              </a:ext>
            </a:extLst>
          </p:cNvPr>
          <p:cNvSpPr>
            <a:spLocks noGrp="1"/>
          </p:cNvSpPr>
          <p:nvPr>
            <p:ph type="sldNum" sz="quarter" idx="5"/>
          </p:nvPr>
        </p:nvSpPr>
        <p:spPr/>
        <p:txBody>
          <a:bodyPr/>
          <a:lstStyle/>
          <a:p>
            <a:fld id="{769943EA-69D9-7E49-97CD-A49926F617C9}" type="slidenum">
              <a:rPr lang="en-US" smtClean="0"/>
              <a:t>15</a:t>
            </a:fld>
            <a:endParaRPr lang="en-US" dirty="0"/>
          </a:p>
        </p:txBody>
      </p:sp>
    </p:spTree>
    <p:extLst>
      <p:ext uri="{BB962C8B-B14F-4D97-AF65-F5344CB8AC3E}">
        <p14:creationId xmlns:p14="http://schemas.microsoft.com/office/powerpoint/2010/main" val="39575731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In this project, developed a framework for rigorously benchmarking accuracies of stroke outcome prediction.</a:t>
            </a:r>
          </a:p>
          <a:p>
            <a:pPr marL="628650" lvl="1" indent="-171450">
              <a:buFontTx/>
              <a:buChar char="-"/>
            </a:pPr>
            <a:r>
              <a:rPr lang="en-US" dirty="0"/>
              <a:t>In a longitudinal unilateral stroke patient dataset collected at WashU: we used subacute behavioral data to predict 3-month behavioral data in 96 stroke patients. </a:t>
            </a:r>
          </a:p>
          <a:p>
            <a:pPr marL="628650" lvl="1" indent="-171450">
              <a:buFontTx/>
              <a:buChar char="-"/>
            </a:pPr>
            <a:r>
              <a:rPr lang="en-US" dirty="0"/>
              <a:t>acute</a:t>
            </a:r>
          </a:p>
          <a:p>
            <a:pPr marL="1085850" lvl="2" indent="-171450">
              <a:buFontTx/>
              <a:buChar char="-"/>
            </a:pPr>
            <a:r>
              <a:rPr lang="en-US" dirty="0"/>
              <a:t>78 total predictors at acute for 96 patients</a:t>
            </a:r>
          </a:p>
          <a:p>
            <a:pPr marL="1085850" lvl="2" indent="-171450">
              <a:buFontTx/>
              <a:buChar char="-"/>
            </a:pPr>
            <a:r>
              <a:rPr lang="en-US" dirty="0"/>
              <a:t>Don’t have time to list but here are key examples:</a:t>
            </a:r>
          </a:p>
          <a:p>
            <a:pPr marL="1543050" lvl="3" indent="-171450">
              <a:buFontTx/>
              <a:buChar char="-"/>
            </a:pPr>
            <a:r>
              <a:rPr lang="en-US" dirty="0" err="1"/>
              <a:t>Vsp</a:t>
            </a:r>
            <a:r>
              <a:rPr lang="en-US" dirty="0"/>
              <a:t> </a:t>
            </a:r>
            <a:r>
              <a:rPr lang="en-US" dirty="0" err="1"/>
              <a:t>attn:</a:t>
            </a:r>
            <a:r>
              <a:rPr lang="en-US" dirty="0"/>
              <a:t> </a:t>
            </a:r>
            <a:r>
              <a:rPr lang="en-US" dirty="0" err="1"/>
              <a:t>posner</a:t>
            </a:r>
            <a:r>
              <a:rPr lang="en-US" dirty="0"/>
              <a:t> cueing task, various cancellation tasks, clock drawing</a:t>
            </a:r>
          </a:p>
          <a:p>
            <a:pPr marL="1543050" lvl="3" indent="-171450">
              <a:buFontTx/>
              <a:buChar char="-"/>
            </a:pPr>
            <a:r>
              <a:rPr lang="en-US" dirty="0"/>
              <a:t>Language: BDAE word comprehension, commands, complex ideational material, BNT, animal naming; experimental s like stem completion</a:t>
            </a:r>
          </a:p>
          <a:p>
            <a:pPr marL="1543050" lvl="3" indent="-171450">
              <a:buFontTx/>
              <a:buChar char="-"/>
            </a:pPr>
            <a:r>
              <a:rPr lang="en-US" dirty="0"/>
              <a:t>Memory: HVLT for verbal, BVMT for visual, spatial span total forward and back</a:t>
            </a:r>
          </a:p>
          <a:p>
            <a:pPr marL="628650" lvl="1" indent="-171450">
              <a:buFontTx/>
              <a:buChar char="-"/>
            </a:pPr>
            <a:r>
              <a:rPr lang="en-US" dirty="0"/>
              <a:t>chronic</a:t>
            </a:r>
          </a:p>
          <a:p>
            <a:pPr marL="1085850" lvl="2" indent="-171450">
              <a:buFontTx/>
              <a:buChar char="-"/>
            </a:pPr>
            <a:r>
              <a:rPr lang="en-US" dirty="0"/>
              <a:t>Pass out FO</a:t>
            </a:r>
          </a:p>
          <a:p>
            <a:pPr marL="1085850" lvl="2" indent="-171450">
              <a:buFontTx/>
              <a:buChar char="-"/>
            </a:pPr>
            <a:r>
              <a:rPr lang="en-US" dirty="0"/>
              <a:t>Same motor and cognitive tests</a:t>
            </a:r>
          </a:p>
          <a:p>
            <a:pPr marL="1543050" lvl="3" indent="-171450">
              <a:buFontTx/>
              <a:buChar char="-"/>
            </a:pPr>
            <a:r>
              <a:rPr lang="en-US" dirty="0"/>
              <a:t>Original paper cited fairly high test-retest reliability for tests chosen </a:t>
            </a:r>
          </a:p>
          <a:p>
            <a:pPr marL="1085850" lvl="2" indent="-171450">
              <a:buFontTx/>
              <a:buChar char="-"/>
            </a:pPr>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16</a:t>
            </a:fld>
            <a:endParaRPr lang="en-US" dirty="0"/>
          </a:p>
        </p:txBody>
      </p:sp>
    </p:spTree>
    <p:extLst>
      <p:ext uri="{BB962C8B-B14F-4D97-AF65-F5344CB8AC3E}">
        <p14:creationId xmlns:p14="http://schemas.microsoft.com/office/powerpoint/2010/main" val="385641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Used ridge regression to do our predictions</a:t>
            </a:r>
          </a:p>
          <a:p>
            <a:pPr marL="628650" lvl="1" indent="-171450">
              <a:buFontTx/>
              <a:buChar char="-"/>
            </a:pPr>
            <a:r>
              <a:rPr lang="en-US" dirty="0"/>
              <a:t>Will show momentarily that we were able to predict some outcomes using this</a:t>
            </a:r>
          </a:p>
          <a:p>
            <a:pPr marL="171450" lvl="0" indent="-171450">
              <a:buFontTx/>
              <a:buChar char="-"/>
            </a:pPr>
            <a:r>
              <a:rPr lang="en-US" dirty="0"/>
              <a:t>We hypothesized that predictive information driving explained variance could be captured by fewer metrics</a:t>
            </a:r>
          </a:p>
        </p:txBody>
      </p:sp>
      <p:sp>
        <p:nvSpPr>
          <p:cNvPr id="4" name="Slide Number Placeholder 3"/>
          <p:cNvSpPr>
            <a:spLocks noGrp="1"/>
          </p:cNvSpPr>
          <p:nvPr>
            <p:ph type="sldNum" sz="quarter" idx="5"/>
          </p:nvPr>
        </p:nvSpPr>
        <p:spPr/>
        <p:txBody>
          <a:bodyPr/>
          <a:lstStyle/>
          <a:p>
            <a:fld id="{769943EA-69D9-7E49-97CD-A49926F617C9}" type="slidenum">
              <a:rPr lang="en-US" smtClean="0"/>
              <a:t>17</a:t>
            </a:fld>
            <a:endParaRPr lang="en-US" dirty="0"/>
          </a:p>
        </p:txBody>
      </p:sp>
    </p:spTree>
    <p:extLst>
      <p:ext uri="{BB962C8B-B14F-4D97-AF65-F5344CB8AC3E}">
        <p14:creationId xmlns:p14="http://schemas.microsoft.com/office/powerpoint/2010/main" val="3303210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We used different types of dimensionality reduction to identify latent variables in acute data</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dirty="0"/>
              <a:t>We were going in with this hypothesis that linear dimensionality reduction may not sufficiently capture the trends we see in lesion patient data because this type of data violates assumptions like normality and linear relationships between variables (lesions cause </a:t>
            </a:r>
            <a:r>
              <a:rPr lang="en-US" dirty="0" err="1"/>
              <a:t>massiv</a:t>
            </a:r>
            <a:r>
              <a:rPr lang="en-US" dirty="0"/>
              <a:t> behavioral changes)</a:t>
            </a:r>
          </a:p>
        </p:txBody>
      </p:sp>
      <p:sp>
        <p:nvSpPr>
          <p:cNvPr id="4" name="Slide Number Placeholder 3"/>
          <p:cNvSpPr>
            <a:spLocks noGrp="1"/>
          </p:cNvSpPr>
          <p:nvPr>
            <p:ph type="sldNum" sz="quarter" idx="5"/>
          </p:nvPr>
        </p:nvSpPr>
        <p:spPr/>
        <p:txBody>
          <a:bodyPr/>
          <a:lstStyle/>
          <a:p>
            <a:fld id="{769943EA-69D9-7E49-97CD-A49926F617C9}" type="slidenum">
              <a:rPr lang="en-US" smtClean="0"/>
              <a:t>18</a:t>
            </a:fld>
            <a:endParaRPr lang="en-US" dirty="0"/>
          </a:p>
        </p:txBody>
      </p:sp>
    </p:spTree>
    <p:extLst>
      <p:ext uri="{BB962C8B-B14F-4D97-AF65-F5344CB8AC3E}">
        <p14:creationId xmlns:p14="http://schemas.microsoft.com/office/powerpoint/2010/main" val="2796242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3C8C-48B1-6B13-55F6-B60A47D0F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BEA55E-FA4C-9255-20FC-7EFAF0017E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C11B4-BBD4-EFDE-49FC-53DA73DF24C3}"/>
              </a:ext>
            </a:extLst>
          </p:cNvPr>
          <p:cNvSpPr>
            <a:spLocks noGrp="1"/>
          </p:cNvSpPr>
          <p:nvPr>
            <p:ph type="body" idx="1"/>
          </p:nvPr>
        </p:nvSpPr>
        <p:spPr/>
        <p:txBody>
          <a:bodyPr/>
          <a:lstStyle/>
          <a:p>
            <a:pPr marL="171450" indent="-171450">
              <a:buFontTx/>
              <a:buChar char="-"/>
            </a:pPr>
            <a:r>
              <a:rPr lang="en-US" dirty="0"/>
              <a:t>Once again DR was applied to the subacute predictors, reducing 78 predictors to only a few</a:t>
            </a:r>
          </a:p>
          <a:p>
            <a:pPr marL="171450" indent="-171450">
              <a:buFontTx/>
              <a:buChar char="-"/>
            </a:pPr>
            <a:r>
              <a:rPr lang="en-US" dirty="0"/>
              <a:t>EXPLAIN EACH</a:t>
            </a:r>
          </a:p>
          <a:p>
            <a:pPr marL="171450" indent="-171450">
              <a:buFontTx/>
              <a:buChar char="-"/>
            </a:pPr>
            <a:r>
              <a:rPr lang="en-US" dirty="0"/>
              <a:t>UMAP is different because it’s a nonlinear dimensionality reduction approach. We thought perhaps it could do a better job of capturing nonlinear relationships</a:t>
            </a:r>
          </a:p>
        </p:txBody>
      </p:sp>
      <p:sp>
        <p:nvSpPr>
          <p:cNvPr id="4" name="Slide Number Placeholder 3">
            <a:extLst>
              <a:ext uri="{FF2B5EF4-FFF2-40B4-BE49-F238E27FC236}">
                <a16:creationId xmlns:a16="http://schemas.microsoft.com/office/drawing/2014/main" id="{144F1BA7-9F41-2CF6-BD9F-6576F6F6CB44}"/>
              </a:ext>
            </a:extLst>
          </p:cNvPr>
          <p:cNvSpPr>
            <a:spLocks noGrp="1"/>
          </p:cNvSpPr>
          <p:nvPr>
            <p:ph type="sldNum" sz="quarter" idx="5"/>
          </p:nvPr>
        </p:nvSpPr>
        <p:spPr/>
        <p:txBody>
          <a:bodyPr/>
          <a:lstStyle/>
          <a:p>
            <a:fld id="{769943EA-69D9-7E49-97CD-A49926F617C9}" type="slidenum">
              <a:rPr lang="en-US" smtClean="0"/>
              <a:t>19</a:t>
            </a:fld>
            <a:endParaRPr lang="en-US" dirty="0"/>
          </a:p>
        </p:txBody>
      </p:sp>
    </p:spTree>
    <p:extLst>
      <p:ext uri="{BB962C8B-B14F-4D97-AF65-F5344CB8AC3E}">
        <p14:creationId xmlns:p14="http://schemas.microsoft.com/office/powerpoint/2010/main" val="4168960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F78A4-BF0A-EC1D-79AF-86D4D3648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858B5-9E6D-C292-7573-3665B0834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C1A9A-F6A0-ECA5-DC3B-4EEF1FC965E4}"/>
              </a:ext>
            </a:extLst>
          </p:cNvPr>
          <p:cNvSpPr>
            <a:spLocks noGrp="1"/>
          </p:cNvSpPr>
          <p:nvPr>
            <p:ph type="body" idx="1"/>
          </p:nvPr>
        </p:nvSpPr>
        <p:spPr/>
        <p:txBody>
          <a:bodyPr/>
          <a:lstStyle/>
          <a:p>
            <a:pPr marL="171450" indent="-171450">
              <a:buFontTx/>
              <a:buChar char="-"/>
            </a:pPr>
            <a:r>
              <a:rPr lang="en-US" dirty="0"/>
              <a:t>Each point is a single functional outcome we tried to model (e.g., stair climbing, psychosocial reintegration, independence in specific daily tasks)</a:t>
            </a:r>
          </a:p>
          <a:p>
            <a:pPr marL="171450" indent="-171450">
              <a:buFontTx/>
              <a:buChar char="-"/>
            </a:pPr>
            <a:r>
              <a:rPr lang="en-US" dirty="0"/>
              <a:t>Again, this is just using behavior so far</a:t>
            </a:r>
          </a:p>
        </p:txBody>
      </p:sp>
      <p:sp>
        <p:nvSpPr>
          <p:cNvPr id="4" name="Slide Number Placeholder 3">
            <a:extLst>
              <a:ext uri="{FF2B5EF4-FFF2-40B4-BE49-F238E27FC236}">
                <a16:creationId xmlns:a16="http://schemas.microsoft.com/office/drawing/2014/main" id="{94295876-85DC-5613-15BF-9FACADA52E1A}"/>
              </a:ext>
            </a:extLst>
          </p:cNvPr>
          <p:cNvSpPr>
            <a:spLocks noGrp="1"/>
          </p:cNvSpPr>
          <p:nvPr>
            <p:ph type="sldNum" sz="quarter" idx="5"/>
          </p:nvPr>
        </p:nvSpPr>
        <p:spPr/>
        <p:txBody>
          <a:bodyPr/>
          <a:lstStyle/>
          <a:p>
            <a:fld id="{769943EA-69D9-7E49-97CD-A49926F617C9}" type="slidenum">
              <a:rPr lang="en-US" smtClean="0"/>
              <a:t>24</a:t>
            </a:fld>
            <a:endParaRPr lang="en-US" dirty="0"/>
          </a:p>
        </p:txBody>
      </p:sp>
    </p:spTree>
    <p:extLst>
      <p:ext uri="{BB962C8B-B14F-4D97-AF65-F5344CB8AC3E}">
        <p14:creationId xmlns:p14="http://schemas.microsoft.com/office/powerpoint/2010/main" val="23212776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What is it about UMAP that is so special?</a:t>
            </a:r>
          </a:p>
          <a:p>
            <a:pPr marL="628650" lvl="1" indent="-171450">
              <a:buFontTx/>
              <a:buChar char="-"/>
            </a:pPr>
            <a:r>
              <a:rPr lang="en-US" dirty="0"/>
              <a:t>Led to some exploratory analyses where we explored the </a:t>
            </a:r>
            <a:r>
              <a:rPr lang="en-US" dirty="0" err="1"/>
              <a:t>umap</a:t>
            </a:r>
            <a:r>
              <a:rPr lang="en-US" dirty="0"/>
              <a:t> space</a:t>
            </a:r>
          </a:p>
          <a:p>
            <a:pPr marL="171450" lvl="0" indent="-171450">
              <a:buFontTx/>
              <a:buChar char="-"/>
            </a:pPr>
            <a:r>
              <a:rPr lang="en-US" dirty="0"/>
              <a:t>To reiterate, we took 78 acute behavioral variables and used the UMAP algorithm to reduce those 78 down to 2 numbers for each patient (one for each of the 2 dimensions)</a:t>
            </a:r>
          </a:p>
          <a:p>
            <a:pPr marL="628650" lvl="1" indent="-171450">
              <a:buFontTx/>
              <a:buChar char="-"/>
            </a:pPr>
            <a:r>
              <a:rPr lang="en-US" dirty="0"/>
              <a:t>Then using those 2 predictors (somewhat akin to factor scores),  we run our predictions. </a:t>
            </a:r>
          </a:p>
        </p:txBody>
      </p:sp>
      <p:sp>
        <p:nvSpPr>
          <p:cNvPr id="4" name="Slide Number Placeholder 3"/>
          <p:cNvSpPr>
            <a:spLocks noGrp="1"/>
          </p:cNvSpPr>
          <p:nvPr>
            <p:ph type="sldNum" sz="quarter" idx="5"/>
          </p:nvPr>
        </p:nvSpPr>
        <p:spPr/>
        <p:txBody>
          <a:bodyPr/>
          <a:lstStyle/>
          <a:p>
            <a:fld id="{769943EA-69D9-7E49-97CD-A49926F617C9}" type="slidenum">
              <a:rPr lang="en-US" smtClean="0"/>
              <a:t>25</a:t>
            </a:fld>
            <a:endParaRPr lang="en-US" dirty="0"/>
          </a:p>
        </p:txBody>
      </p:sp>
    </p:spTree>
    <p:extLst>
      <p:ext uri="{BB962C8B-B14F-4D97-AF65-F5344CB8AC3E}">
        <p14:creationId xmlns:p14="http://schemas.microsoft.com/office/powerpoint/2010/main" val="8827272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AB1F7-FE4F-8B84-2174-810E71C61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A0313-9D2C-4F84-8B98-273BADF72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0FFB6-E8F1-06E2-BC65-7CF34D82BC98}"/>
              </a:ext>
            </a:extLst>
          </p:cNvPr>
          <p:cNvSpPr>
            <a:spLocks noGrp="1"/>
          </p:cNvSpPr>
          <p:nvPr>
            <p:ph type="body" idx="1"/>
          </p:nvPr>
        </p:nvSpPr>
        <p:spPr/>
        <p:txBody>
          <a:bodyPr/>
          <a:lstStyle/>
          <a:p>
            <a:pPr marL="171450" indent="-171450">
              <a:buFontTx/>
              <a:buChar char="-"/>
            </a:pPr>
            <a:r>
              <a:rPr lang="en-US" dirty="0"/>
              <a:t>Different way of visualizing this</a:t>
            </a:r>
          </a:p>
          <a:p>
            <a:pPr marL="628650" lvl="1" indent="-171450">
              <a:buFontTx/>
              <a:buChar char="-"/>
            </a:pPr>
            <a:r>
              <a:rPr lang="en-US" dirty="0"/>
              <a:t>Each point is an outcome</a:t>
            </a:r>
          </a:p>
          <a:p>
            <a:pPr marL="628650" lvl="1" indent="-171450">
              <a:buFontTx/>
              <a:buChar char="-"/>
            </a:pPr>
            <a:r>
              <a:rPr lang="en-US" dirty="0"/>
              <a:t>Dots that are above the line mean predictions were better (not necessarily statistically) compared to </a:t>
            </a:r>
          </a:p>
          <a:p>
            <a:pPr marL="171450" lvl="0" indent="-171450">
              <a:buFontTx/>
              <a:buChar char="-"/>
            </a:pPr>
            <a:r>
              <a:rPr lang="en-US" dirty="0"/>
              <a:t>Take away point is that UMAP 2D is useful for prediction.</a:t>
            </a:r>
          </a:p>
          <a:p>
            <a:pPr marL="628650" lvl="1" indent="-171450">
              <a:buFontTx/>
              <a:buChar char="-"/>
            </a:pPr>
            <a:r>
              <a:rPr lang="en-US" dirty="0"/>
              <a:t>James and I thought we could use this UMAP embedding to identify behavioral profiles of patients in this cohort</a:t>
            </a:r>
          </a:p>
          <a:p>
            <a:pPr marL="1085850" lvl="2" indent="-171450">
              <a:buFontTx/>
              <a:buChar char="-"/>
            </a:pPr>
            <a:r>
              <a:rPr lang="en-US" dirty="0"/>
              <a:t>Behavioral profile – a data-driven representation of an individual’s behavioral characteristics as measured by standardized assessment</a:t>
            </a:r>
          </a:p>
          <a:p>
            <a:pPr marL="1543050" lvl="3" indent="-171450">
              <a:buFontTx/>
              <a:buChar char="-"/>
            </a:pPr>
            <a:r>
              <a:rPr lang="en-US" dirty="0"/>
              <a:t>i.e., performance across all behavioral tests</a:t>
            </a:r>
          </a:p>
          <a:p>
            <a:pPr marL="171450" lvl="0" indent="-171450">
              <a:buFontTx/>
              <a:buChar char="-"/>
            </a:pPr>
            <a:r>
              <a:rPr lang="en-US" dirty="0"/>
              <a:t>Wanted to characterize this embedding in a set of exploratory analyses: why is it so good at prediction? </a:t>
            </a:r>
          </a:p>
          <a:p>
            <a:pPr marL="628650" lvl="1" indent="-171450">
              <a:buFontTx/>
              <a:buChar char="-"/>
            </a:pPr>
            <a:r>
              <a:rPr lang="en-US" dirty="0"/>
              <a:t>Exploration of this behavior space led to development of this approach </a:t>
            </a:r>
          </a:p>
        </p:txBody>
      </p:sp>
      <p:sp>
        <p:nvSpPr>
          <p:cNvPr id="4" name="Slide Number Placeholder 3">
            <a:extLst>
              <a:ext uri="{FF2B5EF4-FFF2-40B4-BE49-F238E27FC236}">
                <a16:creationId xmlns:a16="http://schemas.microsoft.com/office/drawing/2014/main" id="{CBFF2145-94AC-6D18-E985-D0FC4164DEDF}"/>
              </a:ext>
            </a:extLst>
          </p:cNvPr>
          <p:cNvSpPr>
            <a:spLocks noGrp="1"/>
          </p:cNvSpPr>
          <p:nvPr>
            <p:ph type="sldNum" sz="quarter" idx="5"/>
          </p:nvPr>
        </p:nvSpPr>
        <p:spPr/>
        <p:txBody>
          <a:bodyPr/>
          <a:lstStyle/>
          <a:p>
            <a:fld id="{769943EA-69D9-7E49-97CD-A49926F617C9}" type="slidenum">
              <a:rPr lang="en-US" smtClean="0"/>
              <a:t>26</a:t>
            </a:fld>
            <a:endParaRPr lang="en-US" dirty="0"/>
          </a:p>
        </p:txBody>
      </p:sp>
    </p:spTree>
    <p:extLst>
      <p:ext uri="{BB962C8B-B14F-4D97-AF65-F5344CB8AC3E}">
        <p14:creationId xmlns:p14="http://schemas.microsoft.com/office/powerpoint/2010/main" val="19397120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In motor outcome predictions, we saw the same trend, robustness to dimension number past 2 dimensions, not seeing the same fall off as seen in factor analysis</a:t>
            </a:r>
          </a:p>
          <a:p>
            <a:pPr marL="628650" lvl="1" indent="-171450">
              <a:buFontTx/>
              <a:buChar char="-"/>
            </a:pPr>
            <a:r>
              <a:rPr lang="en-US" dirty="0"/>
              <a:t>Ranges for </a:t>
            </a:r>
            <a:r>
              <a:rPr lang="en-US" dirty="0" err="1"/>
              <a:t>umap</a:t>
            </a:r>
            <a:r>
              <a:rPr lang="en-US" dirty="0"/>
              <a:t> high</a:t>
            </a:r>
          </a:p>
        </p:txBody>
      </p:sp>
      <p:sp>
        <p:nvSpPr>
          <p:cNvPr id="4" name="Slide Number Placeholder 3"/>
          <p:cNvSpPr>
            <a:spLocks noGrp="1"/>
          </p:cNvSpPr>
          <p:nvPr>
            <p:ph type="sldNum" sz="quarter" idx="5"/>
          </p:nvPr>
        </p:nvSpPr>
        <p:spPr/>
        <p:txBody>
          <a:bodyPr/>
          <a:lstStyle/>
          <a:p>
            <a:fld id="{769943EA-69D9-7E49-97CD-A49926F617C9}" type="slidenum">
              <a:rPr lang="en-US" smtClean="0"/>
              <a:t>27</a:t>
            </a:fld>
            <a:endParaRPr lang="en-US" dirty="0"/>
          </a:p>
        </p:txBody>
      </p:sp>
    </p:spTree>
    <p:extLst>
      <p:ext uri="{BB962C8B-B14F-4D97-AF65-F5344CB8AC3E}">
        <p14:creationId xmlns:p14="http://schemas.microsoft.com/office/powerpoint/2010/main" val="75517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C4DB2-8586-ECA9-3E56-C0B69BB41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37410-D0E7-E784-DD39-03E6DAD154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0E8B9-FDA4-33C2-B2A1-FAE51C110DF1}"/>
              </a:ext>
            </a:extLst>
          </p:cNvPr>
          <p:cNvSpPr>
            <a:spLocks noGrp="1"/>
          </p:cNvSpPr>
          <p:nvPr>
            <p:ph type="body" idx="1"/>
          </p:nvPr>
        </p:nvSpPr>
        <p:spPr/>
        <p:txBody>
          <a:bodyPr/>
          <a:lstStyle/>
          <a:p>
            <a:r>
              <a:rPr lang="en-US" dirty="0"/>
              <a:t>- Cog outcomes generally tough, especially driven by inability to predict neglect </a:t>
            </a:r>
            <a:r>
              <a:rPr lang="en-US" dirty="0" err="1"/>
              <a:t>vsp</a:t>
            </a:r>
            <a:r>
              <a:rPr lang="en-US" dirty="0"/>
              <a:t> attn stuff</a:t>
            </a:r>
          </a:p>
        </p:txBody>
      </p:sp>
      <p:sp>
        <p:nvSpPr>
          <p:cNvPr id="4" name="Slide Number Placeholder 3">
            <a:extLst>
              <a:ext uri="{FF2B5EF4-FFF2-40B4-BE49-F238E27FC236}">
                <a16:creationId xmlns:a16="http://schemas.microsoft.com/office/drawing/2014/main" id="{668489D9-F29A-43DC-2097-1AEC75041E37}"/>
              </a:ext>
            </a:extLst>
          </p:cNvPr>
          <p:cNvSpPr>
            <a:spLocks noGrp="1"/>
          </p:cNvSpPr>
          <p:nvPr>
            <p:ph type="sldNum" sz="quarter" idx="5"/>
          </p:nvPr>
        </p:nvSpPr>
        <p:spPr/>
        <p:txBody>
          <a:bodyPr/>
          <a:lstStyle/>
          <a:p>
            <a:fld id="{769943EA-69D9-7E49-97CD-A49926F617C9}" type="slidenum">
              <a:rPr lang="en-US" smtClean="0"/>
              <a:t>28</a:t>
            </a:fld>
            <a:endParaRPr lang="en-US" dirty="0"/>
          </a:p>
        </p:txBody>
      </p:sp>
    </p:spTree>
    <p:extLst>
      <p:ext uri="{BB962C8B-B14F-4D97-AF65-F5344CB8AC3E}">
        <p14:creationId xmlns:p14="http://schemas.microsoft.com/office/powerpoint/2010/main" val="260291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38FD-0309-7763-8B80-4F3FA8348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A0683-762B-6BB7-45DE-D020322A2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E0EE3A-67D1-F93C-8BCA-E673914A6F24}"/>
              </a:ext>
            </a:extLst>
          </p:cNvPr>
          <p:cNvSpPr>
            <a:spLocks noGrp="1"/>
          </p:cNvSpPr>
          <p:nvPr>
            <p:ph type="body" idx="1"/>
          </p:nvPr>
        </p:nvSpPr>
        <p:spPr/>
        <p:txBody>
          <a:bodyPr/>
          <a:lstStyle/>
          <a:p>
            <a:pPr marL="171450" indent="-171450">
              <a:buFontTx/>
              <a:buChar char="-"/>
            </a:pPr>
            <a:r>
              <a:rPr lang="en-US" dirty="0"/>
              <a:t>Lesion profile mapping uses rich behavioral data to group patients with similar post-lesion deficits. </a:t>
            </a:r>
          </a:p>
          <a:p>
            <a:pPr marL="171450" indent="-171450">
              <a:buFontTx/>
              <a:buChar char="-"/>
            </a:pPr>
            <a:r>
              <a:rPr lang="en-US" dirty="0"/>
              <a:t>Instead of mapping task performance, we are mapping a certain profile across all tested cognitive </a:t>
            </a:r>
            <a:r>
              <a:rPr lang="en-US" dirty="0" err="1"/>
              <a:t>domians</a:t>
            </a:r>
            <a:endParaRPr lang="en-US" dirty="0"/>
          </a:p>
          <a:p>
            <a:pPr marL="628650" lvl="1" indent="-171450">
              <a:buFontTx/>
              <a:buChar char="-"/>
            </a:pPr>
            <a:r>
              <a:rPr lang="en-US" dirty="0"/>
              <a:t>A concrete examples is a subset of patients who have language deficits and right-side-of-the-body weakness</a:t>
            </a:r>
          </a:p>
          <a:p>
            <a:pPr marL="1085850" lvl="2" indent="-171450">
              <a:buFontTx/>
              <a:buChar char="-"/>
            </a:pPr>
            <a:r>
              <a:rPr lang="en-US" dirty="0"/>
              <a:t>Symptoms of stroke don’t exist in a vacuum</a:t>
            </a:r>
          </a:p>
        </p:txBody>
      </p:sp>
      <p:sp>
        <p:nvSpPr>
          <p:cNvPr id="4" name="Slide Number Placeholder 3">
            <a:extLst>
              <a:ext uri="{FF2B5EF4-FFF2-40B4-BE49-F238E27FC236}">
                <a16:creationId xmlns:a16="http://schemas.microsoft.com/office/drawing/2014/main" id="{0D5DF169-0B47-C0B1-F430-C200C6738924}"/>
              </a:ext>
            </a:extLst>
          </p:cNvPr>
          <p:cNvSpPr>
            <a:spLocks noGrp="1"/>
          </p:cNvSpPr>
          <p:nvPr>
            <p:ph type="sldNum" sz="quarter" idx="5"/>
          </p:nvPr>
        </p:nvSpPr>
        <p:spPr/>
        <p:txBody>
          <a:bodyPr/>
          <a:lstStyle/>
          <a:p>
            <a:fld id="{769943EA-69D9-7E49-97CD-A49926F617C9}" type="slidenum">
              <a:rPr lang="en-US" smtClean="0"/>
              <a:t>29</a:t>
            </a:fld>
            <a:endParaRPr lang="en-US" dirty="0"/>
          </a:p>
        </p:txBody>
      </p:sp>
    </p:spTree>
    <p:extLst>
      <p:ext uri="{BB962C8B-B14F-4D97-AF65-F5344CB8AC3E}">
        <p14:creationId xmlns:p14="http://schemas.microsoft.com/office/powerpoint/2010/main" val="3849344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This is how we propose you can map behavioral profile</a:t>
            </a:r>
          </a:p>
          <a:p>
            <a:pPr marL="628650" lvl="1" indent="-171450">
              <a:buFontTx/>
              <a:buChar char="-"/>
            </a:pPr>
            <a:r>
              <a:rPr lang="en-US" dirty="0"/>
              <a:t>Have some set of test scores for a set of patients like in this table</a:t>
            </a:r>
          </a:p>
          <a:p>
            <a:pPr marL="171450" lvl="0" indent="-171450">
              <a:buFontTx/>
              <a:buChar char="-"/>
            </a:pPr>
            <a:r>
              <a:rPr lang="en-US" dirty="0"/>
              <a:t>Run </a:t>
            </a:r>
            <a:r>
              <a:rPr lang="en-US" dirty="0" err="1"/>
              <a:t>umap</a:t>
            </a:r>
            <a:r>
              <a:rPr lang="en-US" dirty="0"/>
              <a:t> on these z-scored data and reduce to 2 dimensions</a:t>
            </a:r>
          </a:p>
        </p:txBody>
      </p:sp>
      <p:sp>
        <p:nvSpPr>
          <p:cNvPr id="4" name="Slide Number Placeholder 3"/>
          <p:cNvSpPr>
            <a:spLocks noGrp="1"/>
          </p:cNvSpPr>
          <p:nvPr>
            <p:ph type="sldNum" sz="quarter" idx="5"/>
          </p:nvPr>
        </p:nvSpPr>
        <p:spPr/>
        <p:txBody>
          <a:bodyPr/>
          <a:lstStyle/>
          <a:p>
            <a:fld id="{769943EA-69D9-7E49-97CD-A49926F617C9}" type="slidenum">
              <a:rPr lang="en-US" smtClean="0"/>
              <a:t>30</a:t>
            </a:fld>
            <a:endParaRPr lang="en-US" dirty="0"/>
          </a:p>
        </p:txBody>
      </p:sp>
    </p:spTree>
    <p:extLst>
      <p:ext uri="{BB962C8B-B14F-4D97-AF65-F5344CB8AC3E}">
        <p14:creationId xmlns:p14="http://schemas.microsoft.com/office/powerpoint/2010/main" val="5196265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6C345-6FB6-07B3-1A3C-1BF1F9468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0B2DF-1187-E5CD-3CF6-1527DB5044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6FBC8-CD1E-7265-B833-A0F92154DB5B}"/>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B8457254-C5F9-3130-EC59-1B60D51F3015}"/>
              </a:ext>
            </a:extLst>
          </p:cNvPr>
          <p:cNvSpPr>
            <a:spLocks noGrp="1"/>
          </p:cNvSpPr>
          <p:nvPr>
            <p:ph type="sldNum" sz="quarter" idx="5"/>
          </p:nvPr>
        </p:nvSpPr>
        <p:spPr/>
        <p:txBody>
          <a:bodyPr/>
          <a:lstStyle/>
          <a:p>
            <a:fld id="{769943EA-69D9-7E49-97CD-A49926F617C9}" type="slidenum">
              <a:rPr lang="en-US" smtClean="0"/>
              <a:t>31</a:t>
            </a:fld>
            <a:endParaRPr lang="en-US" dirty="0"/>
          </a:p>
        </p:txBody>
      </p:sp>
    </p:spTree>
    <p:extLst>
      <p:ext uri="{BB962C8B-B14F-4D97-AF65-F5344CB8AC3E}">
        <p14:creationId xmlns:p14="http://schemas.microsoft.com/office/powerpoint/2010/main" val="39055957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CDFE1-9428-12EF-4999-49771841E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4332D-6611-803A-3A62-7AE82EDEBF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71E4F-7C84-8819-64BB-8B3D87431754}"/>
              </a:ext>
            </a:extLst>
          </p:cNvPr>
          <p:cNvSpPr>
            <a:spLocks noGrp="1"/>
          </p:cNvSpPr>
          <p:nvPr>
            <p:ph type="body" idx="1"/>
          </p:nvPr>
        </p:nvSpPr>
        <p:spPr/>
        <p:txBody>
          <a:bodyPr/>
          <a:lstStyle/>
          <a:p>
            <a:pPr marL="171450" indent="-171450">
              <a:buFontTx/>
              <a:buChar char="-"/>
            </a:pPr>
            <a:r>
              <a:rPr lang="en-US" dirty="0"/>
              <a:t>Calculate one of several different metrics to determine optimal number of K</a:t>
            </a:r>
          </a:p>
          <a:p>
            <a:pPr marL="628650" lvl="1" indent="-171450">
              <a:buFontTx/>
              <a:buChar char="-"/>
            </a:pPr>
            <a:r>
              <a:rPr lang="en-US" dirty="0"/>
              <a:t>Davies-Bouldin score</a:t>
            </a:r>
          </a:p>
          <a:p>
            <a:pPr marL="1085850" lvl="2" indent="-171450">
              <a:buFontTx/>
              <a:buChar char="-"/>
            </a:pPr>
            <a:r>
              <a:rPr lang="en-US" dirty="0"/>
              <a:t>Ratio of within-cluster distances (compactness) to between-cluster distances (separation)</a:t>
            </a:r>
          </a:p>
          <a:p>
            <a:pPr marL="1543050" lvl="3" indent="-171450">
              <a:buFontTx/>
              <a:buChar char="-"/>
            </a:pPr>
            <a:r>
              <a:rPr lang="en-US" dirty="0"/>
              <a:t>Do this over a range of k values, select the value of k with the lowest DB score</a:t>
            </a:r>
          </a:p>
        </p:txBody>
      </p:sp>
      <p:sp>
        <p:nvSpPr>
          <p:cNvPr id="4" name="Slide Number Placeholder 3">
            <a:extLst>
              <a:ext uri="{FF2B5EF4-FFF2-40B4-BE49-F238E27FC236}">
                <a16:creationId xmlns:a16="http://schemas.microsoft.com/office/drawing/2014/main" id="{D9C13656-55C9-7909-4763-A5541EB7EF0E}"/>
              </a:ext>
            </a:extLst>
          </p:cNvPr>
          <p:cNvSpPr>
            <a:spLocks noGrp="1"/>
          </p:cNvSpPr>
          <p:nvPr>
            <p:ph type="sldNum" sz="quarter" idx="5"/>
          </p:nvPr>
        </p:nvSpPr>
        <p:spPr/>
        <p:txBody>
          <a:bodyPr/>
          <a:lstStyle/>
          <a:p>
            <a:fld id="{769943EA-69D9-7E49-97CD-A49926F617C9}" type="slidenum">
              <a:rPr lang="en-US" smtClean="0"/>
              <a:t>32</a:t>
            </a:fld>
            <a:endParaRPr lang="en-US" dirty="0"/>
          </a:p>
        </p:txBody>
      </p:sp>
    </p:spTree>
    <p:extLst>
      <p:ext uri="{BB962C8B-B14F-4D97-AF65-F5344CB8AC3E}">
        <p14:creationId xmlns:p14="http://schemas.microsoft.com/office/powerpoint/2010/main" val="36878171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FFB9F-2913-EA8F-6F5B-9F4E17FE8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34AD01-C0CB-41AA-D937-4FF3991A1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BC6D86-B8F9-EF8A-0A77-B7F30A088B59}"/>
              </a:ext>
            </a:extLst>
          </p:cNvPr>
          <p:cNvSpPr>
            <a:spLocks noGrp="1"/>
          </p:cNvSpPr>
          <p:nvPr>
            <p:ph type="body" idx="1"/>
          </p:nvPr>
        </p:nvSpPr>
        <p:spPr/>
        <p:txBody>
          <a:bodyPr/>
          <a:lstStyle/>
          <a:p>
            <a:pPr marL="171450" indent="-171450">
              <a:buFontTx/>
              <a:buChar char="-"/>
            </a:pPr>
            <a:r>
              <a:rPr lang="en-US" dirty="0"/>
              <a:t>In other words, we are mapping a location in this UMAP space. </a:t>
            </a:r>
          </a:p>
          <a:p>
            <a:pPr marL="628650" lvl="1" indent="-171450">
              <a:buFontTx/>
              <a:buChar char="-"/>
            </a:pPr>
            <a:r>
              <a:rPr lang="en-US" dirty="0"/>
              <a:t>This is important because again, this is showing patient relationship to other patients in a cohort. </a:t>
            </a:r>
          </a:p>
        </p:txBody>
      </p:sp>
      <p:sp>
        <p:nvSpPr>
          <p:cNvPr id="4" name="Slide Number Placeholder 3">
            <a:extLst>
              <a:ext uri="{FF2B5EF4-FFF2-40B4-BE49-F238E27FC236}">
                <a16:creationId xmlns:a16="http://schemas.microsoft.com/office/drawing/2014/main" id="{3DE509C0-CD4F-46D5-9A27-296FAA272677}"/>
              </a:ext>
            </a:extLst>
          </p:cNvPr>
          <p:cNvSpPr>
            <a:spLocks noGrp="1"/>
          </p:cNvSpPr>
          <p:nvPr>
            <p:ph type="sldNum" sz="quarter" idx="5"/>
          </p:nvPr>
        </p:nvSpPr>
        <p:spPr/>
        <p:txBody>
          <a:bodyPr/>
          <a:lstStyle/>
          <a:p>
            <a:fld id="{769943EA-69D9-7E49-97CD-A49926F617C9}" type="slidenum">
              <a:rPr lang="en-US" smtClean="0"/>
              <a:t>33</a:t>
            </a:fld>
            <a:endParaRPr lang="en-US" dirty="0"/>
          </a:p>
        </p:txBody>
      </p:sp>
    </p:spTree>
    <p:extLst>
      <p:ext uri="{BB962C8B-B14F-4D97-AF65-F5344CB8AC3E}">
        <p14:creationId xmlns:p14="http://schemas.microsoft.com/office/powerpoint/2010/main" val="12509145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0B6E7-2C40-38D3-A209-4929B7E25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55FD7-DA52-C8AC-48E3-15AE28E4D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BFEFD5-F8F6-45CE-2567-FD797E5C49F0}"/>
              </a:ext>
            </a:extLst>
          </p:cNvPr>
          <p:cNvSpPr>
            <a:spLocks noGrp="1"/>
          </p:cNvSpPr>
          <p:nvPr>
            <p:ph type="body" idx="1"/>
          </p:nvPr>
        </p:nvSpPr>
        <p:spPr/>
        <p:txBody>
          <a:bodyPr/>
          <a:lstStyle/>
          <a:p>
            <a:pPr marL="171450" indent="-171450">
              <a:buFontTx/>
              <a:buChar char="-"/>
            </a:pPr>
            <a:r>
              <a:rPr lang="en-US" dirty="0"/>
              <a:t>If we are trying to map blue cluster</a:t>
            </a:r>
          </a:p>
          <a:p>
            <a:pPr marL="628650" lvl="1" indent="-171450">
              <a:buFontTx/>
              <a:buChar char="-"/>
            </a:pPr>
            <a:r>
              <a:rPr lang="en-US" dirty="0"/>
              <a:t>Here, short distance means a patient is very close to this behavioral profile because, again, patients close together here are close in 78-D space and if they are close, they have similar behavioral data</a:t>
            </a:r>
          </a:p>
        </p:txBody>
      </p:sp>
      <p:sp>
        <p:nvSpPr>
          <p:cNvPr id="4" name="Slide Number Placeholder 3">
            <a:extLst>
              <a:ext uri="{FF2B5EF4-FFF2-40B4-BE49-F238E27FC236}">
                <a16:creationId xmlns:a16="http://schemas.microsoft.com/office/drawing/2014/main" id="{AC8F1B20-D227-742E-9DB4-C5A9AB5BFC1E}"/>
              </a:ext>
            </a:extLst>
          </p:cNvPr>
          <p:cNvSpPr>
            <a:spLocks noGrp="1"/>
          </p:cNvSpPr>
          <p:nvPr>
            <p:ph type="sldNum" sz="quarter" idx="5"/>
          </p:nvPr>
        </p:nvSpPr>
        <p:spPr/>
        <p:txBody>
          <a:bodyPr/>
          <a:lstStyle/>
          <a:p>
            <a:fld id="{769943EA-69D9-7E49-97CD-A49926F617C9}" type="slidenum">
              <a:rPr lang="en-US" smtClean="0"/>
              <a:t>34</a:t>
            </a:fld>
            <a:endParaRPr lang="en-US" dirty="0"/>
          </a:p>
        </p:txBody>
      </p:sp>
    </p:spTree>
    <p:extLst>
      <p:ext uri="{BB962C8B-B14F-4D97-AF65-F5344CB8AC3E}">
        <p14:creationId xmlns:p14="http://schemas.microsoft.com/office/powerpoint/2010/main" val="30361301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65795-1084-13C6-5C66-7C1582138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135C8-0B35-DA2C-1A5D-5E9D72AC4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5D7A3-4356-6F02-D494-26C6BA707B91}"/>
              </a:ext>
            </a:extLst>
          </p:cNvPr>
          <p:cNvSpPr>
            <a:spLocks noGrp="1"/>
          </p:cNvSpPr>
          <p:nvPr>
            <p:ph type="body" idx="1"/>
          </p:nvPr>
        </p:nvSpPr>
        <p:spPr/>
        <p:txBody>
          <a:bodyPr/>
          <a:lstStyle/>
          <a:p>
            <a:pPr marL="171450" indent="-171450">
              <a:buFontTx/>
              <a:buChar char="-"/>
            </a:pPr>
            <a:r>
              <a:rPr lang="en-US" dirty="0"/>
              <a:t>When you do this, the resultant lesion profile map will show what lesion locations are associated with a given cluster’s behavioral profile</a:t>
            </a:r>
          </a:p>
          <a:p>
            <a:pPr marL="171450" indent="-171450">
              <a:buFontTx/>
              <a:buChar char="-"/>
            </a:pPr>
            <a:r>
              <a:rPr lang="en-US" dirty="0"/>
              <a:t>Then, can proceed forward with lesion-symptom mapping algorithm of choice</a:t>
            </a:r>
          </a:p>
          <a:p>
            <a:pPr marL="628650" lvl="1" indent="-171450">
              <a:buFontTx/>
              <a:buChar char="-"/>
            </a:pPr>
            <a:r>
              <a:rPr lang="en-US" dirty="0"/>
              <a:t>Compatible with available toolboxes because this processing is done on the behavioral data then </a:t>
            </a:r>
          </a:p>
        </p:txBody>
      </p:sp>
      <p:sp>
        <p:nvSpPr>
          <p:cNvPr id="4" name="Slide Number Placeholder 3">
            <a:extLst>
              <a:ext uri="{FF2B5EF4-FFF2-40B4-BE49-F238E27FC236}">
                <a16:creationId xmlns:a16="http://schemas.microsoft.com/office/drawing/2014/main" id="{7B68F7E0-57B9-BBA9-7E44-FFB2A0A4FD39}"/>
              </a:ext>
            </a:extLst>
          </p:cNvPr>
          <p:cNvSpPr>
            <a:spLocks noGrp="1"/>
          </p:cNvSpPr>
          <p:nvPr>
            <p:ph type="sldNum" sz="quarter" idx="5"/>
          </p:nvPr>
        </p:nvSpPr>
        <p:spPr/>
        <p:txBody>
          <a:bodyPr/>
          <a:lstStyle/>
          <a:p>
            <a:fld id="{769943EA-69D9-7E49-97CD-A49926F617C9}" type="slidenum">
              <a:rPr lang="en-US" smtClean="0"/>
              <a:t>35</a:t>
            </a:fld>
            <a:endParaRPr lang="en-US" dirty="0"/>
          </a:p>
        </p:txBody>
      </p:sp>
    </p:spTree>
    <p:extLst>
      <p:ext uri="{BB962C8B-B14F-4D97-AF65-F5344CB8AC3E}">
        <p14:creationId xmlns:p14="http://schemas.microsoft.com/office/powerpoint/2010/main" val="3088068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B4DAA-2B28-3A20-012A-0A3A331B0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81E96-DEB7-305E-A4AA-F2CC34AC5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20F58-311D-E62A-6D7E-FA737937813B}"/>
              </a:ext>
            </a:extLst>
          </p:cNvPr>
          <p:cNvSpPr>
            <a:spLocks noGrp="1"/>
          </p:cNvSpPr>
          <p:nvPr>
            <p:ph type="body" idx="1"/>
          </p:nvPr>
        </p:nvSpPr>
        <p:spPr/>
        <p:txBody>
          <a:bodyPr/>
          <a:lstStyle/>
          <a:p>
            <a:r>
              <a:rPr lang="en-US" dirty="0"/>
              <a:t>- LSM where 4 of 8 clusters localized but we need to calculate the behavioral profile to contextualize this</a:t>
            </a:r>
          </a:p>
        </p:txBody>
      </p:sp>
      <p:sp>
        <p:nvSpPr>
          <p:cNvPr id="4" name="Slide Number Placeholder 3">
            <a:extLst>
              <a:ext uri="{FF2B5EF4-FFF2-40B4-BE49-F238E27FC236}">
                <a16:creationId xmlns:a16="http://schemas.microsoft.com/office/drawing/2014/main" id="{F4B79A0E-A169-0CA0-37E6-2739FD8946BC}"/>
              </a:ext>
            </a:extLst>
          </p:cNvPr>
          <p:cNvSpPr>
            <a:spLocks noGrp="1"/>
          </p:cNvSpPr>
          <p:nvPr>
            <p:ph type="sldNum" sz="quarter" idx="5"/>
          </p:nvPr>
        </p:nvSpPr>
        <p:spPr/>
        <p:txBody>
          <a:bodyPr/>
          <a:lstStyle/>
          <a:p>
            <a:fld id="{769943EA-69D9-7E49-97CD-A49926F617C9}" type="slidenum">
              <a:rPr lang="en-US" smtClean="0"/>
              <a:t>36</a:t>
            </a:fld>
            <a:endParaRPr lang="en-US" dirty="0"/>
          </a:p>
        </p:txBody>
      </p:sp>
    </p:spTree>
    <p:extLst>
      <p:ext uri="{BB962C8B-B14F-4D97-AF65-F5344CB8AC3E}">
        <p14:creationId xmlns:p14="http://schemas.microsoft.com/office/powerpoint/2010/main" val="1256047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0CD03-06BD-3D2D-7A0A-AC903E4A3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6C9AC-EAA1-3474-57A3-0EA347456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1CC840-7E02-0DC8-8422-DEBAAE094CB7}"/>
              </a:ext>
            </a:extLst>
          </p:cNvPr>
          <p:cNvSpPr>
            <a:spLocks noGrp="1"/>
          </p:cNvSpPr>
          <p:nvPr>
            <p:ph type="body" idx="1"/>
          </p:nvPr>
        </p:nvSpPr>
        <p:spPr/>
        <p:txBody>
          <a:bodyPr/>
          <a:lstStyle/>
          <a:p>
            <a:pPr marL="171450" indent="-171450">
              <a:buFontTx/>
              <a:buChar char="-"/>
            </a:pPr>
            <a:r>
              <a:rPr lang="en-US" dirty="0"/>
              <a:t>Specifics here don’t matter,</a:t>
            </a:r>
          </a:p>
          <a:p>
            <a:pPr marL="628650" lvl="1" indent="-171450">
              <a:buFontTx/>
              <a:buChar char="-"/>
            </a:pPr>
            <a:r>
              <a:rPr lang="en-US" dirty="0"/>
              <a:t>in this example, each boxplot would represent the distribution of patient performance on a single </a:t>
            </a:r>
            <a:r>
              <a:rPr lang="en-US" dirty="0" err="1"/>
              <a:t>neuropsych</a:t>
            </a:r>
            <a:r>
              <a:rPr lang="en-US" dirty="0"/>
              <a:t> test</a:t>
            </a:r>
          </a:p>
          <a:p>
            <a:pPr marL="1085850" lvl="2" indent="-171450">
              <a:buFontTx/>
              <a:buChar char="-"/>
            </a:pPr>
            <a:r>
              <a:rPr lang="en-US" dirty="0"/>
              <a:t>This is an example, this figure in the context of our paper is showing something slightly different but let’s consider each as representing distribution of tests scores. </a:t>
            </a:r>
          </a:p>
          <a:p>
            <a:pPr marL="628650" lvl="1" indent="-171450">
              <a:buFontTx/>
              <a:buChar char="-"/>
            </a:pPr>
            <a:r>
              <a:rPr lang="en-US" dirty="0"/>
              <a:t>Dotted line represents sample mean, but you can change is to a population mean to put your data in context of norms</a:t>
            </a:r>
          </a:p>
        </p:txBody>
      </p:sp>
      <p:sp>
        <p:nvSpPr>
          <p:cNvPr id="4" name="Slide Number Placeholder 3">
            <a:extLst>
              <a:ext uri="{FF2B5EF4-FFF2-40B4-BE49-F238E27FC236}">
                <a16:creationId xmlns:a16="http://schemas.microsoft.com/office/drawing/2014/main" id="{CEEB5DE8-C340-D63F-4AFB-BDE0C3856B87}"/>
              </a:ext>
            </a:extLst>
          </p:cNvPr>
          <p:cNvSpPr>
            <a:spLocks noGrp="1"/>
          </p:cNvSpPr>
          <p:nvPr>
            <p:ph type="sldNum" sz="quarter" idx="5"/>
          </p:nvPr>
        </p:nvSpPr>
        <p:spPr/>
        <p:txBody>
          <a:bodyPr/>
          <a:lstStyle/>
          <a:p>
            <a:fld id="{769943EA-69D9-7E49-97CD-A49926F617C9}" type="slidenum">
              <a:rPr lang="en-US" smtClean="0"/>
              <a:t>37</a:t>
            </a:fld>
            <a:endParaRPr lang="en-US" dirty="0"/>
          </a:p>
        </p:txBody>
      </p:sp>
    </p:spTree>
    <p:extLst>
      <p:ext uri="{BB962C8B-B14F-4D97-AF65-F5344CB8AC3E}">
        <p14:creationId xmlns:p14="http://schemas.microsoft.com/office/powerpoint/2010/main" val="3935953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8B16F-5E7B-B6FC-F15E-E631F0D03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683DFD-BC2F-668F-0C29-4B62C958F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7870F-512F-7A88-112B-2DFDD41D5D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20C37F-B4D5-C136-1B0B-0E72ADD22D15}"/>
              </a:ext>
            </a:extLst>
          </p:cNvPr>
          <p:cNvSpPr>
            <a:spLocks noGrp="1"/>
          </p:cNvSpPr>
          <p:nvPr>
            <p:ph type="sldNum" sz="quarter" idx="5"/>
          </p:nvPr>
        </p:nvSpPr>
        <p:spPr/>
        <p:txBody>
          <a:bodyPr/>
          <a:lstStyle/>
          <a:p>
            <a:fld id="{769943EA-69D9-7E49-97CD-A49926F617C9}" type="slidenum">
              <a:rPr lang="en-US" smtClean="0"/>
              <a:t>38</a:t>
            </a:fld>
            <a:endParaRPr lang="en-US" dirty="0"/>
          </a:p>
        </p:txBody>
      </p:sp>
    </p:spTree>
    <p:extLst>
      <p:ext uri="{BB962C8B-B14F-4D97-AF65-F5344CB8AC3E}">
        <p14:creationId xmlns:p14="http://schemas.microsoft.com/office/powerpoint/2010/main" val="4862679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86010-F406-A5C1-5777-9BCA7BA66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8006F6-CB40-F279-D8C0-D0B7129EA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C9319-FA77-910F-5CCE-709EA7220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256A6C-4E4B-06C8-FA3E-A05B59519231}"/>
              </a:ext>
            </a:extLst>
          </p:cNvPr>
          <p:cNvSpPr>
            <a:spLocks noGrp="1"/>
          </p:cNvSpPr>
          <p:nvPr>
            <p:ph type="sldNum" sz="quarter" idx="5"/>
          </p:nvPr>
        </p:nvSpPr>
        <p:spPr/>
        <p:txBody>
          <a:bodyPr/>
          <a:lstStyle/>
          <a:p>
            <a:fld id="{769943EA-69D9-7E49-97CD-A49926F617C9}" type="slidenum">
              <a:rPr lang="en-US" smtClean="0"/>
              <a:t>39</a:t>
            </a:fld>
            <a:endParaRPr lang="en-US" dirty="0"/>
          </a:p>
        </p:txBody>
      </p:sp>
    </p:spTree>
    <p:extLst>
      <p:ext uri="{BB962C8B-B14F-4D97-AF65-F5344CB8AC3E}">
        <p14:creationId xmlns:p14="http://schemas.microsoft.com/office/powerpoint/2010/main" val="15600881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5075-38C1-FF54-E6D9-2DA34DDB1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95F55-CBA0-1EDD-1852-311E0FDA5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ED29F-0F7E-4BC1-6171-0B0BBFA766E1}"/>
              </a:ext>
            </a:extLst>
          </p:cNvPr>
          <p:cNvSpPr>
            <a:spLocks noGrp="1"/>
          </p:cNvSpPr>
          <p:nvPr>
            <p:ph type="body" idx="1"/>
          </p:nvPr>
        </p:nvSpPr>
        <p:spPr/>
        <p:txBody>
          <a:bodyPr/>
          <a:lstStyle/>
          <a:p>
            <a:pPr marL="171450" indent="-171450">
              <a:buFontTx/>
              <a:buChar char="-"/>
            </a:pPr>
            <a:r>
              <a:rPr lang="en-US" dirty="0"/>
              <a:t>Now that we can map behavioral profiles to lesion location with LSM, we can just as easily do this for LNM</a:t>
            </a:r>
          </a:p>
          <a:p>
            <a:pPr marL="171450" lvl="0" indent="-171450">
              <a:buFontTx/>
              <a:buChar char="-"/>
            </a:pPr>
            <a:r>
              <a:rPr lang="en-US" dirty="0"/>
              <a:t>These results give valuable basic science insights into functional neuroanatomy</a:t>
            </a:r>
          </a:p>
          <a:p>
            <a:pPr marL="171450" lvl="0" indent="-171450">
              <a:buFontTx/>
              <a:buChar char="-"/>
            </a:pPr>
            <a:endParaRPr lang="en-US" dirty="0"/>
          </a:p>
          <a:p>
            <a:pPr marL="171450" lvl="0" indent="-171450">
              <a:buFontTx/>
              <a:buChar char="-"/>
            </a:pPr>
            <a:endParaRPr lang="en-US" dirty="0"/>
          </a:p>
          <a:p>
            <a:pPr marL="171450" lvl="0" indent="-171450">
              <a:buFontTx/>
              <a:buChar char="-"/>
            </a:pPr>
            <a:endParaRPr lang="en-US" dirty="0"/>
          </a:p>
          <a:p>
            <a:pPr marL="171450" lvl="0" indent="-171450">
              <a:buFontTx/>
              <a:buChar char="-"/>
            </a:pPr>
            <a:endParaRPr lang="en-US" dirty="0"/>
          </a:p>
          <a:p>
            <a:pPr marL="628650" lvl="1" indent="-171450">
              <a:buFontTx/>
              <a:buChar char="-"/>
            </a:pPr>
            <a:r>
              <a:rPr lang="en-US" dirty="0"/>
              <a:t>What about when we have a new patient given the same test battery</a:t>
            </a:r>
          </a:p>
          <a:p>
            <a:pPr marL="1085850" lvl="2" indent="-171450">
              <a:buFontTx/>
              <a:buChar char="-"/>
            </a:pPr>
            <a:r>
              <a:rPr lang="en-US" dirty="0"/>
              <a:t>Let’s say we do this process for the registry core battery, from which we derive some set of behavioral profiles. </a:t>
            </a:r>
          </a:p>
          <a:p>
            <a:pPr marL="1085850" lvl="2" indent="-171450">
              <a:buFontTx/>
              <a:buChar char="-"/>
            </a:pPr>
            <a:r>
              <a:rPr lang="en-US" dirty="0"/>
              <a:t>New patient that is administered the core battery and want to know, based on lesion location </a:t>
            </a:r>
          </a:p>
        </p:txBody>
      </p:sp>
      <p:sp>
        <p:nvSpPr>
          <p:cNvPr id="4" name="Slide Number Placeholder 3">
            <a:extLst>
              <a:ext uri="{FF2B5EF4-FFF2-40B4-BE49-F238E27FC236}">
                <a16:creationId xmlns:a16="http://schemas.microsoft.com/office/drawing/2014/main" id="{5DB8BCB3-B3D5-F888-69E1-219F27234097}"/>
              </a:ext>
            </a:extLst>
          </p:cNvPr>
          <p:cNvSpPr>
            <a:spLocks noGrp="1"/>
          </p:cNvSpPr>
          <p:nvPr>
            <p:ph type="sldNum" sz="quarter" idx="5"/>
          </p:nvPr>
        </p:nvSpPr>
        <p:spPr/>
        <p:txBody>
          <a:bodyPr/>
          <a:lstStyle/>
          <a:p>
            <a:fld id="{769943EA-69D9-7E49-97CD-A49926F617C9}" type="slidenum">
              <a:rPr lang="en-US" smtClean="0"/>
              <a:t>40</a:t>
            </a:fld>
            <a:endParaRPr lang="en-US" dirty="0"/>
          </a:p>
        </p:txBody>
      </p:sp>
    </p:spTree>
    <p:extLst>
      <p:ext uri="{BB962C8B-B14F-4D97-AF65-F5344CB8AC3E}">
        <p14:creationId xmlns:p14="http://schemas.microsoft.com/office/powerpoint/2010/main" val="6564277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AB1FB-5508-2C22-B28C-9ED3A8D86B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2602D3-3849-E2CA-C2F6-41546FF20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11B70-2B4F-F977-0D76-59572C50536B}"/>
              </a:ext>
            </a:extLst>
          </p:cNvPr>
          <p:cNvSpPr>
            <a:spLocks noGrp="1"/>
          </p:cNvSpPr>
          <p:nvPr>
            <p:ph type="body" idx="1"/>
          </p:nvPr>
        </p:nvSpPr>
        <p:spPr/>
        <p:txBody>
          <a:bodyPr/>
          <a:lstStyle/>
          <a:p>
            <a:pPr marL="171450" lvl="0" indent="-171450">
              <a:buFontTx/>
              <a:buChar char="-"/>
            </a:pPr>
            <a:endParaRPr lang="en-US" dirty="0"/>
          </a:p>
        </p:txBody>
      </p:sp>
      <p:sp>
        <p:nvSpPr>
          <p:cNvPr id="4" name="Slide Number Placeholder 3">
            <a:extLst>
              <a:ext uri="{FF2B5EF4-FFF2-40B4-BE49-F238E27FC236}">
                <a16:creationId xmlns:a16="http://schemas.microsoft.com/office/drawing/2014/main" id="{22D1700A-DF08-4F59-3BD2-D5BE50DED810}"/>
              </a:ext>
            </a:extLst>
          </p:cNvPr>
          <p:cNvSpPr>
            <a:spLocks noGrp="1"/>
          </p:cNvSpPr>
          <p:nvPr>
            <p:ph type="sldNum" sz="quarter" idx="5"/>
          </p:nvPr>
        </p:nvSpPr>
        <p:spPr/>
        <p:txBody>
          <a:bodyPr/>
          <a:lstStyle/>
          <a:p>
            <a:fld id="{769943EA-69D9-7E49-97CD-A49926F617C9}" type="slidenum">
              <a:rPr lang="en-US" smtClean="0"/>
              <a:t>42</a:t>
            </a:fld>
            <a:endParaRPr lang="en-US" dirty="0"/>
          </a:p>
        </p:txBody>
      </p:sp>
    </p:spTree>
    <p:extLst>
      <p:ext uri="{BB962C8B-B14F-4D97-AF65-F5344CB8AC3E}">
        <p14:creationId xmlns:p14="http://schemas.microsoft.com/office/powerpoint/2010/main" val="34410737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Tx/>
              <a:buChar char="-"/>
            </a:pPr>
            <a:r>
              <a:rPr lang="en-US" dirty="0"/>
              <a:t>What about when we have a new patient?</a:t>
            </a:r>
          </a:p>
          <a:p>
            <a:pPr marL="171450" lvl="0" indent="-171450">
              <a:buFontTx/>
              <a:buChar char="-"/>
            </a:pPr>
            <a:r>
              <a:rPr lang="en-US" dirty="0"/>
              <a:t>Lets use new example:</a:t>
            </a:r>
          </a:p>
          <a:p>
            <a:pPr marL="628650" lvl="1" indent="-171450">
              <a:buFontTx/>
              <a:buChar char="-"/>
            </a:pPr>
            <a:r>
              <a:rPr lang="en-US" dirty="0"/>
              <a:t>Let’s say we did this process for the core lesion battery and identified behavioral subgroups based on this </a:t>
            </a:r>
          </a:p>
          <a:p>
            <a:pPr marL="628650" lvl="1" indent="-171450">
              <a:buFontTx/>
              <a:buChar char="-"/>
            </a:pPr>
            <a:r>
              <a:rPr lang="en-US" dirty="0"/>
              <a:t>What about when we get a new patient? (still working on this; see two different options)</a:t>
            </a:r>
          </a:p>
          <a:p>
            <a:pPr marL="1085850" lvl="2" indent="-171450">
              <a:buFontTx/>
              <a:buChar char="-"/>
            </a:pPr>
            <a:r>
              <a:rPr lang="en-US" dirty="0"/>
              <a:t>1. predict behavioral profile from lesion location in a new patient</a:t>
            </a:r>
          </a:p>
          <a:p>
            <a:pPr marL="1543050" lvl="3" indent="-171450">
              <a:buFontTx/>
              <a:buChar char="-"/>
            </a:pPr>
            <a:r>
              <a:rPr lang="en-US" dirty="0"/>
              <a:t>Calculate lesion load between new patient’s lesion mask and profile LSM or LNM</a:t>
            </a:r>
          </a:p>
          <a:p>
            <a:pPr marL="1543050" lvl="3" indent="-171450">
              <a:buFontTx/>
              <a:buChar char="-"/>
            </a:pPr>
            <a:r>
              <a:rPr lang="en-US" dirty="0"/>
              <a:t>Most similar LSM (highest spatial correlation), look at behavioral profile, that’s prediction</a:t>
            </a:r>
          </a:p>
          <a:p>
            <a:pPr marL="1085850" lvl="2" indent="-171450">
              <a:buFontTx/>
              <a:buChar char="-"/>
            </a:pPr>
            <a:r>
              <a:rPr lang="en-US" dirty="0"/>
              <a:t>2. predict lesion location from behavioral profile</a:t>
            </a:r>
          </a:p>
          <a:p>
            <a:pPr marL="1543050" lvl="3" indent="-171450">
              <a:buFontTx/>
              <a:buChar char="-"/>
            </a:pPr>
            <a:r>
              <a:rPr lang="en-US" dirty="0"/>
              <a:t>Administer the core battery to new patient</a:t>
            </a:r>
          </a:p>
          <a:p>
            <a:pPr marL="1543050" lvl="3" indent="-171450">
              <a:buFontTx/>
              <a:buChar char="-"/>
            </a:pPr>
            <a:r>
              <a:rPr lang="en-US" dirty="0"/>
              <a:t>Have all the features </a:t>
            </a:r>
            <a:r>
              <a:rPr lang="en-US" dirty="0" err="1"/>
              <a:t>umap</a:t>
            </a:r>
            <a:r>
              <a:rPr lang="en-US" dirty="0"/>
              <a:t> used for dim reduction,</a:t>
            </a:r>
          </a:p>
          <a:p>
            <a:pPr marL="2000250" lvl="4" indent="-171450">
              <a:buFontTx/>
              <a:buChar char="-"/>
            </a:pPr>
            <a:r>
              <a:rPr lang="en-US" dirty="0"/>
              <a:t>Take transform values from the training data (aka, the lesion profile map), feed in the new patient, and it will place them within known behavior space.</a:t>
            </a:r>
          </a:p>
          <a:p>
            <a:endParaRPr lang="en-US" dirty="0"/>
          </a:p>
        </p:txBody>
      </p:sp>
      <p:sp>
        <p:nvSpPr>
          <p:cNvPr id="4" name="Slide Number Placeholder 3"/>
          <p:cNvSpPr>
            <a:spLocks noGrp="1"/>
          </p:cNvSpPr>
          <p:nvPr>
            <p:ph type="sldNum" sz="quarter" idx="5"/>
          </p:nvPr>
        </p:nvSpPr>
        <p:spPr/>
        <p:txBody>
          <a:bodyPr/>
          <a:lstStyle/>
          <a:p>
            <a:fld id="{769943EA-69D9-7E49-97CD-A49926F617C9}" type="slidenum">
              <a:rPr lang="en-US" smtClean="0"/>
              <a:t>43</a:t>
            </a:fld>
            <a:endParaRPr lang="en-US" dirty="0"/>
          </a:p>
        </p:txBody>
      </p:sp>
    </p:spTree>
    <p:extLst>
      <p:ext uri="{BB962C8B-B14F-4D97-AF65-F5344CB8AC3E}">
        <p14:creationId xmlns:p14="http://schemas.microsoft.com/office/powerpoint/2010/main" val="10667787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D9F29-316A-D6DF-57E2-01D0D8701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5CC6D-30F7-1BB2-38F4-CEB8125A98D3}"/>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CCD93D78-099D-9E4E-0081-6D20F16669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7F7A5C-35F8-DB28-1A7E-3EFEF43641BD}"/>
              </a:ext>
            </a:extLst>
          </p:cNvPr>
          <p:cNvSpPr>
            <a:spLocks noGrp="1"/>
          </p:cNvSpPr>
          <p:nvPr>
            <p:ph type="sldNum" sz="quarter" idx="5"/>
          </p:nvPr>
        </p:nvSpPr>
        <p:spPr/>
        <p:txBody>
          <a:bodyPr/>
          <a:lstStyle/>
          <a:p>
            <a:fld id="{769943EA-69D9-7E49-97CD-A49926F617C9}" type="slidenum">
              <a:rPr lang="en-US" smtClean="0"/>
              <a:t>44</a:t>
            </a:fld>
            <a:endParaRPr lang="en-US" dirty="0"/>
          </a:p>
        </p:txBody>
      </p:sp>
    </p:spTree>
    <p:extLst>
      <p:ext uri="{BB962C8B-B14F-4D97-AF65-F5344CB8AC3E}">
        <p14:creationId xmlns:p14="http://schemas.microsoft.com/office/powerpoint/2010/main" val="31670722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120DD-1172-1692-CFC9-3F8BAD862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B19BA2-8208-4152-4CAA-4064B5D91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DB9D5-9977-64AE-2D2C-33EE15314667}"/>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3253BAED-8CC4-A031-DB60-A1ACAA8E39DD}"/>
              </a:ext>
            </a:extLst>
          </p:cNvPr>
          <p:cNvSpPr>
            <a:spLocks noGrp="1"/>
          </p:cNvSpPr>
          <p:nvPr>
            <p:ph type="sldNum" sz="quarter" idx="5"/>
          </p:nvPr>
        </p:nvSpPr>
        <p:spPr/>
        <p:txBody>
          <a:bodyPr/>
          <a:lstStyle/>
          <a:p>
            <a:fld id="{769943EA-69D9-7E49-97CD-A49926F617C9}" type="slidenum">
              <a:rPr lang="en-US" smtClean="0"/>
              <a:t>46</a:t>
            </a:fld>
            <a:endParaRPr lang="en-US" dirty="0"/>
          </a:p>
        </p:txBody>
      </p:sp>
    </p:spTree>
    <p:extLst>
      <p:ext uri="{BB962C8B-B14F-4D97-AF65-F5344CB8AC3E}">
        <p14:creationId xmlns:p14="http://schemas.microsoft.com/office/powerpoint/2010/main" val="14700458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1DF55-07A6-BAC0-4196-186F0A4DF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1BABF4-5986-3F68-B286-64AA0915D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2D2024-4534-C701-A5A4-289461F9CC70}"/>
              </a:ext>
            </a:extLst>
          </p:cNvPr>
          <p:cNvSpPr>
            <a:spLocks noGrp="1"/>
          </p:cNvSpPr>
          <p:nvPr>
            <p:ph type="body" idx="1"/>
          </p:nvPr>
        </p:nvSpPr>
        <p:spPr/>
        <p:txBody>
          <a:bodyPr/>
          <a:lstStyle/>
          <a:p>
            <a:pPr marL="171450" indent="-171450">
              <a:buFontTx/>
              <a:buChar char="-"/>
            </a:pPr>
            <a:r>
              <a:rPr lang="en-US" dirty="0"/>
              <a:t>Specifics here don’t matter,</a:t>
            </a:r>
          </a:p>
          <a:p>
            <a:pPr marL="628650" lvl="1" indent="-171450">
              <a:buFontTx/>
              <a:buChar char="-"/>
            </a:pPr>
            <a:r>
              <a:rPr lang="en-US" dirty="0"/>
              <a:t>in this example, each boxplot would represent the distribution of patient performance on a single </a:t>
            </a:r>
            <a:r>
              <a:rPr lang="en-US" dirty="0" err="1"/>
              <a:t>neuropsych</a:t>
            </a:r>
            <a:r>
              <a:rPr lang="en-US" dirty="0"/>
              <a:t> test</a:t>
            </a:r>
          </a:p>
          <a:p>
            <a:pPr marL="1085850" lvl="2" indent="-171450">
              <a:buFontTx/>
              <a:buChar char="-"/>
            </a:pPr>
            <a:r>
              <a:rPr lang="en-US" dirty="0"/>
              <a:t>This is an example, this figure in the context of our paper is showing something slightly different but let’s consider each as representing distribution of tests scores. </a:t>
            </a:r>
          </a:p>
          <a:p>
            <a:pPr marL="628650" lvl="1" indent="-171450">
              <a:buFontTx/>
              <a:buChar char="-"/>
            </a:pPr>
            <a:r>
              <a:rPr lang="en-US" dirty="0"/>
              <a:t>Dotted line represents sample mean, but you can change is to a population mean to put your data in context of norms</a:t>
            </a:r>
          </a:p>
        </p:txBody>
      </p:sp>
      <p:sp>
        <p:nvSpPr>
          <p:cNvPr id="4" name="Slide Number Placeholder 3">
            <a:extLst>
              <a:ext uri="{FF2B5EF4-FFF2-40B4-BE49-F238E27FC236}">
                <a16:creationId xmlns:a16="http://schemas.microsoft.com/office/drawing/2014/main" id="{83A6500D-2933-1A28-58F2-FFCE3675409E}"/>
              </a:ext>
            </a:extLst>
          </p:cNvPr>
          <p:cNvSpPr>
            <a:spLocks noGrp="1"/>
          </p:cNvSpPr>
          <p:nvPr>
            <p:ph type="sldNum" sz="quarter" idx="5"/>
          </p:nvPr>
        </p:nvSpPr>
        <p:spPr/>
        <p:txBody>
          <a:bodyPr/>
          <a:lstStyle/>
          <a:p>
            <a:fld id="{769943EA-69D9-7E49-97CD-A49926F617C9}" type="slidenum">
              <a:rPr lang="en-US" smtClean="0"/>
              <a:t>47</a:t>
            </a:fld>
            <a:endParaRPr lang="en-US" dirty="0"/>
          </a:p>
        </p:txBody>
      </p:sp>
    </p:spTree>
    <p:extLst>
      <p:ext uri="{BB962C8B-B14F-4D97-AF65-F5344CB8AC3E}">
        <p14:creationId xmlns:p14="http://schemas.microsoft.com/office/powerpoint/2010/main" val="2486860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31044" y="2677626"/>
            <a:ext cx="6931628" cy="1847088"/>
          </a:xfrm>
        </p:spPr>
        <p:txBody>
          <a:bodyPr lIns="0" tIns="0" rIns="0" bIns="0" anchor="t" anchorCtr="0">
            <a:normAutofit/>
          </a:bodyPr>
          <a:lstStyle>
            <a:lvl1pPr algn="l">
              <a:defRPr sz="5200" b="1">
                <a:solidFill>
                  <a:schemeClr val="bg1"/>
                </a:solidFill>
                <a:latin typeface="Roboto" panose="02000000000000000000" pitchFamily="2" charset="0"/>
                <a:ea typeface="Roboto" panose="02000000000000000000" pitchFamily="2" charset="0"/>
                <a:cs typeface="Arial" panose="020B0604020202020204" pitchFamily="34" charset="0"/>
              </a:defRPr>
            </a:lvl1pPr>
          </a:lstStyle>
          <a:p>
            <a:r>
              <a:rPr lang="en-US" dirty="0"/>
              <a:t>Presentation Title Goes Right Here</a:t>
            </a:r>
          </a:p>
        </p:txBody>
      </p:sp>
      <p:cxnSp>
        <p:nvCxnSpPr>
          <p:cNvPr id="8" name="Straight Connector 7">
            <a:extLst>
              <a:ext uri="{FF2B5EF4-FFF2-40B4-BE49-F238E27FC236}">
                <a16:creationId xmlns:a16="http://schemas.microsoft.com/office/drawing/2014/main" id="{C4E1A789-3A04-9240-BCEC-3DACF2B52870}"/>
              </a:ext>
              <a:ext uri="{C183D7F6-B498-43B3-948B-1728B52AA6E4}">
                <adec:decorative xmlns:adec="http://schemas.microsoft.com/office/drawing/2017/decorative" val="1"/>
              </a:ext>
            </a:extLst>
          </p:cNvPr>
          <p:cNvCxnSpPr>
            <a:cxnSpLocks/>
          </p:cNvCxnSpPr>
          <p:nvPr userDrawn="1"/>
        </p:nvCxnSpPr>
        <p:spPr>
          <a:xfrm>
            <a:off x="730595" y="2438725"/>
            <a:ext cx="576398"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Subtitle 2">
            <a:extLst>
              <a:ext uri="{FF2B5EF4-FFF2-40B4-BE49-F238E27FC236}">
                <a16:creationId xmlns:a16="http://schemas.microsoft.com/office/drawing/2014/main" id="{7EBA0026-8676-FC4D-B8E3-23D67CC31E33}"/>
              </a:ext>
            </a:extLst>
          </p:cNvPr>
          <p:cNvSpPr>
            <a:spLocks noGrp="1"/>
          </p:cNvSpPr>
          <p:nvPr>
            <p:ph type="subTitle" idx="1" hasCustomPrompt="1"/>
          </p:nvPr>
        </p:nvSpPr>
        <p:spPr>
          <a:xfrm>
            <a:off x="731044" y="4709626"/>
            <a:ext cx="7765770" cy="365125"/>
          </a:xfrm>
        </p:spPr>
        <p:txBody>
          <a:bodyPr lIns="0" tIns="0" rIns="0" bIns="0">
            <a:normAutofit/>
          </a:bodyPr>
          <a:lstStyle>
            <a:lvl1pPr marL="0" indent="0" algn="l">
              <a:buNone/>
              <a:defRPr sz="2200" b="1">
                <a:solidFill>
                  <a:schemeClr val="accent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11" name="Text Placeholder 15">
            <a:extLst>
              <a:ext uri="{FF2B5EF4-FFF2-40B4-BE49-F238E27FC236}">
                <a16:creationId xmlns:a16="http://schemas.microsoft.com/office/drawing/2014/main" id="{C56D6AE6-8806-5841-BD04-7C1509FA8029}"/>
              </a:ext>
            </a:extLst>
          </p:cNvPr>
          <p:cNvSpPr>
            <a:spLocks noGrp="1"/>
          </p:cNvSpPr>
          <p:nvPr>
            <p:ph type="body" sz="quarter" idx="10" hasCustomPrompt="1"/>
          </p:nvPr>
        </p:nvSpPr>
        <p:spPr>
          <a:xfrm>
            <a:off x="731044" y="5098725"/>
            <a:ext cx="7765770" cy="414991"/>
          </a:xfrm>
        </p:spPr>
        <p:txBody>
          <a:bodyPr lIns="0" tIns="0" rIns="0" bIns="0">
            <a:normAutofit/>
          </a:bodyPr>
          <a:lstStyle>
            <a:lvl1pPr marL="0" indent="0">
              <a:buNone/>
              <a:defRPr sz="2200">
                <a:solidFill>
                  <a:schemeClr val="bg1"/>
                </a:solidFill>
                <a:latin typeface="Roboto" panose="02000000000000000000" pitchFamily="2" charset="0"/>
                <a:ea typeface="Roboto" panose="02000000000000000000" pitchFamily="2"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714376" y="1774217"/>
            <a:ext cx="6948756" cy="365125"/>
          </a:xfrm>
          <a:prstGeom prst="rect">
            <a:avLst/>
          </a:prstGeom>
          <a:noFill/>
        </p:spPr>
        <p:txBody>
          <a:bodyPr vert="horz" lIns="0" tIns="0" rIns="0" bIns="0" rtlCol="0" anchor="ctr"/>
          <a:lstStyle>
            <a:lvl1pPr algn="l">
              <a:defRPr sz="1650" b="0">
                <a:solidFill>
                  <a:schemeClr val="bg1"/>
                </a:solidFill>
                <a:latin typeface="Roboto" panose="02000000000000000000" pitchFamily="2" charset="0"/>
                <a:ea typeface="Roboto" panose="02000000000000000000" pitchFamily="2" charset="0"/>
              </a:defRPr>
            </a:lvl1pPr>
          </a:lstStyle>
          <a:p>
            <a:r>
              <a:rPr lang="en-US" dirty="0"/>
              <a:t>Insert-&gt;Header and Footer-&gt;Type Customizable Name</a:t>
            </a:r>
          </a:p>
        </p:txBody>
      </p:sp>
      <p:pic>
        <p:nvPicPr>
          <p:cNvPr id="9" name="Picture 8" descr="The University of Iowa">
            <a:extLst>
              <a:ext uri="{FF2B5EF4-FFF2-40B4-BE49-F238E27FC236}">
                <a16:creationId xmlns:a16="http://schemas.microsoft.com/office/drawing/2014/main" id="{F79387AB-96AB-3C45-A320-91F134DB3255}"/>
              </a:ext>
            </a:extLst>
          </p:cNvPr>
          <p:cNvPicPr>
            <a:picLocks noChangeAspect="1"/>
          </p:cNvPicPr>
          <p:nvPr userDrawn="1"/>
        </p:nvPicPr>
        <p:blipFill>
          <a:blip r:embed="rId2"/>
          <a:stretch>
            <a:fillRect/>
          </a:stretch>
        </p:blipFill>
        <p:spPr>
          <a:xfrm>
            <a:off x="6476484" y="0"/>
            <a:ext cx="2020330" cy="962062"/>
          </a:xfrm>
          <a:prstGeom prst="rect">
            <a:avLst/>
          </a:prstGeom>
        </p:spPr>
      </p:pic>
    </p:spTree>
    <p:extLst>
      <p:ext uri="{BB962C8B-B14F-4D97-AF65-F5344CB8AC3E}">
        <p14:creationId xmlns:p14="http://schemas.microsoft.com/office/powerpoint/2010/main" val="35599010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5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31044" y="2677626"/>
            <a:ext cx="6858000" cy="1843238"/>
          </a:xfrm>
        </p:spPr>
        <p:txBody>
          <a:bodyPr lIns="0" tIns="0" rIns="0" bIns="0" anchor="t" anchorCtr="0">
            <a:normAutofit/>
          </a:bodyPr>
          <a:lstStyle>
            <a:lvl1pPr algn="l">
              <a:defRPr sz="5200" b="1">
                <a:solidFill>
                  <a:schemeClr val="tx1"/>
                </a:solidFill>
                <a:latin typeface="Roboto" panose="02000000000000000000" pitchFamily="2" charset="0"/>
                <a:ea typeface="Roboto" panose="02000000000000000000" pitchFamily="2" charset="0"/>
                <a:cs typeface="Arial" panose="020B0604020202020204" pitchFamily="34" charset="0"/>
              </a:defRPr>
            </a:lvl1pPr>
          </a:lstStyle>
          <a:p>
            <a:r>
              <a:rPr lang="en-US" dirty="0"/>
              <a:t>Presentation Title Goes Right Here</a:t>
            </a:r>
          </a:p>
        </p:txBody>
      </p:sp>
      <p:cxnSp>
        <p:nvCxnSpPr>
          <p:cNvPr id="8" name="Straight Connector 7">
            <a:extLst>
              <a:ext uri="{FF2B5EF4-FFF2-40B4-BE49-F238E27FC236}">
                <a16:creationId xmlns:a16="http://schemas.microsoft.com/office/drawing/2014/main" id="{C4E1A789-3A04-9240-BCEC-3DACF2B52870}"/>
              </a:ext>
            </a:extLst>
          </p:cNvPr>
          <p:cNvCxnSpPr>
            <a:cxnSpLocks/>
          </p:cNvCxnSpPr>
          <p:nvPr userDrawn="1"/>
        </p:nvCxnSpPr>
        <p:spPr>
          <a:xfrm>
            <a:off x="730595" y="2438725"/>
            <a:ext cx="576398"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731044" y="4709626"/>
            <a:ext cx="7765770" cy="365125"/>
          </a:xfrm>
        </p:spPr>
        <p:txBody>
          <a:bodyPr lIns="0" tIns="0" rIns="0" bIns="0">
            <a:normAutofit/>
          </a:bodyPr>
          <a:lstStyle>
            <a:lvl1pPr marL="0" indent="0" algn="l">
              <a:buNone/>
              <a:defRPr sz="2200" b="1">
                <a:solidFill>
                  <a:schemeClr val="tx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6" name="Text Placeholder 15">
            <a:extLst>
              <a:ext uri="{FF2B5EF4-FFF2-40B4-BE49-F238E27FC236}">
                <a16:creationId xmlns:a16="http://schemas.microsoft.com/office/drawing/2014/main" id="{2BBC7A98-1B1E-8545-AABD-0F79723A230C}"/>
              </a:ext>
            </a:extLst>
          </p:cNvPr>
          <p:cNvSpPr>
            <a:spLocks noGrp="1"/>
          </p:cNvSpPr>
          <p:nvPr>
            <p:ph type="body" sz="quarter" idx="10" hasCustomPrompt="1"/>
          </p:nvPr>
        </p:nvSpPr>
        <p:spPr>
          <a:xfrm>
            <a:off x="731044" y="5098725"/>
            <a:ext cx="7765770" cy="414991"/>
          </a:xfrm>
        </p:spPr>
        <p:txBody>
          <a:bodyPr lIns="0" tIns="0" rIns="0" bIns="0">
            <a:normAutofit/>
          </a:bodyPr>
          <a:lstStyle>
            <a:lvl1pPr marL="0" indent="0">
              <a:buNone/>
              <a:defRPr sz="2200">
                <a:solidFill>
                  <a:schemeClr val="tx1"/>
                </a:solidFill>
                <a:latin typeface="Roboto" panose="02000000000000000000" pitchFamily="2" charset="0"/>
                <a:ea typeface="Roboto" panose="02000000000000000000" pitchFamily="2"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7" name="Footer Placeholder 4">
            <a:extLst>
              <a:ext uri="{FF2B5EF4-FFF2-40B4-BE49-F238E27FC236}">
                <a16:creationId xmlns:a16="http://schemas.microsoft.com/office/drawing/2014/main" id="{AA810B86-CAB7-EA43-BC2F-6E66762DC8D3}"/>
              </a:ext>
            </a:extLst>
          </p:cNvPr>
          <p:cNvSpPr>
            <a:spLocks noGrp="1"/>
          </p:cNvSpPr>
          <p:nvPr>
            <p:ph type="ftr" sz="quarter" idx="3"/>
          </p:nvPr>
        </p:nvSpPr>
        <p:spPr>
          <a:xfrm>
            <a:off x="714375" y="1774217"/>
            <a:ext cx="6874669" cy="365125"/>
          </a:xfrm>
          <a:prstGeom prst="rect">
            <a:avLst/>
          </a:prstGeom>
          <a:noFill/>
        </p:spPr>
        <p:txBody>
          <a:bodyPr vert="horz" lIns="0" tIns="0" rIns="0" bIns="0" rtlCol="0" anchor="ctr"/>
          <a:lstStyle>
            <a:lvl1pPr algn="l">
              <a:defRPr sz="1650" b="0">
                <a:solidFill>
                  <a:schemeClr val="tx1"/>
                </a:solidFill>
                <a:latin typeface="Roboto" panose="02000000000000000000" pitchFamily="2" charset="0"/>
                <a:ea typeface="Roboto" panose="02000000000000000000" pitchFamily="2" charset="0"/>
              </a:defRPr>
            </a:lvl1pPr>
          </a:lstStyle>
          <a:p>
            <a:r>
              <a:rPr lang="en-US" dirty="0"/>
              <a:t>Insert-&gt;Header and Footer-&gt;Type Customizable Name</a:t>
            </a:r>
          </a:p>
        </p:txBody>
      </p:sp>
      <p:pic>
        <p:nvPicPr>
          <p:cNvPr id="9" name="Picture 8" descr="The University of Iowa">
            <a:extLst>
              <a:ext uri="{FF2B5EF4-FFF2-40B4-BE49-F238E27FC236}">
                <a16:creationId xmlns:a16="http://schemas.microsoft.com/office/drawing/2014/main" id="{2BFB147F-9BD6-AA42-8D58-18E266C69A12}"/>
              </a:ext>
            </a:extLst>
          </p:cNvPr>
          <p:cNvPicPr>
            <a:picLocks noChangeAspect="1"/>
          </p:cNvPicPr>
          <p:nvPr userDrawn="1"/>
        </p:nvPicPr>
        <p:blipFill>
          <a:blip r:embed="rId2"/>
          <a:srcRect/>
          <a:stretch/>
        </p:blipFill>
        <p:spPr>
          <a:xfrm>
            <a:off x="6476484" y="150"/>
            <a:ext cx="2020330" cy="961761"/>
          </a:xfrm>
          <a:prstGeom prst="rect">
            <a:avLst/>
          </a:prstGeom>
        </p:spPr>
      </p:pic>
    </p:spTree>
    <p:extLst>
      <p:ext uri="{BB962C8B-B14F-4D97-AF65-F5344CB8AC3E}">
        <p14:creationId xmlns:p14="http://schemas.microsoft.com/office/powerpoint/2010/main" val="12978892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5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Image–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20073" y="2184901"/>
            <a:ext cx="4617720" cy="2431224"/>
          </a:xfrm>
        </p:spPr>
        <p:txBody>
          <a:bodyPr anchor="ctr" anchorCtr="0">
            <a:normAutofit/>
          </a:bodyPr>
          <a:lstStyle>
            <a:lvl1pPr algn="l">
              <a:defRPr sz="4800" b="1">
                <a:solidFill>
                  <a:schemeClr val="bg1"/>
                </a:solidFill>
                <a:latin typeface="Arial" panose="020B0604020202020204" pitchFamily="34" charset="0"/>
                <a:cs typeface="Arial" panose="020B0604020202020204" pitchFamily="34" charset="0"/>
              </a:defRPr>
            </a:lvl1pPr>
          </a:lstStyle>
          <a:p>
            <a:r>
              <a:rPr lang="en-US" dirty="0"/>
              <a:t>Example of the Presentation </a:t>
            </a:r>
            <a:br>
              <a:rPr lang="en-US" dirty="0"/>
            </a:br>
            <a:r>
              <a:rPr lang="en-US" dirty="0"/>
              <a:t>Title Slide</a:t>
            </a:r>
          </a:p>
        </p:txBody>
      </p:sp>
      <p:sp>
        <p:nvSpPr>
          <p:cNvPr id="12" name="Subtitle 2">
            <a:extLst>
              <a:ext uri="{FF2B5EF4-FFF2-40B4-BE49-F238E27FC236}">
                <a16:creationId xmlns:a16="http://schemas.microsoft.com/office/drawing/2014/main" id="{114C79AA-0B96-2A43-86A1-A71A1D4C8E7A}"/>
              </a:ext>
            </a:extLst>
          </p:cNvPr>
          <p:cNvSpPr>
            <a:spLocks noGrp="1"/>
          </p:cNvSpPr>
          <p:nvPr>
            <p:ph type="subTitle" idx="1" hasCustomPrompt="1"/>
          </p:nvPr>
        </p:nvSpPr>
        <p:spPr>
          <a:xfrm>
            <a:off x="720073" y="4676834"/>
            <a:ext cx="4616795" cy="404721"/>
          </a:xfrm>
        </p:spPr>
        <p:txBody>
          <a:bodyPr/>
          <a:lstStyle>
            <a:lvl1pPr marL="0" indent="0" algn="l">
              <a:buNone/>
              <a:defRPr sz="1800" b="1">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14" name="Text Placeholder 15">
            <a:extLst>
              <a:ext uri="{FF2B5EF4-FFF2-40B4-BE49-F238E27FC236}">
                <a16:creationId xmlns:a16="http://schemas.microsoft.com/office/drawing/2014/main" id="{A7101AB8-54F7-4A4E-9611-F4F2ECFBD1D2}"/>
              </a:ext>
            </a:extLst>
          </p:cNvPr>
          <p:cNvSpPr>
            <a:spLocks noGrp="1"/>
          </p:cNvSpPr>
          <p:nvPr>
            <p:ph type="body" sz="quarter" idx="10" hasCustomPrompt="1"/>
          </p:nvPr>
        </p:nvSpPr>
        <p:spPr>
          <a:xfrm>
            <a:off x="720072" y="5081555"/>
            <a:ext cx="4616795" cy="495309"/>
          </a:xfrm>
        </p:spPr>
        <p:txBody>
          <a:bodyPr>
            <a:normAutofit/>
          </a:bodyPr>
          <a:lstStyle>
            <a:lvl1pPr marL="0" indent="0">
              <a:buNone/>
              <a:defRPr sz="18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9" name="Footer Placeholder 4">
            <a:extLst>
              <a:ext uri="{FF2B5EF4-FFF2-40B4-BE49-F238E27FC236}">
                <a16:creationId xmlns:a16="http://schemas.microsoft.com/office/drawing/2014/main" id="{909BBB92-B5AB-3E46-A519-2A2BBFF13FF8}"/>
              </a:ext>
            </a:extLst>
          </p:cNvPr>
          <p:cNvSpPr>
            <a:spLocks noGrp="1"/>
          </p:cNvSpPr>
          <p:nvPr>
            <p:ph type="ftr" sz="quarter" idx="3"/>
          </p:nvPr>
        </p:nvSpPr>
        <p:spPr>
          <a:xfrm>
            <a:off x="2952485" y="201168"/>
            <a:ext cx="2539200" cy="587186"/>
          </a:xfrm>
          <a:prstGeom prst="rect">
            <a:avLst/>
          </a:prstGeom>
          <a:noFill/>
        </p:spPr>
        <p:txBody>
          <a:bodyPr vert="horz" lIns="0" tIns="0" rIns="0" bIns="0" rtlCol="0" anchor="b" anchorCtr="0"/>
          <a:lstStyle>
            <a:lvl1pPr algn="l">
              <a:defRPr sz="1500" b="0">
                <a:solidFill>
                  <a:schemeClr val="bg1"/>
                </a:solidFill>
                <a:latin typeface="Roboto" panose="02000000000000000000" pitchFamily="2" charset="0"/>
                <a:ea typeface="Roboto" panose="02000000000000000000" pitchFamily="2" charset="0"/>
              </a:defRPr>
            </a:lvl1pPr>
          </a:lstStyle>
          <a:p>
            <a:r>
              <a:rPr lang="en-US" dirty="0"/>
              <a:t>Insert-&gt;Header and Footer-&gt;Type Customizable Name</a:t>
            </a:r>
            <a:endParaRPr lang="en-US" dirty="0">
              <a:solidFill>
                <a:schemeClr val="bg1"/>
              </a:solidFill>
            </a:endParaRPr>
          </a:p>
        </p:txBody>
      </p:sp>
      <p:pic>
        <p:nvPicPr>
          <p:cNvPr id="13" name="Picture 12" descr="The University of Iowa">
            <a:extLst>
              <a:ext uri="{FF2B5EF4-FFF2-40B4-BE49-F238E27FC236}">
                <a16:creationId xmlns:a16="http://schemas.microsoft.com/office/drawing/2014/main" id="{F49CB936-90E7-D144-B9DC-7CF3F98E2FF4}"/>
              </a:ext>
            </a:extLst>
          </p:cNvPr>
          <p:cNvPicPr>
            <a:picLocks noChangeAspect="1"/>
          </p:cNvPicPr>
          <p:nvPr userDrawn="1"/>
        </p:nvPicPr>
        <p:blipFill>
          <a:blip r:embed="rId2"/>
          <a:srcRect/>
          <a:stretch/>
        </p:blipFill>
        <p:spPr>
          <a:xfrm>
            <a:off x="710803" y="622"/>
            <a:ext cx="2015279" cy="959656"/>
          </a:xfrm>
          <a:prstGeom prst="rect">
            <a:avLst/>
          </a:prstGeom>
        </p:spPr>
      </p:pic>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5718088" y="0"/>
            <a:ext cx="3425912" cy="6858000"/>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spTree>
    <p:extLst>
      <p:ext uri="{BB962C8B-B14F-4D97-AF65-F5344CB8AC3E}">
        <p14:creationId xmlns:p14="http://schemas.microsoft.com/office/powerpoint/2010/main" val="15094137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Image–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20073" y="2184901"/>
            <a:ext cx="4616794" cy="2561760"/>
          </a:xfrm>
        </p:spPr>
        <p:txBody>
          <a:bodyPr anchor="ctr" anchorCtr="0">
            <a:normAutofit/>
          </a:bodyPr>
          <a:lstStyle>
            <a:lvl1pPr algn="l">
              <a:defRPr sz="4800" b="1">
                <a:solidFill>
                  <a:schemeClr val="tx1"/>
                </a:solidFill>
                <a:latin typeface="Arial" panose="020B0604020202020204" pitchFamily="34" charset="0"/>
                <a:cs typeface="Arial" panose="020B0604020202020204" pitchFamily="34" charset="0"/>
              </a:defRPr>
            </a:lvl1pPr>
          </a:lstStyle>
          <a:p>
            <a:r>
              <a:rPr lang="en-US" dirty="0"/>
              <a:t>Example of the Presentation </a:t>
            </a:r>
            <a:br>
              <a:rPr lang="en-US" dirty="0"/>
            </a:br>
            <a:r>
              <a:rPr lang="en-US" dirty="0"/>
              <a:t>Title Slide</a:t>
            </a:r>
          </a:p>
        </p:txBody>
      </p:sp>
      <p:sp>
        <p:nvSpPr>
          <p:cNvPr id="3" name="Subtitle 2">
            <a:extLst>
              <a:ext uri="{FF2B5EF4-FFF2-40B4-BE49-F238E27FC236}">
                <a16:creationId xmlns:a16="http://schemas.microsoft.com/office/drawing/2014/main" id="{95B3A797-13D4-A243-B1AE-4498B36D475C}"/>
              </a:ext>
            </a:extLst>
          </p:cNvPr>
          <p:cNvSpPr>
            <a:spLocks noGrp="1"/>
          </p:cNvSpPr>
          <p:nvPr>
            <p:ph type="subTitle" idx="1" hasCustomPrompt="1"/>
          </p:nvPr>
        </p:nvSpPr>
        <p:spPr>
          <a:xfrm>
            <a:off x="720073" y="4676835"/>
            <a:ext cx="4616795" cy="393146"/>
          </a:xfrm>
        </p:spPr>
        <p:txBody>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PRESENTATION SUBTITLE</a:t>
            </a:r>
          </a:p>
        </p:txBody>
      </p:sp>
      <p:sp>
        <p:nvSpPr>
          <p:cNvPr id="17" name="Text Placeholder 15">
            <a:extLst>
              <a:ext uri="{FF2B5EF4-FFF2-40B4-BE49-F238E27FC236}">
                <a16:creationId xmlns:a16="http://schemas.microsoft.com/office/drawing/2014/main" id="{884DA5E7-4B71-0543-8E46-EC2A81EAE3C1}"/>
              </a:ext>
            </a:extLst>
          </p:cNvPr>
          <p:cNvSpPr>
            <a:spLocks noGrp="1"/>
          </p:cNvSpPr>
          <p:nvPr>
            <p:ph type="body" sz="quarter" idx="10" hasCustomPrompt="1"/>
          </p:nvPr>
        </p:nvSpPr>
        <p:spPr>
          <a:xfrm>
            <a:off x="720072" y="5069980"/>
            <a:ext cx="4616795" cy="495309"/>
          </a:xfrm>
        </p:spPr>
        <p:txBody>
          <a:bodyPr>
            <a:normAutofit/>
          </a:bodyPr>
          <a:lstStyle>
            <a:lvl1pPr marL="0" indent="0">
              <a:buNone/>
              <a:defRPr sz="18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Month XX, 2020</a:t>
            </a:r>
          </a:p>
        </p:txBody>
      </p:sp>
      <p:sp>
        <p:nvSpPr>
          <p:cNvPr id="9" name="Footer Placeholder 4">
            <a:extLst>
              <a:ext uri="{FF2B5EF4-FFF2-40B4-BE49-F238E27FC236}">
                <a16:creationId xmlns:a16="http://schemas.microsoft.com/office/drawing/2014/main" id="{99993354-AA52-D24C-AE6B-C02456C6D92A}"/>
              </a:ext>
            </a:extLst>
          </p:cNvPr>
          <p:cNvSpPr>
            <a:spLocks noGrp="1"/>
          </p:cNvSpPr>
          <p:nvPr>
            <p:ph type="ftr" sz="quarter" idx="3"/>
          </p:nvPr>
        </p:nvSpPr>
        <p:spPr>
          <a:xfrm>
            <a:off x="2952485" y="201168"/>
            <a:ext cx="2539200" cy="587186"/>
          </a:xfrm>
          <a:prstGeom prst="rect">
            <a:avLst/>
          </a:prstGeom>
          <a:noFill/>
        </p:spPr>
        <p:txBody>
          <a:bodyPr vert="horz" lIns="0" tIns="0" rIns="0" bIns="0" rtlCol="0" anchor="b" anchorCtr="0"/>
          <a:lstStyle>
            <a:lvl1pPr algn="l">
              <a:defRPr sz="1500" b="0">
                <a:solidFill>
                  <a:schemeClr val="tx1"/>
                </a:solidFill>
                <a:latin typeface="Roboto" panose="02000000000000000000" pitchFamily="2" charset="0"/>
                <a:ea typeface="Roboto" panose="02000000000000000000" pitchFamily="2" charset="0"/>
              </a:defRPr>
            </a:lvl1pPr>
          </a:lstStyle>
          <a:p>
            <a:r>
              <a:rPr lang="en-US" dirty="0"/>
              <a:t>Insert-&gt;Header and Footer-&gt;Type Customizable Name</a:t>
            </a:r>
          </a:p>
        </p:txBody>
      </p:sp>
      <p:sp>
        <p:nvSpPr>
          <p:cNvPr id="18" name="Picture Placeholder 4">
            <a:extLst>
              <a:ext uri="{FF2B5EF4-FFF2-40B4-BE49-F238E27FC236}">
                <a16:creationId xmlns:a16="http://schemas.microsoft.com/office/drawing/2014/main" id="{2C35F063-23A9-F244-9022-8BBB7E277ACC}"/>
              </a:ext>
            </a:extLst>
          </p:cNvPr>
          <p:cNvSpPr>
            <a:spLocks noGrp="1"/>
          </p:cNvSpPr>
          <p:nvPr>
            <p:ph type="pic" sz="quarter" idx="11"/>
          </p:nvPr>
        </p:nvSpPr>
        <p:spPr>
          <a:xfrm>
            <a:off x="5718088" y="0"/>
            <a:ext cx="3425912" cy="6858000"/>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pic>
        <p:nvPicPr>
          <p:cNvPr id="13" name="Picture 12" descr="The University of Iowa">
            <a:extLst>
              <a:ext uri="{FF2B5EF4-FFF2-40B4-BE49-F238E27FC236}">
                <a16:creationId xmlns:a16="http://schemas.microsoft.com/office/drawing/2014/main" id="{D73F5E00-2329-6246-A2BB-7BCD46F83907}"/>
              </a:ext>
            </a:extLst>
          </p:cNvPr>
          <p:cNvPicPr>
            <a:picLocks noChangeAspect="1"/>
          </p:cNvPicPr>
          <p:nvPr userDrawn="1"/>
        </p:nvPicPr>
        <p:blipFill>
          <a:blip r:embed="rId2"/>
          <a:srcRect/>
          <a:stretch/>
        </p:blipFill>
        <p:spPr>
          <a:xfrm>
            <a:off x="710803" y="-1189"/>
            <a:ext cx="2015279" cy="963278"/>
          </a:xfrm>
          <a:prstGeom prst="rect">
            <a:avLst/>
          </a:prstGeom>
        </p:spPr>
      </p:pic>
    </p:spTree>
    <p:extLst>
      <p:ext uri="{BB962C8B-B14F-4D97-AF65-F5344CB8AC3E}">
        <p14:creationId xmlns:p14="http://schemas.microsoft.com/office/powerpoint/2010/main" val="23392098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 Solid Go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14376" y="2744661"/>
            <a:ext cx="7715249" cy="759906"/>
          </a:xfrm>
        </p:spPr>
        <p:txBody>
          <a:bodyPr lIns="0" tIns="0" rIns="0" bIns="0" anchor="t" anchorCtr="0">
            <a:normAutofit/>
          </a:bodyPr>
          <a:lstStyle>
            <a:lvl1pPr algn="l">
              <a:defRPr sz="4800" b="1">
                <a:solidFill>
                  <a:schemeClr val="tx1"/>
                </a:solidFill>
                <a:latin typeface="+mj-lt"/>
                <a:ea typeface="Roboto Black" panose="02000000000000000000" pitchFamily="2" charset="0"/>
                <a:cs typeface="Arial" panose="020B0604020202020204" pitchFamily="34" charset="0"/>
              </a:defRPr>
            </a:lvl1pPr>
          </a:lstStyle>
          <a:p>
            <a:r>
              <a:rPr lang="en-US" dirty="0"/>
              <a:t>Section Header</a:t>
            </a:r>
          </a:p>
        </p:txBody>
      </p:sp>
      <p:cxnSp>
        <p:nvCxnSpPr>
          <p:cNvPr id="8" name="Straight Connector 7">
            <a:extLst>
              <a:ext uri="{FF2B5EF4-FFF2-40B4-BE49-F238E27FC236}">
                <a16:creationId xmlns:a16="http://schemas.microsoft.com/office/drawing/2014/main" id="{C4E1A789-3A04-9240-BCEC-3DACF2B52870}"/>
              </a:ext>
              <a:ext uri="{C183D7F6-B498-43B3-948B-1728B52AA6E4}">
                <adec:decorative xmlns:adec="http://schemas.microsoft.com/office/drawing/2017/decorative" val="1"/>
              </a:ext>
            </a:extLst>
          </p:cNvPr>
          <p:cNvCxnSpPr>
            <a:cxnSpLocks/>
          </p:cNvCxnSpPr>
          <p:nvPr userDrawn="1"/>
        </p:nvCxnSpPr>
        <p:spPr>
          <a:xfrm>
            <a:off x="730595" y="2502271"/>
            <a:ext cx="576398"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ubtitle 2">
            <a:extLst>
              <a:ext uri="{FF2B5EF4-FFF2-40B4-BE49-F238E27FC236}">
                <a16:creationId xmlns:a16="http://schemas.microsoft.com/office/drawing/2014/main" id="{7055E247-542B-D541-8F36-DBA97343BC92}"/>
              </a:ext>
            </a:extLst>
          </p:cNvPr>
          <p:cNvSpPr>
            <a:spLocks noGrp="1"/>
          </p:cNvSpPr>
          <p:nvPr>
            <p:ph type="subTitle" idx="1" hasCustomPrompt="1"/>
          </p:nvPr>
        </p:nvSpPr>
        <p:spPr>
          <a:xfrm>
            <a:off x="714376" y="3694740"/>
            <a:ext cx="7715249" cy="407460"/>
          </a:xfrm>
        </p:spPr>
        <p:txBody>
          <a:bodyPr lIns="0" tIns="0" rIns="0" bIns="0">
            <a:normAutofit/>
          </a:bodyPr>
          <a:lstStyle>
            <a:lvl1pPr marL="0" indent="0" algn="l">
              <a:buNone/>
              <a:defRPr sz="2200" b="0">
                <a:solidFill>
                  <a:schemeClr val="tx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Section Subtitle</a:t>
            </a:r>
          </a:p>
        </p:txBody>
      </p:sp>
    </p:spTree>
    <p:extLst>
      <p:ext uri="{BB962C8B-B14F-4D97-AF65-F5344CB8AC3E}">
        <p14:creationId xmlns:p14="http://schemas.microsoft.com/office/powerpoint/2010/main" val="2721272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450" userDrawn="1">
          <p15:clr>
            <a:srgbClr val="FBAE40"/>
          </p15:clr>
        </p15:guide>
        <p15:guide id="4" pos="531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 Solid Blac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AE84-700B-054E-8730-2262E5327E60}"/>
              </a:ext>
            </a:extLst>
          </p:cNvPr>
          <p:cNvSpPr>
            <a:spLocks noGrp="1"/>
          </p:cNvSpPr>
          <p:nvPr>
            <p:ph type="ctrTitle" hasCustomPrompt="1"/>
          </p:nvPr>
        </p:nvSpPr>
        <p:spPr>
          <a:xfrm>
            <a:off x="714376" y="2744662"/>
            <a:ext cx="7715249" cy="759907"/>
          </a:xfrm>
        </p:spPr>
        <p:txBody>
          <a:bodyPr lIns="0" tIns="0" rIns="0" bIns="0" anchor="t" anchorCtr="0">
            <a:normAutofit/>
          </a:bodyPr>
          <a:lstStyle>
            <a:lvl1pPr algn="l">
              <a:defRPr sz="4800" b="1">
                <a:solidFill>
                  <a:schemeClr val="bg1"/>
                </a:solidFill>
                <a:latin typeface="+mj-lt"/>
                <a:ea typeface="Roboto Black" panose="02000000000000000000" pitchFamily="2" charset="0"/>
                <a:cs typeface="Arial" panose="020B0604020202020204" pitchFamily="34" charset="0"/>
              </a:defRPr>
            </a:lvl1pPr>
          </a:lstStyle>
          <a:p>
            <a:r>
              <a:rPr lang="en-US" noProof="0" dirty="0"/>
              <a:t>Section Header</a:t>
            </a:r>
          </a:p>
        </p:txBody>
      </p:sp>
      <p:cxnSp>
        <p:nvCxnSpPr>
          <p:cNvPr id="8" name="Straight Connector 7">
            <a:extLst>
              <a:ext uri="{FF2B5EF4-FFF2-40B4-BE49-F238E27FC236}">
                <a16:creationId xmlns:a16="http://schemas.microsoft.com/office/drawing/2014/main" id="{C4E1A789-3A04-9240-BCEC-3DACF2B52870}"/>
              </a:ext>
              <a:ext uri="{C183D7F6-B498-43B3-948B-1728B52AA6E4}">
                <adec:decorative xmlns:adec="http://schemas.microsoft.com/office/drawing/2017/decorative" val="1"/>
              </a:ext>
            </a:extLst>
          </p:cNvPr>
          <p:cNvCxnSpPr>
            <a:cxnSpLocks/>
          </p:cNvCxnSpPr>
          <p:nvPr userDrawn="1"/>
        </p:nvCxnSpPr>
        <p:spPr>
          <a:xfrm>
            <a:off x="730595" y="2509891"/>
            <a:ext cx="576398"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Subtitle 2">
            <a:extLst>
              <a:ext uri="{FF2B5EF4-FFF2-40B4-BE49-F238E27FC236}">
                <a16:creationId xmlns:a16="http://schemas.microsoft.com/office/drawing/2014/main" id="{8FB54BE8-0526-614C-A06E-8C6258999B24}"/>
              </a:ext>
            </a:extLst>
          </p:cNvPr>
          <p:cNvSpPr>
            <a:spLocks noGrp="1"/>
          </p:cNvSpPr>
          <p:nvPr>
            <p:ph type="subTitle" idx="1" hasCustomPrompt="1"/>
          </p:nvPr>
        </p:nvSpPr>
        <p:spPr>
          <a:xfrm>
            <a:off x="714376" y="3694740"/>
            <a:ext cx="7715249" cy="407460"/>
          </a:xfrm>
        </p:spPr>
        <p:txBody>
          <a:bodyPr lIns="0" tIns="0" rIns="0" bIns="0">
            <a:normAutofit/>
          </a:bodyPr>
          <a:lstStyle>
            <a:lvl1pPr marL="0" indent="0" algn="l">
              <a:buNone/>
              <a:defRPr sz="2200" b="0">
                <a:solidFill>
                  <a:schemeClr val="accent1"/>
                </a:solidFill>
                <a:latin typeface="Roboto" panose="02000000000000000000" pitchFamily="2" charset="0"/>
                <a:ea typeface="Roboto" panose="02000000000000000000"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Section Subtitle</a:t>
            </a:r>
          </a:p>
        </p:txBody>
      </p:sp>
    </p:spTree>
    <p:extLst>
      <p:ext uri="{BB962C8B-B14F-4D97-AF65-F5344CB8AC3E}">
        <p14:creationId xmlns:p14="http://schemas.microsoft.com/office/powerpoint/2010/main" val="50928289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450" userDrawn="1">
          <p15:clr>
            <a:srgbClr val="FBAE40"/>
          </p15:clr>
        </p15:guide>
        <p15:guide id="4" pos="531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 Photo">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2C17923A-4119-CF48-9F2D-05B0A69EBAD5}"/>
              </a:ext>
            </a:extLst>
          </p:cNvPr>
          <p:cNvSpPr>
            <a:spLocks noGrp="1"/>
          </p:cNvSpPr>
          <p:nvPr>
            <p:ph type="pic" sz="quarter" idx="11"/>
          </p:nvPr>
        </p:nvSpPr>
        <p:spPr>
          <a:xfrm>
            <a:off x="0" y="0"/>
            <a:ext cx="9144000" cy="6858000"/>
          </a:xfrm>
        </p:spPr>
        <p:txBody>
          <a:bodyPr anchor="ctr" anchorCtr="0"/>
          <a:lstStyle>
            <a:lvl1pPr marL="0" indent="0" algn="ctr">
              <a:buNone/>
              <a:defRPr>
                <a:solidFill>
                  <a:schemeClr val="accent3"/>
                </a:solidFill>
              </a:defRPr>
            </a:lvl1pPr>
          </a:lstStyle>
          <a:p>
            <a:r>
              <a:rPr lang="en-US" dirty="0"/>
              <a:t>Click icon to add picture</a:t>
            </a:r>
          </a:p>
        </p:txBody>
      </p:sp>
      <p:sp>
        <p:nvSpPr>
          <p:cNvPr id="2" name="Title 1">
            <a:extLst>
              <a:ext uri="{FF2B5EF4-FFF2-40B4-BE49-F238E27FC236}">
                <a16:creationId xmlns:a16="http://schemas.microsoft.com/office/drawing/2014/main" id="{D8224488-0ADE-1843-91C1-1CA371373F2D}"/>
              </a:ext>
            </a:extLst>
          </p:cNvPr>
          <p:cNvSpPr>
            <a:spLocks noGrp="1"/>
          </p:cNvSpPr>
          <p:nvPr>
            <p:ph type="title" hasCustomPrompt="1"/>
          </p:nvPr>
        </p:nvSpPr>
        <p:spPr>
          <a:xfrm>
            <a:off x="770746" y="1763547"/>
            <a:ext cx="4186265" cy="618631"/>
          </a:xfrm>
          <a:solidFill>
            <a:schemeClr val="accent1"/>
          </a:solidFill>
        </p:spPr>
        <p:txBody>
          <a:bodyPr wrap="square" lIns="91440" tIns="91440" bIns="0">
            <a:spAutoFit/>
          </a:bodyPr>
          <a:lstStyle>
            <a:lvl1pPr>
              <a:defRPr sz="3800"/>
            </a:lvl1pPr>
          </a:lstStyle>
          <a:p>
            <a:r>
              <a:rPr lang="en-US" dirty="0"/>
              <a:t>SECTION HEADER</a:t>
            </a:r>
          </a:p>
        </p:txBody>
      </p:sp>
    </p:spTree>
    <p:extLst>
      <p:ext uri="{BB962C8B-B14F-4D97-AF65-F5344CB8AC3E}">
        <p14:creationId xmlns:p14="http://schemas.microsoft.com/office/powerpoint/2010/main" val="2388073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C070F21D-F194-034E-812B-69D1C6CDD0DE}"/>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24" name="Straight Connector 23">
            <a:extLst>
              <a:ext uri="{FF2B5EF4-FFF2-40B4-BE49-F238E27FC236}">
                <a16:creationId xmlns:a16="http://schemas.microsoft.com/office/drawing/2014/main" id="{9BA13FBC-A4AA-9B4F-8E9B-12CD6600150E}"/>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22C1D3A-9762-7F4D-AB5C-A3F0114B67B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7" name="Picture 6" descr="The University of Iowa">
            <a:extLst>
              <a:ext uri="{FF2B5EF4-FFF2-40B4-BE49-F238E27FC236}">
                <a16:creationId xmlns:a16="http://schemas.microsoft.com/office/drawing/2014/main" id="{22558F6C-63A6-764A-A42A-B9198FB98EE1}"/>
              </a:ext>
            </a:extLst>
          </p:cNvPr>
          <p:cNvPicPr>
            <a:picLocks noChangeAspect="1"/>
          </p:cNvPicPr>
          <p:nvPr userDrawn="1"/>
        </p:nvPicPr>
        <p:blipFill>
          <a:blip r:embed="rId2"/>
          <a:srcRect/>
          <a:stretch/>
        </p:blipFill>
        <p:spPr>
          <a:xfrm>
            <a:off x="628650" y="6247570"/>
            <a:ext cx="1299998" cy="617498"/>
          </a:xfrm>
          <a:prstGeom prst="rect">
            <a:avLst/>
          </a:prstGeom>
        </p:spPr>
      </p:pic>
    </p:spTree>
    <p:extLst>
      <p:ext uri="{BB962C8B-B14F-4D97-AF65-F5344CB8AC3E}">
        <p14:creationId xmlns:p14="http://schemas.microsoft.com/office/powerpoint/2010/main" val="177833841"/>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450" userDrawn="1">
          <p15:clr>
            <a:srgbClr val="FBAE40"/>
          </p15:clr>
        </p15:guide>
        <p15:guide id="3" pos="5310" userDrawn="1">
          <p15:clr>
            <a:srgbClr val="FBAE40"/>
          </p15:clr>
        </p15:guide>
        <p15:guide id="4" pos="2880" userDrawn="1">
          <p15:clr>
            <a:srgbClr val="FBAE40"/>
          </p15:clr>
        </p15:guide>
        <p15:guide id="5" orient="horz" pos="1056" userDrawn="1">
          <p15:clr>
            <a:srgbClr val="FBAE40"/>
          </p15:clr>
        </p15:guide>
        <p15:guide id="7" orient="horz" pos="2400" userDrawn="1">
          <p15:clr>
            <a:srgbClr val="FBAE40"/>
          </p15:clr>
        </p15:guide>
        <p15:guide id="8" orient="horz" pos="374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BE68DE55-0579-EC46-BD52-181870AFB63C}"/>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88200BB2-D6D1-6642-8F66-9B4F37EC8187}"/>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F35C2BC9-7AF3-6D49-8036-36D81872E84B}"/>
              </a:ext>
            </a:extLst>
          </p:cNvPr>
          <p:cNvSpPr>
            <a:spLocks noGrp="1"/>
          </p:cNvSpPr>
          <p:nvPr>
            <p:ph idx="10"/>
          </p:nvPr>
        </p:nvSpPr>
        <p:spPr>
          <a:xfrm>
            <a:off x="714374" y="1686758"/>
            <a:ext cx="7688645" cy="4256843"/>
          </a:xfrm>
        </p:spPr>
        <p:txBody>
          <a:bodyPr lIns="0" tIns="0" rIns="0" bIns="0"/>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SzPct val="100000"/>
              <a:buFont typeface="Arial" panose="020B0604020202020204" pitchFamily="34" charset="0"/>
              <a:buChar char="‒"/>
              <a:defRPr sz="2000">
                <a:latin typeface="Roboto" panose="02000000000000000000" pitchFamily="2" charset="0"/>
                <a:ea typeface="Roboto" panose="02000000000000000000" pitchFamily="2" charset="0"/>
              </a:defRPr>
            </a:lvl2pPr>
            <a:lvl3pPr marL="8572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2001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15430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80937044-371D-C149-9F72-3D8FBA4605CF}"/>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8" name="Picture 7" descr="The University of Iowa">
            <a:extLst>
              <a:ext uri="{FF2B5EF4-FFF2-40B4-BE49-F238E27FC236}">
                <a16:creationId xmlns:a16="http://schemas.microsoft.com/office/drawing/2014/main" id="{CD97EF86-E180-1E4F-8C76-63FC6B251262}"/>
              </a:ext>
            </a:extLst>
          </p:cNvPr>
          <p:cNvPicPr>
            <a:picLocks noChangeAspect="1"/>
          </p:cNvPicPr>
          <p:nvPr userDrawn="1"/>
        </p:nvPicPr>
        <p:blipFill>
          <a:blip r:embed="rId2"/>
          <a:srcRect/>
          <a:stretch/>
        </p:blipFill>
        <p:spPr>
          <a:xfrm>
            <a:off x="628650" y="6247570"/>
            <a:ext cx="1299998" cy="617498"/>
          </a:xfrm>
          <a:prstGeom prst="rect">
            <a:avLst/>
          </a:prstGeom>
        </p:spPr>
      </p:pic>
    </p:spTree>
    <p:extLst>
      <p:ext uri="{BB962C8B-B14F-4D97-AF65-F5344CB8AC3E}">
        <p14:creationId xmlns:p14="http://schemas.microsoft.com/office/powerpoint/2010/main" val="691165391"/>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450" userDrawn="1">
          <p15:clr>
            <a:srgbClr val="FBAE40"/>
          </p15:clr>
        </p15:guide>
        <p15:guide id="3" pos="5310" userDrawn="1">
          <p15:clr>
            <a:srgbClr val="FBAE40"/>
          </p15:clr>
        </p15:guide>
        <p15:guide id="4" pos="2880" userDrawn="1">
          <p15:clr>
            <a:srgbClr val="FBAE40"/>
          </p15:clr>
        </p15:guide>
        <p15:guide id="5" orient="horz" pos="1056" userDrawn="1">
          <p15:clr>
            <a:srgbClr val="FBAE40"/>
          </p15:clr>
        </p15:guide>
        <p15:guide id="7" orient="horz" pos="3744" userDrawn="1">
          <p15:clr>
            <a:srgbClr val="FBAE40"/>
          </p15:clr>
        </p15:guide>
        <p15:guide id="8" orient="horz" pos="240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 Slide - 2 Line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hasCustomPrompt="1"/>
          </p:nvPr>
        </p:nvSpPr>
        <p:spPr>
          <a:xfrm>
            <a:off x="714375" y="389510"/>
            <a:ext cx="7715250" cy="1331865"/>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 </a:t>
            </a:r>
            <a:br>
              <a:rPr lang="en-US" dirty="0"/>
            </a:br>
            <a:r>
              <a:rPr lang="en-US" dirty="0"/>
              <a:t>that runs to two lines</a:t>
            </a:r>
          </a:p>
        </p:txBody>
      </p:sp>
      <p:cxnSp>
        <p:nvCxnSpPr>
          <p:cNvPr id="8" name="Straight Connector 7">
            <a:extLst>
              <a:ext uri="{FF2B5EF4-FFF2-40B4-BE49-F238E27FC236}">
                <a16:creationId xmlns:a16="http://schemas.microsoft.com/office/drawing/2014/main" id="{CBB5BDD8-8221-F040-8AE0-3F33C4E24CA0}"/>
              </a:ext>
              <a:ext uri="{C183D7F6-B498-43B3-948B-1728B52AA6E4}">
                <adec:decorative xmlns:adec="http://schemas.microsoft.com/office/drawing/2017/decorative" val="1"/>
              </a:ext>
            </a:extLst>
          </p:cNvPr>
          <p:cNvCxnSpPr>
            <a:cxnSpLocks/>
          </p:cNvCxnSpPr>
          <p:nvPr userDrawn="1"/>
        </p:nvCxnSpPr>
        <p:spPr>
          <a:xfrm>
            <a:off x="714376" y="165786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CD2525-98F9-924C-B8E5-083B38E28238}"/>
              </a:ext>
            </a:extLst>
          </p:cNvPr>
          <p:cNvSpPr>
            <a:spLocks noGrp="1"/>
          </p:cNvSpPr>
          <p:nvPr>
            <p:ph idx="1"/>
          </p:nvPr>
        </p:nvSpPr>
        <p:spPr>
          <a:xfrm>
            <a:off x="714375" y="2050741"/>
            <a:ext cx="7715250" cy="3892859"/>
          </a:xfrm>
        </p:spPr>
        <p:txBody>
          <a:bodyPr lIns="0" tIns="0" rIns="0" bIns="0"/>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SzPct val="100000"/>
              <a:buFont typeface="Roboto" panose="02000000000000000000" pitchFamily="2" charset="0"/>
              <a:buChar char="–"/>
              <a:defRPr sz="2000">
                <a:latin typeface="Roboto" panose="02000000000000000000" pitchFamily="2" charset="0"/>
                <a:ea typeface="Roboto" panose="02000000000000000000" pitchFamily="2" charset="0"/>
              </a:defRPr>
            </a:lvl2pPr>
            <a:lvl3pPr marL="8572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3pPr>
            <a:lvl4pPr marL="12001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4pPr>
            <a:lvl5pPr marL="15430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7995AAAF-3BA6-4445-BF32-091644479611}"/>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9" name="Picture 8" descr="The University of Iowa">
            <a:extLst>
              <a:ext uri="{FF2B5EF4-FFF2-40B4-BE49-F238E27FC236}">
                <a16:creationId xmlns:a16="http://schemas.microsoft.com/office/drawing/2014/main" id="{ABEBFC15-B7A4-FB4F-B562-C691AE5316AD}"/>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0" name="Footer Placeholder 4">
            <a:extLst>
              <a:ext uri="{FF2B5EF4-FFF2-40B4-BE49-F238E27FC236}">
                <a16:creationId xmlns:a16="http://schemas.microsoft.com/office/drawing/2014/main" id="{E48D5845-E94B-FC44-882C-248EE3B0A58C}"/>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897963369"/>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2880" userDrawn="1">
          <p15:clr>
            <a:srgbClr val="FBAE40"/>
          </p15:clr>
        </p15:guide>
        <p15:guide id="3" pos="450" userDrawn="1">
          <p15:clr>
            <a:srgbClr val="FBAE40"/>
          </p15:clr>
        </p15:guide>
        <p15:guide id="4" pos="5310" userDrawn="1">
          <p15:clr>
            <a:srgbClr val="FBAE40"/>
          </p15:clr>
        </p15:guide>
        <p15:guide id="8"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Layou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62D2F673-8F81-4982-AA66-35312BF3859C}"/>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1289198"/>
            <a:ext cx="3600168" cy="754602"/>
          </a:xfrm>
        </p:spPr>
        <p:txBody>
          <a:bodyPr lIns="0" tIns="0" rIns="0" bIns="0" anchor="b" anchorCtr="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276838"/>
            <a:ext cx="3600164" cy="327925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4825293" y="1279146"/>
            <a:ext cx="3600168" cy="754602"/>
          </a:xfrm>
        </p:spPr>
        <p:txBody>
          <a:bodyPr lIns="0" tIns="0" rIns="0" bIns="0" anchor="b" anchorCtr="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4825294" y="2266786"/>
            <a:ext cx="3600168" cy="327925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4572000" y="1686758"/>
            <a:ext cx="0" cy="425684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C8B99253-B000-1442-A7D2-EB536C15CBCB}"/>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2" name="Picture 11" descr="The University of Iowa">
            <a:extLst>
              <a:ext uri="{FF2B5EF4-FFF2-40B4-BE49-F238E27FC236}">
                <a16:creationId xmlns:a16="http://schemas.microsoft.com/office/drawing/2014/main" id="{FB445FB3-9F03-6E45-A046-D32E1D8AA792}"/>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3" name="Footer Placeholder 4">
            <a:extLst>
              <a:ext uri="{FF2B5EF4-FFF2-40B4-BE49-F238E27FC236}">
                <a16:creationId xmlns:a16="http://schemas.microsoft.com/office/drawing/2014/main" id="{BA149722-E418-5049-AB8B-86D90151F093}"/>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899422758"/>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Text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1686758"/>
            <a:ext cx="2375055"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674398"/>
            <a:ext cx="2375055"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462289" y="1686756"/>
            <a:ext cx="2230029"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3462290" y="2674396"/>
            <a:ext cx="2230029"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047636" y="1686756"/>
            <a:ext cx="2375055"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6047636" y="2674396"/>
            <a:ext cx="2375055"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5854823"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282518"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2944143A-0CC6-6041-BD38-4C994DA8E0B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2A845926-60C8-4F49-ABF0-3DC9E8370DAA}"/>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2" name="Footer Placeholder 4">
            <a:extLst>
              <a:ext uri="{FF2B5EF4-FFF2-40B4-BE49-F238E27FC236}">
                <a16:creationId xmlns:a16="http://schemas.microsoft.com/office/drawing/2014/main" id="{207D8975-2D7E-8541-B9BA-B4ACB2453DEA}"/>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851774748"/>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7" orient="horz" pos="3744" userDrawn="1">
          <p15:clr>
            <a:srgbClr val="FBAE40"/>
          </p15:clr>
        </p15:guide>
        <p15:guide id="8" orient="horz" pos="697" userDrawn="1">
          <p15:clr>
            <a:srgbClr val="FBAE40"/>
          </p15:clr>
        </p15:guide>
        <p15:guide id="9" orient="horz" pos="240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lumn Text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8"/>
            <a:ext cx="1769150"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674398"/>
            <a:ext cx="176915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2643188"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2802850" y="1686756"/>
            <a:ext cx="1611570" cy="754602"/>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2802851" y="2674396"/>
            <a:ext cx="161157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4572000"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4729580" y="1686756"/>
            <a:ext cx="1611570" cy="754602"/>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4729581" y="2674396"/>
            <a:ext cx="161157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6505575"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6656311" y="1676706"/>
            <a:ext cx="1769150" cy="754602"/>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6656311" y="2664346"/>
            <a:ext cx="1769150" cy="326920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1" name="Rectangle 20">
            <a:extLst>
              <a:ext uri="{FF2B5EF4-FFF2-40B4-BE49-F238E27FC236}">
                <a16:creationId xmlns:a16="http://schemas.microsoft.com/office/drawing/2014/main" id="{55DF11BA-BD6E-E14D-A115-587308DBF4A7}"/>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4" name="Picture 23" descr="The University of Iowa">
            <a:extLst>
              <a:ext uri="{FF2B5EF4-FFF2-40B4-BE49-F238E27FC236}">
                <a16:creationId xmlns:a16="http://schemas.microsoft.com/office/drawing/2014/main" id="{B052AD83-662D-804A-9C50-78BD2D9F776B}"/>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5" name="Footer Placeholder 4">
            <a:extLst>
              <a:ext uri="{FF2B5EF4-FFF2-40B4-BE49-F238E27FC236}">
                <a16:creationId xmlns:a16="http://schemas.microsoft.com/office/drawing/2014/main" id="{09F774AF-F9D8-314F-ADA4-4C6BF856754D}"/>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1772614730"/>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x1 Grid Layout">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F83F529D-C880-45A0-81D8-FD2CC04E07D8}"/>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8"/>
            <a:ext cx="7716440" cy="329184"/>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6" y="2120010"/>
            <a:ext cx="7716440" cy="754602"/>
          </a:xfrm>
        </p:spPr>
        <p:txBody>
          <a:bodyPr lIns="0" tIns="0" rIns="0" bIns="0">
            <a:normAutofit/>
          </a:bodyPr>
          <a:lstStyle>
            <a:lvl1pPr marL="0" marR="0" indent="0" algn="l" defTabSz="685800" rtl="0" eaLnBrk="1" fontAlgn="auto" latinLnBrk="0" hangingPunct="1">
              <a:lnSpc>
                <a:spcPct val="100000"/>
              </a:lnSpc>
              <a:spcBef>
                <a:spcPts val="750"/>
              </a:spcBef>
              <a:spcAft>
                <a:spcPts val="0"/>
              </a:spcAft>
              <a:buClrTx/>
              <a:buSzPct val="95000"/>
              <a:buFont typeface="Arial" panose="020B0604020202020204" pitchFamily="34" charset="0"/>
              <a:buNone/>
              <a:tabLst/>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marL="0" marR="0" lvl="0" indent="0" algn="l" defTabSz="685800" rtl="0" eaLnBrk="1" fontAlgn="auto" latinLnBrk="0" hangingPunct="1">
              <a:lnSpc>
                <a:spcPct val="100000"/>
              </a:lnSpc>
              <a:spcBef>
                <a:spcPts val="750"/>
              </a:spcBef>
              <a:spcAft>
                <a:spcPts val="0"/>
              </a:spcAft>
              <a:buClrTx/>
              <a:buSzPct val="95000"/>
              <a:buFont typeface="Arial" panose="020B0604020202020204" pitchFamily="34" charset="0"/>
              <a:buNone/>
              <a:tabLst/>
              <a:defRPr/>
            </a:pPr>
            <a:r>
              <a:rPr lang="en-US" dirty="0"/>
              <a:t>Click to edit row text</a:t>
            </a:r>
          </a:p>
          <a:p>
            <a:pPr lvl="0"/>
            <a:endParaRPr lang="en-US" dirty="0"/>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711994" y="3038019"/>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714377" y="3211376"/>
            <a:ext cx="7716440" cy="328016"/>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714378" y="3644628"/>
            <a:ext cx="7716440"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713184" y="4580501"/>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714379" y="4693705"/>
            <a:ext cx="7716440"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714379" y="5126956"/>
            <a:ext cx="7716440"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15" name="Rectangle 14">
            <a:extLst>
              <a:ext uri="{FF2B5EF4-FFF2-40B4-BE49-F238E27FC236}">
                <a16:creationId xmlns:a16="http://schemas.microsoft.com/office/drawing/2014/main" id="{55E76717-4761-EC4B-BDB1-C130638E59C3}"/>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7" name="Picture 16" descr="The University of Iowa">
            <a:extLst>
              <a:ext uri="{FF2B5EF4-FFF2-40B4-BE49-F238E27FC236}">
                <a16:creationId xmlns:a16="http://schemas.microsoft.com/office/drawing/2014/main" id="{34AAC5E4-D04D-AA43-9A77-008D2409BECE}"/>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8" name="Footer Placeholder 4">
            <a:extLst>
              <a:ext uri="{FF2B5EF4-FFF2-40B4-BE49-F238E27FC236}">
                <a16:creationId xmlns:a16="http://schemas.microsoft.com/office/drawing/2014/main" id="{795C6E8E-B090-754E-BB4D-53EC4364AED0}"/>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840878860"/>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x2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A9A771B-4FFF-4EBF-A07A-0D6292AC2FE3}"/>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9"/>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6" y="2120010"/>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711994" y="3098307"/>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3" name="Content Placeholder 2">
            <a:extLst>
              <a:ext uri="{FF2B5EF4-FFF2-40B4-BE49-F238E27FC236}">
                <a16:creationId xmlns:a16="http://schemas.microsoft.com/office/drawing/2014/main" id="{6BC08D86-557A-4EB7-B2A4-0782689B99D1}"/>
              </a:ext>
            </a:extLst>
          </p:cNvPr>
          <p:cNvSpPr>
            <a:spLocks noGrp="1"/>
          </p:cNvSpPr>
          <p:nvPr>
            <p:ph idx="11" hasCustomPrompt="1"/>
          </p:nvPr>
        </p:nvSpPr>
        <p:spPr>
          <a:xfrm>
            <a:off x="714377" y="3221424"/>
            <a:ext cx="3566879" cy="328016"/>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5" name="Content Placeholder 2">
            <a:extLst>
              <a:ext uri="{FF2B5EF4-FFF2-40B4-BE49-F238E27FC236}">
                <a16:creationId xmlns:a16="http://schemas.microsoft.com/office/drawing/2014/main" id="{123E50C5-092D-4191-9A0B-F3C51561D562}"/>
              </a:ext>
            </a:extLst>
          </p:cNvPr>
          <p:cNvSpPr>
            <a:spLocks noGrp="1"/>
          </p:cNvSpPr>
          <p:nvPr>
            <p:ph idx="12" hasCustomPrompt="1"/>
          </p:nvPr>
        </p:nvSpPr>
        <p:spPr>
          <a:xfrm>
            <a:off x="714378" y="3654675"/>
            <a:ext cx="3566879" cy="75895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713184" y="4520213"/>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3E524A13-F71C-45F7-92E6-985C4CB9E331}"/>
              </a:ext>
            </a:extLst>
          </p:cNvPr>
          <p:cNvSpPr>
            <a:spLocks noGrp="1"/>
          </p:cNvSpPr>
          <p:nvPr>
            <p:ph idx="13" hasCustomPrompt="1"/>
          </p:nvPr>
        </p:nvSpPr>
        <p:spPr>
          <a:xfrm>
            <a:off x="714379" y="4683657"/>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7" name="Content Placeholder 2">
            <a:extLst>
              <a:ext uri="{FF2B5EF4-FFF2-40B4-BE49-F238E27FC236}">
                <a16:creationId xmlns:a16="http://schemas.microsoft.com/office/drawing/2014/main" id="{7CA7FF6D-951D-4682-9C40-A6BB36ABEA84}"/>
              </a:ext>
            </a:extLst>
          </p:cNvPr>
          <p:cNvSpPr>
            <a:spLocks noGrp="1"/>
          </p:cNvSpPr>
          <p:nvPr>
            <p:ph idx="14" hasCustomPrompt="1"/>
          </p:nvPr>
        </p:nvSpPr>
        <p:spPr>
          <a:xfrm>
            <a:off x="714379" y="5116908"/>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28" name="Straight Connector 27">
            <a:extLst>
              <a:ext uri="{FF2B5EF4-FFF2-40B4-BE49-F238E27FC236}">
                <a16:creationId xmlns:a16="http://schemas.microsoft.com/office/drawing/2014/main" id="{AA23041F-D604-4688-B75A-90D37AFDDB0E}"/>
              </a:ext>
            </a:extLst>
          </p:cNvPr>
          <p:cNvCxnSpPr/>
          <p:nvPr userDrawn="1"/>
        </p:nvCxnSpPr>
        <p:spPr>
          <a:xfrm>
            <a:off x="4572000"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F7B91F83-8428-4E5A-9C88-17829B687B77}"/>
              </a:ext>
            </a:extLst>
          </p:cNvPr>
          <p:cNvSpPr>
            <a:spLocks noGrp="1"/>
          </p:cNvSpPr>
          <p:nvPr>
            <p:ph idx="15" hasCustomPrompt="1"/>
          </p:nvPr>
        </p:nvSpPr>
        <p:spPr>
          <a:xfrm>
            <a:off x="4862772" y="1688512"/>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3" name="Content Placeholder 2">
            <a:extLst>
              <a:ext uri="{FF2B5EF4-FFF2-40B4-BE49-F238E27FC236}">
                <a16:creationId xmlns:a16="http://schemas.microsoft.com/office/drawing/2014/main" id="{ADB1D581-6D4C-4716-AE96-DBB4F953B95C}"/>
              </a:ext>
            </a:extLst>
          </p:cNvPr>
          <p:cNvSpPr>
            <a:spLocks noGrp="1"/>
          </p:cNvSpPr>
          <p:nvPr>
            <p:ph idx="16" hasCustomPrompt="1"/>
          </p:nvPr>
        </p:nvSpPr>
        <p:spPr>
          <a:xfrm>
            <a:off x="4862773" y="2121764"/>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4" name="Content Placeholder 2">
            <a:extLst>
              <a:ext uri="{FF2B5EF4-FFF2-40B4-BE49-F238E27FC236}">
                <a16:creationId xmlns:a16="http://schemas.microsoft.com/office/drawing/2014/main" id="{279BA4B0-A083-4A1F-9D3B-A041B59E7C22}"/>
              </a:ext>
            </a:extLst>
          </p:cNvPr>
          <p:cNvSpPr>
            <a:spLocks noGrp="1"/>
          </p:cNvSpPr>
          <p:nvPr>
            <p:ph idx="17" hasCustomPrompt="1"/>
          </p:nvPr>
        </p:nvSpPr>
        <p:spPr>
          <a:xfrm>
            <a:off x="4862773" y="3223178"/>
            <a:ext cx="3566879" cy="328016"/>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5" name="Content Placeholder 2">
            <a:extLst>
              <a:ext uri="{FF2B5EF4-FFF2-40B4-BE49-F238E27FC236}">
                <a16:creationId xmlns:a16="http://schemas.microsoft.com/office/drawing/2014/main" id="{8FDD4A4D-E1FC-4E83-A8AA-A324B6B0E441}"/>
              </a:ext>
            </a:extLst>
          </p:cNvPr>
          <p:cNvSpPr>
            <a:spLocks noGrp="1"/>
          </p:cNvSpPr>
          <p:nvPr>
            <p:ph idx="18" hasCustomPrompt="1"/>
          </p:nvPr>
        </p:nvSpPr>
        <p:spPr>
          <a:xfrm>
            <a:off x="4862774" y="3656430"/>
            <a:ext cx="3566879" cy="75895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6" name="Content Placeholder 2">
            <a:extLst>
              <a:ext uri="{FF2B5EF4-FFF2-40B4-BE49-F238E27FC236}">
                <a16:creationId xmlns:a16="http://schemas.microsoft.com/office/drawing/2014/main" id="{DE8E7D5C-ACCB-47E6-A3F5-6F3F51A0F37F}"/>
              </a:ext>
            </a:extLst>
          </p:cNvPr>
          <p:cNvSpPr>
            <a:spLocks noGrp="1"/>
          </p:cNvSpPr>
          <p:nvPr>
            <p:ph idx="19" hasCustomPrompt="1"/>
          </p:nvPr>
        </p:nvSpPr>
        <p:spPr>
          <a:xfrm>
            <a:off x="4862775" y="4685411"/>
            <a:ext cx="3566879"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7" name="Content Placeholder 2">
            <a:extLst>
              <a:ext uri="{FF2B5EF4-FFF2-40B4-BE49-F238E27FC236}">
                <a16:creationId xmlns:a16="http://schemas.microsoft.com/office/drawing/2014/main" id="{659D9DC4-BB53-4441-9B74-84922B369948}"/>
              </a:ext>
            </a:extLst>
          </p:cNvPr>
          <p:cNvSpPr>
            <a:spLocks noGrp="1"/>
          </p:cNvSpPr>
          <p:nvPr>
            <p:ph idx="20" hasCustomPrompt="1"/>
          </p:nvPr>
        </p:nvSpPr>
        <p:spPr>
          <a:xfrm>
            <a:off x="4862776" y="5118662"/>
            <a:ext cx="3566879" cy="75460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9" name="Rectangle 28">
            <a:extLst>
              <a:ext uri="{FF2B5EF4-FFF2-40B4-BE49-F238E27FC236}">
                <a16:creationId xmlns:a16="http://schemas.microsoft.com/office/drawing/2014/main" id="{A774845D-2BF0-2740-9880-8D2B0EBB22B7}"/>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0" name="Picture 29" descr="The University of Iowa">
            <a:extLst>
              <a:ext uri="{FF2B5EF4-FFF2-40B4-BE49-F238E27FC236}">
                <a16:creationId xmlns:a16="http://schemas.microsoft.com/office/drawing/2014/main" id="{B5AA78D2-879D-BC4F-9774-9CE61C81AA42}"/>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1" name="Footer Placeholder 4">
            <a:extLst>
              <a:ext uri="{FF2B5EF4-FFF2-40B4-BE49-F238E27FC236}">
                <a16:creationId xmlns:a16="http://schemas.microsoft.com/office/drawing/2014/main" id="{95EBCFD2-248B-A44E-AEE6-8987ECBEC980}"/>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3435829950"/>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x1 Grid Layout">
    <p:spTree>
      <p:nvGrpSpPr>
        <p:cNvPr id="1" name=""/>
        <p:cNvGrpSpPr/>
        <p:nvPr/>
      </p:nvGrpSpPr>
      <p:grpSpPr>
        <a:xfrm>
          <a:off x="0" y="0"/>
          <a:ext cx="0" cy="0"/>
          <a:chOff x="0" y="0"/>
          <a:chExt cx="0" cy="0"/>
        </a:xfrm>
      </p:grpSpPr>
      <p:sp>
        <p:nvSpPr>
          <p:cNvPr id="38" name="Title 1">
            <a:extLst>
              <a:ext uri="{FF2B5EF4-FFF2-40B4-BE49-F238E27FC236}">
                <a16:creationId xmlns:a16="http://schemas.microsoft.com/office/drawing/2014/main" id="{31EE2C71-E6FD-4A5F-BC00-7290049C4471}"/>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1686759"/>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7" y="2120011"/>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9" name="Straight Connector 8">
            <a:extLst>
              <a:ext uri="{FF2B5EF4-FFF2-40B4-BE49-F238E27FC236}">
                <a16:creationId xmlns:a16="http://schemas.microsoft.com/office/drawing/2014/main" id="{6FCD7C05-8E7C-4679-B83F-CDDB1BDA2031}"/>
              </a:ext>
            </a:extLst>
          </p:cNvPr>
          <p:cNvCxnSpPr/>
          <p:nvPr userDrawn="1"/>
        </p:nvCxnSpPr>
        <p:spPr>
          <a:xfrm>
            <a:off x="711994" y="2660476"/>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5FC9698A-599E-4227-BA19-18EFBBF3E0DD}"/>
              </a:ext>
            </a:extLst>
          </p:cNvPr>
          <p:cNvSpPr>
            <a:spLocks noGrp="1"/>
          </p:cNvSpPr>
          <p:nvPr>
            <p:ph idx="11" hasCustomPrompt="1"/>
          </p:nvPr>
        </p:nvSpPr>
        <p:spPr>
          <a:xfrm>
            <a:off x="715571" y="2803601"/>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18" name="Content Placeholder 2">
            <a:extLst>
              <a:ext uri="{FF2B5EF4-FFF2-40B4-BE49-F238E27FC236}">
                <a16:creationId xmlns:a16="http://schemas.microsoft.com/office/drawing/2014/main" id="{C4B470A9-B821-4D01-8FB4-31DF303421A9}"/>
              </a:ext>
            </a:extLst>
          </p:cNvPr>
          <p:cNvSpPr>
            <a:spLocks noGrp="1"/>
          </p:cNvSpPr>
          <p:nvPr>
            <p:ph idx="12" hasCustomPrompt="1"/>
          </p:nvPr>
        </p:nvSpPr>
        <p:spPr>
          <a:xfrm>
            <a:off x="715573" y="3236853"/>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2" name="Straight Connector 31">
            <a:extLst>
              <a:ext uri="{FF2B5EF4-FFF2-40B4-BE49-F238E27FC236}">
                <a16:creationId xmlns:a16="http://schemas.microsoft.com/office/drawing/2014/main" id="{3C85CAC7-8545-4ED7-8312-FBC92F7F9DA5}"/>
              </a:ext>
            </a:extLst>
          </p:cNvPr>
          <p:cNvCxnSpPr/>
          <p:nvPr userDrawn="1"/>
        </p:nvCxnSpPr>
        <p:spPr>
          <a:xfrm>
            <a:off x="713184" y="3691764"/>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2" name="Content Placeholder 2">
            <a:extLst>
              <a:ext uri="{FF2B5EF4-FFF2-40B4-BE49-F238E27FC236}">
                <a16:creationId xmlns:a16="http://schemas.microsoft.com/office/drawing/2014/main" id="{0C507C81-6817-4069-BC84-0CE4705AE16C}"/>
              </a:ext>
            </a:extLst>
          </p:cNvPr>
          <p:cNvSpPr>
            <a:spLocks noGrp="1"/>
          </p:cNvSpPr>
          <p:nvPr>
            <p:ph idx="15" hasCustomPrompt="1"/>
          </p:nvPr>
        </p:nvSpPr>
        <p:spPr>
          <a:xfrm>
            <a:off x="715574" y="3870141"/>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3" name="Content Placeholder 2">
            <a:extLst>
              <a:ext uri="{FF2B5EF4-FFF2-40B4-BE49-F238E27FC236}">
                <a16:creationId xmlns:a16="http://schemas.microsoft.com/office/drawing/2014/main" id="{94103820-8C7A-497C-BCBA-2CFEB4549C83}"/>
              </a:ext>
            </a:extLst>
          </p:cNvPr>
          <p:cNvSpPr>
            <a:spLocks noGrp="1"/>
          </p:cNvSpPr>
          <p:nvPr>
            <p:ph idx="16" hasCustomPrompt="1"/>
          </p:nvPr>
        </p:nvSpPr>
        <p:spPr>
          <a:xfrm>
            <a:off x="715576" y="4303394"/>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16" name="Straight Connector 15">
            <a:extLst>
              <a:ext uri="{FF2B5EF4-FFF2-40B4-BE49-F238E27FC236}">
                <a16:creationId xmlns:a16="http://schemas.microsoft.com/office/drawing/2014/main" id="{1F1CE437-6AD8-4170-8DC8-66894266CE06}"/>
              </a:ext>
            </a:extLst>
          </p:cNvPr>
          <p:cNvCxnSpPr/>
          <p:nvPr userDrawn="1"/>
        </p:nvCxnSpPr>
        <p:spPr>
          <a:xfrm>
            <a:off x="714380" y="4785197"/>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0C02F409-DCF5-4241-BB5E-6E37CC8D3518}"/>
              </a:ext>
            </a:extLst>
          </p:cNvPr>
          <p:cNvSpPr>
            <a:spLocks noGrp="1"/>
          </p:cNvSpPr>
          <p:nvPr>
            <p:ph idx="13" hasCustomPrompt="1"/>
          </p:nvPr>
        </p:nvSpPr>
        <p:spPr>
          <a:xfrm>
            <a:off x="715573" y="4988550"/>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0" name="Content Placeholder 2">
            <a:extLst>
              <a:ext uri="{FF2B5EF4-FFF2-40B4-BE49-F238E27FC236}">
                <a16:creationId xmlns:a16="http://schemas.microsoft.com/office/drawing/2014/main" id="{2AC426E8-7005-475F-BC32-B5F0BA7A8A4C}"/>
              </a:ext>
            </a:extLst>
          </p:cNvPr>
          <p:cNvSpPr>
            <a:spLocks noGrp="1"/>
          </p:cNvSpPr>
          <p:nvPr>
            <p:ph idx="14" hasCustomPrompt="1"/>
          </p:nvPr>
        </p:nvSpPr>
        <p:spPr>
          <a:xfrm>
            <a:off x="715574" y="5421802"/>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cxnSp>
        <p:nvCxnSpPr>
          <p:cNvPr id="34" name="Straight Connector 33">
            <a:extLst>
              <a:ext uri="{FF2B5EF4-FFF2-40B4-BE49-F238E27FC236}">
                <a16:creationId xmlns:a16="http://schemas.microsoft.com/office/drawing/2014/main" id="{8222804C-AFDD-4E8C-BFDC-31326A2127FA}"/>
              </a:ext>
            </a:extLst>
          </p:cNvPr>
          <p:cNvCxnSpPr/>
          <p:nvPr userDrawn="1"/>
        </p:nvCxnSpPr>
        <p:spPr>
          <a:xfrm>
            <a:off x="4572000"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66342B0E-1F8B-4D4C-ABA7-E43BC2B3F4AE}"/>
              </a:ext>
            </a:extLst>
          </p:cNvPr>
          <p:cNvSpPr>
            <a:spLocks noGrp="1"/>
          </p:cNvSpPr>
          <p:nvPr>
            <p:ph idx="17" hasCustomPrompt="1"/>
          </p:nvPr>
        </p:nvSpPr>
        <p:spPr>
          <a:xfrm>
            <a:off x="4850622" y="1688232"/>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5" name="Content Placeholder 2">
            <a:extLst>
              <a:ext uri="{FF2B5EF4-FFF2-40B4-BE49-F238E27FC236}">
                <a16:creationId xmlns:a16="http://schemas.microsoft.com/office/drawing/2014/main" id="{FCF3285B-83DB-4917-9F24-EC0C964DE403}"/>
              </a:ext>
            </a:extLst>
          </p:cNvPr>
          <p:cNvSpPr>
            <a:spLocks noGrp="1"/>
          </p:cNvSpPr>
          <p:nvPr>
            <p:ph idx="18" hasCustomPrompt="1"/>
          </p:nvPr>
        </p:nvSpPr>
        <p:spPr>
          <a:xfrm>
            <a:off x="4850623" y="2121485"/>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6" name="Content Placeholder 2">
            <a:extLst>
              <a:ext uri="{FF2B5EF4-FFF2-40B4-BE49-F238E27FC236}">
                <a16:creationId xmlns:a16="http://schemas.microsoft.com/office/drawing/2014/main" id="{8C88D8B1-0044-4EC5-B4CD-DB1095F378A4}"/>
              </a:ext>
            </a:extLst>
          </p:cNvPr>
          <p:cNvSpPr>
            <a:spLocks noGrp="1"/>
          </p:cNvSpPr>
          <p:nvPr>
            <p:ph idx="19" hasCustomPrompt="1"/>
          </p:nvPr>
        </p:nvSpPr>
        <p:spPr>
          <a:xfrm>
            <a:off x="4851817" y="2805075"/>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7" name="Content Placeholder 2">
            <a:extLst>
              <a:ext uri="{FF2B5EF4-FFF2-40B4-BE49-F238E27FC236}">
                <a16:creationId xmlns:a16="http://schemas.microsoft.com/office/drawing/2014/main" id="{9F6100E2-DAE8-4111-AF37-8909AA389FC1}"/>
              </a:ext>
            </a:extLst>
          </p:cNvPr>
          <p:cNvSpPr>
            <a:spLocks noGrp="1"/>
          </p:cNvSpPr>
          <p:nvPr>
            <p:ph idx="20" hasCustomPrompt="1"/>
          </p:nvPr>
        </p:nvSpPr>
        <p:spPr>
          <a:xfrm>
            <a:off x="4851819" y="3238327"/>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30" name="Content Placeholder 2">
            <a:extLst>
              <a:ext uri="{FF2B5EF4-FFF2-40B4-BE49-F238E27FC236}">
                <a16:creationId xmlns:a16="http://schemas.microsoft.com/office/drawing/2014/main" id="{C0B1E9EC-56B4-4514-B189-24BD47F549F3}"/>
              </a:ext>
            </a:extLst>
          </p:cNvPr>
          <p:cNvSpPr>
            <a:spLocks noGrp="1"/>
          </p:cNvSpPr>
          <p:nvPr>
            <p:ph idx="23" hasCustomPrompt="1"/>
          </p:nvPr>
        </p:nvSpPr>
        <p:spPr>
          <a:xfrm>
            <a:off x="4851820" y="3871616"/>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31" name="Content Placeholder 2">
            <a:extLst>
              <a:ext uri="{FF2B5EF4-FFF2-40B4-BE49-F238E27FC236}">
                <a16:creationId xmlns:a16="http://schemas.microsoft.com/office/drawing/2014/main" id="{F685484E-408B-4771-9259-BAAC2A6E6017}"/>
              </a:ext>
            </a:extLst>
          </p:cNvPr>
          <p:cNvSpPr>
            <a:spLocks noGrp="1"/>
          </p:cNvSpPr>
          <p:nvPr>
            <p:ph idx="24" hasCustomPrompt="1"/>
          </p:nvPr>
        </p:nvSpPr>
        <p:spPr>
          <a:xfrm>
            <a:off x="4851822" y="4304868"/>
            <a:ext cx="3579002" cy="420624"/>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28" name="Content Placeholder 2">
            <a:extLst>
              <a:ext uri="{FF2B5EF4-FFF2-40B4-BE49-F238E27FC236}">
                <a16:creationId xmlns:a16="http://schemas.microsoft.com/office/drawing/2014/main" id="{0EE05AF1-1486-45F2-B87D-2AE555B8D1CB}"/>
              </a:ext>
            </a:extLst>
          </p:cNvPr>
          <p:cNvSpPr>
            <a:spLocks noGrp="1"/>
          </p:cNvSpPr>
          <p:nvPr>
            <p:ph idx="21" hasCustomPrompt="1"/>
          </p:nvPr>
        </p:nvSpPr>
        <p:spPr>
          <a:xfrm>
            <a:off x="4851819" y="4990024"/>
            <a:ext cx="3579002" cy="319591"/>
          </a:xfrm>
        </p:spPr>
        <p:txBody>
          <a:bodyPr lIns="0" tIns="0" rIns="0" bIns="0">
            <a:no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header</a:t>
            </a:r>
          </a:p>
        </p:txBody>
      </p:sp>
      <p:sp>
        <p:nvSpPr>
          <p:cNvPr id="29" name="Content Placeholder 2">
            <a:extLst>
              <a:ext uri="{FF2B5EF4-FFF2-40B4-BE49-F238E27FC236}">
                <a16:creationId xmlns:a16="http://schemas.microsoft.com/office/drawing/2014/main" id="{52C4B0E5-3C7E-4BC2-AA92-4156C26C91FF}"/>
              </a:ext>
            </a:extLst>
          </p:cNvPr>
          <p:cNvSpPr>
            <a:spLocks noGrp="1"/>
          </p:cNvSpPr>
          <p:nvPr>
            <p:ph idx="22" hasCustomPrompt="1"/>
          </p:nvPr>
        </p:nvSpPr>
        <p:spPr>
          <a:xfrm>
            <a:off x="4851820" y="5423276"/>
            <a:ext cx="3579002" cy="41714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row text</a:t>
            </a:r>
          </a:p>
        </p:txBody>
      </p:sp>
      <p:sp>
        <p:nvSpPr>
          <p:cNvPr id="33" name="Rectangle 32">
            <a:extLst>
              <a:ext uri="{FF2B5EF4-FFF2-40B4-BE49-F238E27FC236}">
                <a16:creationId xmlns:a16="http://schemas.microsoft.com/office/drawing/2014/main" id="{A5480C56-313A-5C4D-A02B-5C10621A5061}"/>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5" name="Picture 34" descr="The University of Iowa">
            <a:extLst>
              <a:ext uri="{FF2B5EF4-FFF2-40B4-BE49-F238E27FC236}">
                <a16:creationId xmlns:a16="http://schemas.microsoft.com/office/drawing/2014/main" id="{2DA8F900-4BB3-134B-A7DE-0A6F63695305}"/>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6" name="Footer Placeholder 4">
            <a:extLst>
              <a:ext uri="{FF2B5EF4-FFF2-40B4-BE49-F238E27FC236}">
                <a16:creationId xmlns:a16="http://schemas.microsoft.com/office/drawing/2014/main" id="{B5B719EA-A20E-994C-8EEE-69E62E50742C}"/>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868536204"/>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guide id="8" orient="horz" pos="240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x2 Grid Layout">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F947D672-DDE7-4F36-B79C-4245C5D115ED}"/>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1756430"/>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2237816"/>
            <a:ext cx="3600164" cy="12005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8" name="Straight Connector 7">
            <a:extLst>
              <a:ext uri="{FF2B5EF4-FFF2-40B4-BE49-F238E27FC236}">
                <a16:creationId xmlns:a16="http://schemas.microsoft.com/office/drawing/2014/main" id="{69FB9F7B-CC85-4936-BE2A-DF6B8BF46018}"/>
              </a:ext>
            </a:extLst>
          </p:cNvPr>
          <p:cNvCxnSpPr/>
          <p:nvPr userDrawn="1"/>
        </p:nvCxnSpPr>
        <p:spPr>
          <a:xfrm>
            <a:off x="711994" y="3790765"/>
            <a:ext cx="771763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 name="Content Placeholder 2">
            <a:extLst>
              <a:ext uri="{FF2B5EF4-FFF2-40B4-BE49-F238E27FC236}">
                <a16:creationId xmlns:a16="http://schemas.microsoft.com/office/drawing/2014/main" id="{FDFA8ABE-0B6C-4930-94A9-A2BB4166E51F}"/>
              </a:ext>
            </a:extLst>
          </p:cNvPr>
          <p:cNvSpPr>
            <a:spLocks noGrp="1"/>
          </p:cNvSpPr>
          <p:nvPr>
            <p:ph idx="17" hasCustomPrompt="1"/>
          </p:nvPr>
        </p:nvSpPr>
        <p:spPr>
          <a:xfrm>
            <a:off x="718539" y="4109427"/>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4" name="Content Placeholder 2">
            <a:extLst>
              <a:ext uri="{FF2B5EF4-FFF2-40B4-BE49-F238E27FC236}">
                <a16:creationId xmlns:a16="http://schemas.microsoft.com/office/drawing/2014/main" id="{47E91DB8-4856-4AED-8362-60627F681EE8}"/>
              </a:ext>
            </a:extLst>
          </p:cNvPr>
          <p:cNvSpPr>
            <a:spLocks noGrp="1"/>
          </p:cNvSpPr>
          <p:nvPr>
            <p:ph idx="18" hasCustomPrompt="1"/>
          </p:nvPr>
        </p:nvSpPr>
        <p:spPr>
          <a:xfrm>
            <a:off x="718540" y="4590814"/>
            <a:ext cx="3600164" cy="11819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a:cxnSpLocks/>
          </p:cNvCxnSpPr>
          <p:nvPr userDrawn="1"/>
        </p:nvCxnSpPr>
        <p:spPr>
          <a:xfrm>
            <a:off x="4572000" y="1679385"/>
            <a:ext cx="0" cy="427276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A07502CC-5B90-4BCF-B63B-36D026C9AE96}"/>
              </a:ext>
            </a:extLst>
          </p:cNvPr>
          <p:cNvSpPr>
            <a:spLocks noGrp="1"/>
          </p:cNvSpPr>
          <p:nvPr>
            <p:ph idx="15" hasCustomPrompt="1"/>
          </p:nvPr>
        </p:nvSpPr>
        <p:spPr>
          <a:xfrm>
            <a:off x="4825293" y="1746378"/>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p:ph idx="16" hasCustomPrompt="1"/>
          </p:nvPr>
        </p:nvSpPr>
        <p:spPr>
          <a:xfrm>
            <a:off x="4825294" y="2227764"/>
            <a:ext cx="3600168" cy="12005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5" name="Content Placeholder 2">
            <a:extLst>
              <a:ext uri="{FF2B5EF4-FFF2-40B4-BE49-F238E27FC236}">
                <a16:creationId xmlns:a16="http://schemas.microsoft.com/office/drawing/2014/main" id="{76BD4A33-C7CC-4380-A2BB-ECC6C2FB7225}"/>
              </a:ext>
            </a:extLst>
          </p:cNvPr>
          <p:cNvSpPr>
            <a:spLocks noGrp="1"/>
          </p:cNvSpPr>
          <p:nvPr>
            <p:ph idx="19" hasCustomPrompt="1"/>
          </p:nvPr>
        </p:nvSpPr>
        <p:spPr>
          <a:xfrm>
            <a:off x="4829457" y="4099375"/>
            <a:ext cx="3600168" cy="374036"/>
          </a:xfrm>
        </p:spPr>
        <p:txBody>
          <a:bodyPr lIns="0" tIns="0" rIns="0" bIns="0">
            <a:normAutofit/>
          </a:bodyPr>
          <a:lstStyle>
            <a:lvl1pPr marL="0" indent="0">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6" name="Content Placeholder 2">
            <a:extLst>
              <a:ext uri="{FF2B5EF4-FFF2-40B4-BE49-F238E27FC236}">
                <a16:creationId xmlns:a16="http://schemas.microsoft.com/office/drawing/2014/main" id="{4CD0BB64-6643-42CE-AFE7-372305F21233}"/>
              </a:ext>
            </a:extLst>
          </p:cNvPr>
          <p:cNvSpPr>
            <a:spLocks noGrp="1"/>
          </p:cNvSpPr>
          <p:nvPr>
            <p:ph idx="20" hasCustomPrompt="1"/>
          </p:nvPr>
        </p:nvSpPr>
        <p:spPr>
          <a:xfrm>
            <a:off x="4829458" y="4580761"/>
            <a:ext cx="3600168" cy="12005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1" name="Rectangle 20">
            <a:extLst>
              <a:ext uri="{FF2B5EF4-FFF2-40B4-BE49-F238E27FC236}">
                <a16:creationId xmlns:a16="http://schemas.microsoft.com/office/drawing/2014/main" id="{D8D606F0-071A-A842-B316-9BEBD143AC36}"/>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7" name="Picture 16" descr="The University of Iowa">
            <a:extLst>
              <a:ext uri="{FF2B5EF4-FFF2-40B4-BE49-F238E27FC236}">
                <a16:creationId xmlns:a16="http://schemas.microsoft.com/office/drawing/2014/main" id="{70498093-055A-1249-80EE-EB69C10A937B}"/>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8" name="Footer Placeholder 4">
            <a:extLst>
              <a:ext uri="{FF2B5EF4-FFF2-40B4-BE49-F238E27FC236}">
                <a16:creationId xmlns:a16="http://schemas.microsoft.com/office/drawing/2014/main" id="{8EEADFDD-6D39-8041-B44B-CC11D0FD544F}"/>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748418329"/>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2400" userDrawn="1">
          <p15:clr>
            <a:srgbClr val="FBAE40"/>
          </p15:clr>
        </p15:guide>
        <p15:guide id="7" orient="horz" pos="697"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 Stat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04310" y="2849850"/>
            <a:ext cx="1306682" cy="787298"/>
          </a:xfrm>
        </p:spPr>
        <p:txBody>
          <a:bodyPr lIns="0" tIns="0" rIns="0" bIns="0">
            <a:noAutofit/>
          </a:bodyPr>
          <a:lstStyle>
            <a:lvl1pPr marL="0" indent="0" algn="l">
              <a:buSzPct val="95000"/>
              <a:buFont typeface="Arial" panose="020B0604020202020204" pitchFamily="34" charset="0"/>
              <a:buNone/>
              <a:defRPr sz="4125"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sp>
        <p:nvSpPr>
          <p:cNvPr id="52" name="Picture Placeholder 50">
            <a:extLst>
              <a:ext uri="{FF2B5EF4-FFF2-40B4-BE49-F238E27FC236}">
                <a16:creationId xmlns:a16="http://schemas.microsoft.com/office/drawing/2014/main" id="{8D984633-F962-1848-A009-619CB8211633}"/>
              </a:ext>
            </a:extLst>
          </p:cNvPr>
          <p:cNvSpPr>
            <a:spLocks noGrp="1"/>
          </p:cNvSpPr>
          <p:nvPr>
            <p:ph type="pic" sz="quarter" idx="20"/>
          </p:nvPr>
        </p:nvSpPr>
        <p:spPr>
          <a:xfrm>
            <a:off x="2141220" y="2469136"/>
            <a:ext cx="940541" cy="930491"/>
          </a:xfrm>
        </p:spPr>
        <p:txBody>
          <a:bodyPr/>
          <a:lstStyle>
            <a:lvl1pPr marL="0" indent="0">
              <a:buNone/>
              <a:defRPr/>
            </a:lvl1pPr>
          </a:lstStyle>
          <a:p>
            <a:endParaRPr lang="en-US" dirty="0"/>
          </a:p>
        </p:txBody>
      </p:sp>
      <p:cxnSp>
        <p:nvCxnSpPr>
          <p:cNvPr id="14" name="Straight Connector 13">
            <a:extLst>
              <a:ext uri="{FF2B5EF4-FFF2-40B4-BE49-F238E27FC236}">
                <a16:creationId xmlns:a16="http://schemas.microsoft.com/office/drawing/2014/main" id="{44DE3AB4-3020-8D45-86B7-592F12CB716B}"/>
              </a:ext>
              <a:ext uri="{C183D7F6-B498-43B3-948B-1728B52AA6E4}">
                <adec:decorative xmlns:adec="http://schemas.microsoft.com/office/drawing/2017/decorative" val="1"/>
              </a:ext>
            </a:extLst>
          </p:cNvPr>
          <p:cNvCxnSpPr>
            <a:cxnSpLocks/>
          </p:cNvCxnSpPr>
          <p:nvPr userDrawn="1"/>
        </p:nvCxnSpPr>
        <p:spPr>
          <a:xfrm>
            <a:off x="672385" y="3573316"/>
            <a:ext cx="2409376"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DC4E94AD-16D9-BE4C-8C57-CFA6654E1BD9}"/>
              </a:ext>
            </a:extLst>
          </p:cNvPr>
          <p:cNvSpPr>
            <a:spLocks noGrp="1"/>
          </p:cNvSpPr>
          <p:nvPr>
            <p:ph idx="14" hasCustomPrompt="1"/>
          </p:nvPr>
        </p:nvSpPr>
        <p:spPr>
          <a:xfrm>
            <a:off x="704310" y="3789196"/>
            <a:ext cx="2377451" cy="1061801"/>
          </a:xfrm>
        </p:spPr>
        <p:txBody>
          <a:bodyPr lIns="0" tIns="0" rIns="0" bIns="0">
            <a:normAutofit/>
          </a:bodyPr>
          <a:lstStyle>
            <a:lvl1pPr marL="0" indent="0" algn="l">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9" name="Content Placeholder 2">
            <a:extLst>
              <a:ext uri="{FF2B5EF4-FFF2-40B4-BE49-F238E27FC236}">
                <a16:creationId xmlns:a16="http://schemas.microsoft.com/office/drawing/2014/main" id="{E64293C0-60B2-3341-9C38-86DF7ACA51DC}"/>
              </a:ext>
            </a:extLst>
          </p:cNvPr>
          <p:cNvSpPr>
            <a:spLocks noGrp="1"/>
          </p:cNvSpPr>
          <p:nvPr>
            <p:ph idx="21" hasCustomPrompt="1"/>
          </p:nvPr>
        </p:nvSpPr>
        <p:spPr>
          <a:xfrm>
            <a:off x="3436853" y="2849850"/>
            <a:ext cx="1306682" cy="787298"/>
          </a:xfrm>
        </p:spPr>
        <p:txBody>
          <a:bodyPr lIns="0" tIns="0" rIns="0" bIns="0">
            <a:noAutofit/>
          </a:bodyPr>
          <a:lstStyle>
            <a:lvl1pPr marL="0" indent="0" algn="l">
              <a:buSzPct val="95000"/>
              <a:buFont typeface="Arial" panose="020B0604020202020204" pitchFamily="34" charset="0"/>
              <a:buNone/>
              <a:defRPr sz="4125"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cxnSp>
        <p:nvCxnSpPr>
          <p:cNvPr id="20" name="Straight Connector 19">
            <a:extLst>
              <a:ext uri="{FF2B5EF4-FFF2-40B4-BE49-F238E27FC236}">
                <a16:creationId xmlns:a16="http://schemas.microsoft.com/office/drawing/2014/main" id="{1799B91B-7CDD-284B-99CF-8408146B2C0D}"/>
              </a:ext>
              <a:ext uri="{C183D7F6-B498-43B3-948B-1728B52AA6E4}">
                <adec:decorative xmlns:adec="http://schemas.microsoft.com/office/drawing/2017/decorative" val="1"/>
              </a:ext>
            </a:extLst>
          </p:cNvPr>
          <p:cNvCxnSpPr>
            <a:cxnSpLocks/>
          </p:cNvCxnSpPr>
          <p:nvPr userDrawn="1"/>
        </p:nvCxnSpPr>
        <p:spPr>
          <a:xfrm>
            <a:off x="3404928" y="3573316"/>
            <a:ext cx="2409376"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8BB67D17-F456-FC43-9C41-9344D6EEB07B}"/>
              </a:ext>
            </a:extLst>
          </p:cNvPr>
          <p:cNvSpPr>
            <a:spLocks noGrp="1"/>
          </p:cNvSpPr>
          <p:nvPr>
            <p:ph idx="22" hasCustomPrompt="1"/>
          </p:nvPr>
        </p:nvSpPr>
        <p:spPr>
          <a:xfrm>
            <a:off x="3436853" y="3789196"/>
            <a:ext cx="2377451" cy="1061801"/>
          </a:xfrm>
        </p:spPr>
        <p:txBody>
          <a:bodyPr lIns="0" tIns="0" rIns="0" bIns="0">
            <a:normAutofit/>
          </a:bodyPr>
          <a:lstStyle>
            <a:lvl1pPr marL="0" indent="0" algn="l">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6" name="Content Placeholder 2">
            <a:extLst>
              <a:ext uri="{FF2B5EF4-FFF2-40B4-BE49-F238E27FC236}">
                <a16:creationId xmlns:a16="http://schemas.microsoft.com/office/drawing/2014/main" id="{60F6E28A-AB38-A64F-9481-C9F0437BFEA5}"/>
              </a:ext>
            </a:extLst>
          </p:cNvPr>
          <p:cNvSpPr>
            <a:spLocks noGrp="1"/>
          </p:cNvSpPr>
          <p:nvPr>
            <p:ph idx="24" hasCustomPrompt="1"/>
          </p:nvPr>
        </p:nvSpPr>
        <p:spPr>
          <a:xfrm>
            <a:off x="6169397" y="2849850"/>
            <a:ext cx="1306682" cy="787298"/>
          </a:xfrm>
        </p:spPr>
        <p:txBody>
          <a:bodyPr lIns="0" tIns="0" rIns="0" bIns="0">
            <a:noAutofit/>
          </a:bodyPr>
          <a:lstStyle>
            <a:lvl1pPr marL="0" indent="0" algn="l">
              <a:buSzPct val="95000"/>
              <a:buFont typeface="Arial" panose="020B0604020202020204" pitchFamily="34" charset="0"/>
              <a:buNone/>
              <a:defRPr sz="4125"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Stat</a:t>
            </a:r>
          </a:p>
        </p:txBody>
      </p:sp>
      <p:cxnSp>
        <p:nvCxnSpPr>
          <p:cNvPr id="27" name="Straight Connector 26">
            <a:extLst>
              <a:ext uri="{FF2B5EF4-FFF2-40B4-BE49-F238E27FC236}">
                <a16:creationId xmlns:a16="http://schemas.microsoft.com/office/drawing/2014/main" id="{F9F7D2B0-E449-FD45-9789-FC204088E97C}"/>
              </a:ext>
              <a:ext uri="{C183D7F6-B498-43B3-948B-1728B52AA6E4}">
                <adec:decorative xmlns:adec="http://schemas.microsoft.com/office/drawing/2017/decorative" val="1"/>
              </a:ext>
            </a:extLst>
          </p:cNvPr>
          <p:cNvCxnSpPr>
            <a:cxnSpLocks/>
          </p:cNvCxnSpPr>
          <p:nvPr userDrawn="1"/>
        </p:nvCxnSpPr>
        <p:spPr>
          <a:xfrm>
            <a:off x="6137472" y="3573316"/>
            <a:ext cx="2409376"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86FE37F4-1DCF-2D40-845F-6C10AC016C29}"/>
              </a:ext>
            </a:extLst>
          </p:cNvPr>
          <p:cNvSpPr>
            <a:spLocks noGrp="1"/>
          </p:cNvSpPr>
          <p:nvPr>
            <p:ph idx="25" hasCustomPrompt="1"/>
          </p:nvPr>
        </p:nvSpPr>
        <p:spPr>
          <a:xfrm>
            <a:off x="6169397" y="3789196"/>
            <a:ext cx="2377451" cy="1061801"/>
          </a:xfrm>
        </p:spPr>
        <p:txBody>
          <a:bodyPr lIns="0" tIns="0" rIns="0" bIns="0">
            <a:normAutofit/>
          </a:bodyPr>
          <a:lstStyle>
            <a:lvl1pPr marL="0" indent="0" algn="l">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8" name="Rectangle 17">
            <a:extLst>
              <a:ext uri="{FF2B5EF4-FFF2-40B4-BE49-F238E27FC236}">
                <a16:creationId xmlns:a16="http://schemas.microsoft.com/office/drawing/2014/main" id="{C6F1B24E-B6B2-2D4F-8CE9-C10E33FBF4C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0" name="Picture 29" descr="The University of Iowa">
            <a:extLst>
              <a:ext uri="{FF2B5EF4-FFF2-40B4-BE49-F238E27FC236}">
                <a16:creationId xmlns:a16="http://schemas.microsoft.com/office/drawing/2014/main" id="{B9F9D999-694A-C64C-9BA8-FF37455DDD79}"/>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1" name="Footer Placeholder 4">
            <a:extLst>
              <a:ext uri="{FF2B5EF4-FFF2-40B4-BE49-F238E27FC236}">
                <a16:creationId xmlns:a16="http://schemas.microsoft.com/office/drawing/2014/main" id="{A000685F-E841-A44D-AC9C-173BD5E3C25A}"/>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
        <p:nvSpPr>
          <p:cNvPr id="34" name="Picture Placeholder 50">
            <a:extLst>
              <a:ext uri="{FF2B5EF4-FFF2-40B4-BE49-F238E27FC236}">
                <a16:creationId xmlns:a16="http://schemas.microsoft.com/office/drawing/2014/main" id="{F52BFEB6-775B-5540-A1D7-F6E3DDCDB834}"/>
              </a:ext>
            </a:extLst>
          </p:cNvPr>
          <p:cNvSpPr>
            <a:spLocks noGrp="1"/>
          </p:cNvSpPr>
          <p:nvPr>
            <p:ph type="pic" sz="quarter" idx="28"/>
          </p:nvPr>
        </p:nvSpPr>
        <p:spPr>
          <a:xfrm>
            <a:off x="4873763" y="2484685"/>
            <a:ext cx="940541" cy="930491"/>
          </a:xfrm>
        </p:spPr>
        <p:txBody>
          <a:bodyPr/>
          <a:lstStyle>
            <a:lvl1pPr marL="0" indent="0">
              <a:buNone/>
              <a:defRPr/>
            </a:lvl1pPr>
          </a:lstStyle>
          <a:p>
            <a:endParaRPr lang="en-US" dirty="0"/>
          </a:p>
        </p:txBody>
      </p:sp>
      <p:sp>
        <p:nvSpPr>
          <p:cNvPr id="35" name="Picture Placeholder 50">
            <a:extLst>
              <a:ext uri="{FF2B5EF4-FFF2-40B4-BE49-F238E27FC236}">
                <a16:creationId xmlns:a16="http://schemas.microsoft.com/office/drawing/2014/main" id="{3B2767A3-945C-8A48-8F63-467E5E2A4DDF}"/>
              </a:ext>
            </a:extLst>
          </p:cNvPr>
          <p:cNvSpPr>
            <a:spLocks noGrp="1"/>
          </p:cNvSpPr>
          <p:nvPr>
            <p:ph type="pic" sz="quarter" idx="29"/>
          </p:nvPr>
        </p:nvSpPr>
        <p:spPr>
          <a:xfrm>
            <a:off x="7606307" y="2484685"/>
            <a:ext cx="940541" cy="930491"/>
          </a:xfrm>
        </p:spPr>
        <p:txBody>
          <a:bodyPr/>
          <a:lstStyle>
            <a:lvl1pPr marL="0" indent="0">
              <a:buNone/>
              <a:defRPr/>
            </a:lvl1pPr>
          </a:lstStyle>
          <a:p>
            <a:endParaRPr lang="en-US" dirty="0"/>
          </a:p>
        </p:txBody>
      </p:sp>
    </p:spTree>
    <p:extLst>
      <p:ext uri="{BB962C8B-B14F-4D97-AF65-F5344CB8AC3E}">
        <p14:creationId xmlns:p14="http://schemas.microsoft.com/office/powerpoint/2010/main" val="171071268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7C3D46F0-0006-469D-9C96-A2B5BF708743}"/>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7A2738-1D29-40DE-AACF-F60CD708E892}"/>
              </a:ext>
              <a:ext uri="{C183D7F6-B498-43B3-948B-1728B52AA6E4}">
                <adec:decorative xmlns:adec="http://schemas.microsoft.com/office/drawing/2017/decorative" val="1"/>
              </a:ext>
            </a:extLst>
          </p:cNvPr>
          <p:cNvCxnSpPr/>
          <p:nvPr userDrawn="1"/>
        </p:nvCxnSpPr>
        <p:spPr>
          <a:xfrm>
            <a:off x="1901902" y="2921860"/>
            <a:ext cx="533326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D1ADFA24-184F-46B9-B1D0-3FBB044F3673}"/>
              </a:ext>
              <a:ext uri="{C183D7F6-B498-43B3-948B-1728B52AA6E4}">
                <adec:decorative xmlns:adec="http://schemas.microsoft.com/office/drawing/2017/decorative" val="1"/>
              </a:ext>
            </a:extLst>
          </p:cNvPr>
          <p:cNvSpPr/>
          <p:nvPr userDrawn="1"/>
        </p:nvSpPr>
        <p:spPr>
          <a:xfrm>
            <a:off x="1216102"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5" name="Picture Placeholder 3">
            <a:extLst>
              <a:ext uri="{FF2B5EF4-FFF2-40B4-BE49-F238E27FC236}">
                <a16:creationId xmlns:a16="http://schemas.microsoft.com/office/drawing/2014/main" id="{DC306F30-B3C1-E74C-B18C-7075DB0761DE}"/>
              </a:ext>
            </a:extLst>
          </p:cNvPr>
          <p:cNvSpPr>
            <a:spLocks noGrp="1"/>
          </p:cNvSpPr>
          <p:nvPr>
            <p:ph type="pic" sz="quarter" idx="21"/>
          </p:nvPr>
        </p:nvSpPr>
        <p:spPr>
          <a:xfrm>
            <a:off x="1472729" y="2553043"/>
            <a:ext cx="886809" cy="878171"/>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4078664"/>
            <a:ext cx="2375055"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462289" y="4078664"/>
            <a:ext cx="2230029"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2</a:t>
            </a:r>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047636" y="4078663"/>
            <a:ext cx="2375055"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8" name="Rectangle 17">
            <a:extLst>
              <a:ext uri="{FF2B5EF4-FFF2-40B4-BE49-F238E27FC236}">
                <a16:creationId xmlns:a16="http://schemas.microsoft.com/office/drawing/2014/main" id="{C6F1B24E-B6B2-2D4F-8CE9-C10E33FBF4C2}"/>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4" name="Picture 23" descr="The University of Iowa">
            <a:extLst>
              <a:ext uri="{FF2B5EF4-FFF2-40B4-BE49-F238E27FC236}">
                <a16:creationId xmlns:a16="http://schemas.microsoft.com/office/drawing/2014/main" id="{A13C9DCC-5284-6A4A-A857-E196C97A3071}"/>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8" name="Footer Placeholder 4">
            <a:extLst>
              <a:ext uri="{FF2B5EF4-FFF2-40B4-BE49-F238E27FC236}">
                <a16:creationId xmlns:a16="http://schemas.microsoft.com/office/drawing/2014/main" id="{EE85593F-9DA3-E843-83EA-BB61BA6E56AE}"/>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
        <p:nvSpPr>
          <p:cNvPr id="29" name="Oval 28">
            <a:extLst>
              <a:ext uri="{FF2B5EF4-FFF2-40B4-BE49-F238E27FC236}">
                <a16:creationId xmlns:a16="http://schemas.microsoft.com/office/drawing/2014/main" id="{DF1D17A9-33ED-0C42-9E29-A5641F8C0AFE}"/>
              </a:ext>
              <a:ext uri="{C183D7F6-B498-43B3-948B-1728B52AA6E4}">
                <adec:decorative xmlns:adec="http://schemas.microsoft.com/office/drawing/2017/decorative" val="1"/>
              </a:ext>
            </a:extLst>
          </p:cNvPr>
          <p:cNvSpPr/>
          <p:nvPr userDrawn="1"/>
        </p:nvSpPr>
        <p:spPr>
          <a:xfrm>
            <a:off x="3859924"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0" name="Picture Placeholder 3">
            <a:extLst>
              <a:ext uri="{FF2B5EF4-FFF2-40B4-BE49-F238E27FC236}">
                <a16:creationId xmlns:a16="http://schemas.microsoft.com/office/drawing/2014/main" id="{569A0A84-E625-844B-BFE2-C1C6287E290E}"/>
              </a:ext>
            </a:extLst>
          </p:cNvPr>
          <p:cNvSpPr>
            <a:spLocks noGrp="1"/>
          </p:cNvSpPr>
          <p:nvPr>
            <p:ph type="pic" sz="quarter" idx="24"/>
          </p:nvPr>
        </p:nvSpPr>
        <p:spPr>
          <a:xfrm>
            <a:off x="4103299" y="2553043"/>
            <a:ext cx="886809" cy="878171"/>
          </a:xfrm>
        </p:spPr>
        <p:txBody>
          <a:bodyPr/>
          <a:lstStyle>
            <a:lvl1pPr>
              <a:buNone/>
              <a:defRPr/>
            </a:lvl1pPr>
          </a:lstStyle>
          <a:p>
            <a:endParaRPr lang="en-US" dirty="0"/>
          </a:p>
        </p:txBody>
      </p:sp>
      <p:sp>
        <p:nvSpPr>
          <p:cNvPr id="31" name="Oval 30">
            <a:extLst>
              <a:ext uri="{FF2B5EF4-FFF2-40B4-BE49-F238E27FC236}">
                <a16:creationId xmlns:a16="http://schemas.microsoft.com/office/drawing/2014/main" id="{A5736D78-B363-E54C-9445-910A8845B60F}"/>
              </a:ext>
              <a:ext uri="{C183D7F6-B498-43B3-948B-1728B52AA6E4}">
                <adec:decorative xmlns:adec="http://schemas.microsoft.com/office/drawing/2017/decorative" val="1"/>
              </a:ext>
            </a:extLst>
          </p:cNvPr>
          <p:cNvSpPr/>
          <p:nvPr userDrawn="1"/>
        </p:nvSpPr>
        <p:spPr>
          <a:xfrm>
            <a:off x="6503747" y="2265939"/>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2" name="Picture Placeholder 3">
            <a:extLst>
              <a:ext uri="{FF2B5EF4-FFF2-40B4-BE49-F238E27FC236}">
                <a16:creationId xmlns:a16="http://schemas.microsoft.com/office/drawing/2014/main" id="{AE5BD224-C6F0-A44B-8415-008E871A701D}"/>
              </a:ext>
            </a:extLst>
          </p:cNvPr>
          <p:cNvSpPr>
            <a:spLocks noGrp="1"/>
          </p:cNvSpPr>
          <p:nvPr>
            <p:ph type="pic" sz="quarter" idx="25"/>
          </p:nvPr>
        </p:nvSpPr>
        <p:spPr>
          <a:xfrm>
            <a:off x="6760374" y="2552669"/>
            <a:ext cx="886809" cy="878171"/>
          </a:xfrm>
        </p:spPr>
        <p:txBody>
          <a:bodyPr/>
          <a:lstStyle>
            <a:lvl1pPr>
              <a:buNone/>
              <a:defRPr/>
            </a:lvl1pPr>
          </a:lstStyle>
          <a:p>
            <a:endParaRPr lang="en-US" dirty="0"/>
          </a:p>
        </p:txBody>
      </p:sp>
    </p:spTree>
    <p:extLst>
      <p:ext uri="{BB962C8B-B14F-4D97-AF65-F5344CB8AC3E}">
        <p14:creationId xmlns:p14="http://schemas.microsoft.com/office/powerpoint/2010/main" val="73395191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Icon Layou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1B9DD2E6-4011-470E-85A1-9331B2E255C8}"/>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D6361F7-376B-4B6B-90CB-982F8C88D3AB}"/>
              </a:ext>
              <a:ext uri="{C183D7F6-B498-43B3-948B-1728B52AA6E4}">
                <adec:decorative xmlns:adec="http://schemas.microsoft.com/office/drawing/2017/decorative" val="1"/>
              </a:ext>
            </a:extLst>
          </p:cNvPr>
          <p:cNvCxnSpPr/>
          <p:nvPr userDrawn="1"/>
        </p:nvCxnSpPr>
        <p:spPr>
          <a:xfrm>
            <a:off x="1901902" y="2921860"/>
            <a:ext cx="533326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5C06C296-F787-402D-AC65-1E55B4D25C69}"/>
              </a:ext>
            </a:extLst>
          </p:cNvPr>
          <p:cNvSpPr>
            <a:spLocks noGrp="1"/>
          </p:cNvSpPr>
          <p:nvPr>
            <p:ph idx="17" hasCustomPrompt="1"/>
          </p:nvPr>
        </p:nvSpPr>
        <p:spPr>
          <a:xfrm>
            <a:off x="714375" y="4078664"/>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6" name="Content Placeholder 2">
            <a:extLst>
              <a:ext uri="{FF2B5EF4-FFF2-40B4-BE49-F238E27FC236}">
                <a16:creationId xmlns:a16="http://schemas.microsoft.com/office/drawing/2014/main" id="{8C7F2CE8-9E91-4C86-99AB-686A9C810419}"/>
              </a:ext>
            </a:extLst>
          </p:cNvPr>
          <p:cNvSpPr>
            <a:spLocks noGrp="1"/>
          </p:cNvSpPr>
          <p:nvPr>
            <p:ph idx="18" hasCustomPrompt="1"/>
          </p:nvPr>
        </p:nvSpPr>
        <p:spPr>
          <a:xfrm>
            <a:off x="2720638" y="4078664"/>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28" name="Content Placeholder 2">
            <a:extLst>
              <a:ext uri="{FF2B5EF4-FFF2-40B4-BE49-F238E27FC236}">
                <a16:creationId xmlns:a16="http://schemas.microsoft.com/office/drawing/2014/main" id="{BC06D7C8-7D2D-4A80-B5B8-174F5056AA0B}"/>
              </a:ext>
            </a:extLst>
          </p:cNvPr>
          <p:cNvSpPr>
            <a:spLocks noGrp="1"/>
          </p:cNvSpPr>
          <p:nvPr>
            <p:ph idx="19" hasCustomPrompt="1"/>
          </p:nvPr>
        </p:nvSpPr>
        <p:spPr>
          <a:xfrm>
            <a:off x="4654213" y="4078664"/>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30" name="Content Placeholder 2">
            <a:extLst>
              <a:ext uri="{FF2B5EF4-FFF2-40B4-BE49-F238E27FC236}">
                <a16:creationId xmlns:a16="http://schemas.microsoft.com/office/drawing/2014/main" id="{8FC2F9F8-450A-4433-BAFC-DCD0001FAF1D}"/>
              </a:ext>
            </a:extLst>
          </p:cNvPr>
          <p:cNvSpPr>
            <a:spLocks noGrp="1"/>
          </p:cNvSpPr>
          <p:nvPr>
            <p:ph idx="20" hasCustomPrompt="1"/>
          </p:nvPr>
        </p:nvSpPr>
        <p:spPr>
          <a:xfrm>
            <a:off x="6660475" y="4073057"/>
            <a:ext cx="1769150" cy="754602"/>
          </a:xfrm>
        </p:spPr>
        <p:txBody>
          <a:bodyPr lIns="0" tIns="0" rIns="0" bIns="0">
            <a:normAutofit/>
          </a:bodyPr>
          <a:lstStyle>
            <a:lvl1pPr marL="0" indent="0" algn="ctr">
              <a:buSzPct val="95000"/>
              <a:buFont typeface="Arial" panose="020B0604020202020204" pitchFamily="34" charset="0"/>
              <a:buNone/>
              <a:defRPr sz="20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a:t>
            </a:r>
            <a:br>
              <a:rPr lang="en-US" dirty="0"/>
            </a:br>
            <a:r>
              <a:rPr lang="en-US" dirty="0"/>
              <a:t>item or step 1</a:t>
            </a:r>
          </a:p>
        </p:txBody>
      </p:sp>
      <p:sp>
        <p:nvSpPr>
          <p:cNvPr id="16" name="Rectangle 15">
            <a:extLst>
              <a:ext uri="{FF2B5EF4-FFF2-40B4-BE49-F238E27FC236}">
                <a16:creationId xmlns:a16="http://schemas.microsoft.com/office/drawing/2014/main" id="{D4578BB7-B3A6-0D4A-A743-C8950F9817AE}"/>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34" name="Picture 33" descr="The University of Iowa">
            <a:extLst>
              <a:ext uri="{FF2B5EF4-FFF2-40B4-BE49-F238E27FC236}">
                <a16:creationId xmlns:a16="http://schemas.microsoft.com/office/drawing/2014/main" id="{E6A101F6-A986-EA4C-85FF-846F802DF0A9}"/>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35" name="Footer Placeholder 4">
            <a:extLst>
              <a:ext uri="{FF2B5EF4-FFF2-40B4-BE49-F238E27FC236}">
                <a16:creationId xmlns:a16="http://schemas.microsoft.com/office/drawing/2014/main" id="{DBA4A05F-7745-F24C-BB9F-0EF0456B4EAA}"/>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
        <p:nvSpPr>
          <p:cNvPr id="36" name="Oval 35">
            <a:extLst>
              <a:ext uri="{FF2B5EF4-FFF2-40B4-BE49-F238E27FC236}">
                <a16:creationId xmlns:a16="http://schemas.microsoft.com/office/drawing/2014/main" id="{F794BC38-28A2-BC4E-9A38-652E9790E452}"/>
              </a:ext>
              <a:ext uri="{C183D7F6-B498-43B3-948B-1728B52AA6E4}">
                <adec:decorative xmlns:adec="http://schemas.microsoft.com/office/drawing/2017/decorative" val="1"/>
              </a:ext>
            </a:extLst>
          </p:cNvPr>
          <p:cNvSpPr/>
          <p:nvPr userDrawn="1"/>
        </p:nvSpPr>
        <p:spPr>
          <a:xfrm>
            <a:off x="952785" y="2244527"/>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7" name="Picture Placeholder 3">
            <a:extLst>
              <a:ext uri="{FF2B5EF4-FFF2-40B4-BE49-F238E27FC236}">
                <a16:creationId xmlns:a16="http://schemas.microsoft.com/office/drawing/2014/main" id="{BEB5B93C-855D-1841-B46E-5C7DC4474C9D}"/>
              </a:ext>
            </a:extLst>
          </p:cNvPr>
          <p:cNvSpPr>
            <a:spLocks noGrp="1"/>
          </p:cNvSpPr>
          <p:nvPr>
            <p:ph type="pic" sz="quarter" idx="25"/>
          </p:nvPr>
        </p:nvSpPr>
        <p:spPr>
          <a:xfrm>
            <a:off x="1169656" y="2531257"/>
            <a:ext cx="886809" cy="878171"/>
          </a:xfrm>
        </p:spPr>
        <p:txBody>
          <a:bodyPr/>
          <a:lstStyle>
            <a:lvl1pPr>
              <a:buNone/>
              <a:defRPr/>
            </a:lvl1pPr>
          </a:lstStyle>
          <a:p>
            <a:endParaRPr lang="en-US" dirty="0"/>
          </a:p>
        </p:txBody>
      </p:sp>
      <p:sp>
        <p:nvSpPr>
          <p:cNvPr id="38" name="Oval 37">
            <a:extLst>
              <a:ext uri="{FF2B5EF4-FFF2-40B4-BE49-F238E27FC236}">
                <a16:creationId xmlns:a16="http://schemas.microsoft.com/office/drawing/2014/main" id="{B88EAE07-826D-E648-AD1B-C375586FE0F9}"/>
              </a:ext>
              <a:ext uri="{C183D7F6-B498-43B3-948B-1728B52AA6E4}">
                <adec:decorative xmlns:adec="http://schemas.microsoft.com/office/drawing/2017/decorative" val="1"/>
              </a:ext>
            </a:extLst>
          </p:cNvPr>
          <p:cNvSpPr/>
          <p:nvPr userDrawn="1"/>
        </p:nvSpPr>
        <p:spPr>
          <a:xfrm>
            <a:off x="2905813"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9" name="Picture Placeholder 3">
            <a:extLst>
              <a:ext uri="{FF2B5EF4-FFF2-40B4-BE49-F238E27FC236}">
                <a16:creationId xmlns:a16="http://schemas.microsoft.com/office/drawing/2014/main" id="{6B4B3321-3FE0-F24B-B46D-CBEB820F0DB5}"/>
              </a:ext>
            </a:extLst>
          </p:cNvPr>
          <p:cNvSpPr>
            <a:spLocks noGrp="1"/>
          </p:cNvSpPr>
          <p:nvPr>
            <p:ph type="pic" sz="quarter" idx="21"/>
          </p:nvPr>
        </p:nvSpPr>
        <p:spPr>
          <a:xfrm>
            <a:off x="3205973" y="2546988"/>
            <a:ext cx="806295" cy="798442"/>
          </a:xfrm>
        </p:spPr>
        <p:txBody>
          <a:bodyPr/>
          <a:lstStyle>
            <a:lvl1pPr>
              <a:buNone/>
              <a:defRPr/>
            </a:lvl1pPr>
          </a:lstStyle>
          <a:p>
            <a:endParaRPr lang="en-US" dirty="0"/>
          </a:p>
        </p:txBody>
      </p:sp>
      <p:sp>
        <p:nvSpPr>
          <p:cNvPr id="40" name="Oval 39">
            <a:extLst>
              <a:ext uri="{FF2B5EF4-FFF2-40B4-BE49-F238E27FC236}">
                <a16:creationId xmlns:a16="http://schemas.microsoft.com/office/drawing/2014/main" id="{6B3422DB-51E9-564F-9FE0-BE73E0376126}"/>
              </a:ext>
              <a:ext uri="{C183D7F6-B498-43B3-948B-1728B52AA6E4}">
                <adec:decorative xmlns:adec="http://schemas.microsoft.com/office/drawing/2017/decorative" val="1"/>
              </a:ext>
            </a:extLst>
          </p:cNvPr>
          <p:cNvSpPr/>
          <p:nvPr userDrawn="1"/>
        </p:nvSpPr>
        <p:spPr>
          <a:xfrm>
            <a:off x="4887656" y="2266313"/>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1" name="Picture Placeholder 3">
            <a:extLst>
              <a:ext uri="{FF2B5EF4-FFF2-40B4-BE49-F238E27FC236}">
                <a16:creationId xmlns:a16="http://schemas.microsoft.com/office/drawing/2014/main" id="{2E216002-26D5-D44D-B1E3-F7FFA5933B39}"/>
              </a:ext>
            </a:extLst>
          </p:cNvPr>
          <p:cNvSpPr>
            <a:spLocks noGrp="1"/>
          </p:cNvSpPr>
          <p:nvPr>
            <p:ph type="pic" sz="quarter" idx="26"/>
          </p:nvPr>
        </p:nvSpPr>
        <p:spPr>
          <a:xfrm>
            <a:off x="5167368" y="2546987"/>
            <a:ext cx="825546" cy="817505"/>
          </a:xfrm>
        </p:spPr>
        <p:txBody>
          <a:bodyPr/>
          <a:lstStyle>
            <a:lvl1pPr>
              <a:buNone/>
              <a:defRPr/>
            </a:lvl1pPr>
          </a:lstStyle>
          <a:p>
            <a:endParaRPr lang="en-US" dirty="0"/>
          </a:p>
        </p:txBody>
      </p:sp>
      <p:sp>
        <p:nvSpPr>
          <p:cNvPr id="42" name="Oval 41">
            <a:extLst>
              <a:ext uri="{FF2B5EF4-FFF2-40B4-BE49-F238E27FC236}">
                <a16:creationId xmlns:a16="http://schemas.microsoft.com/office/drawing/2014/main" id="{96648D4D-6BD9-F24C-955D-9701360F7A42}"/>
              </a:ext>
              <a:ext uri="{C183D7F6-B498-43B3-948B-1728B52AA6E4}">
                <adec:decorative xmlns:adec="http://schemas.microsoft.com/office/drawing/2017/decorative" val="1"/>
              </a:ext>
            </a:extLst>
          </p:cNvPr>
          <p:cNvSpPr/>
          <p:nvPr userDrawn="1"/>
        </p:nvSpPr>
        <p:spPr>
          <a:xfrm>
            <a:off x="6819615" y="2244527"/>
            <a:ext cx="1371600" cy="1371600"/>
          </a:xfrm>
          <a:prstGeom prst="ellipse">
            <a:avLst/>
          </a:prstGeom>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3" name="Picture Placeholder 3">
            <a:extLst>
              <a:ext uri="{FF2B5EF4-FFF2-40B4-BE49-F238E27FC236}">
                <a16:creationId xmlns:a16="http://schemas.microsoft.com/office/drawing/2014/main" id="{E602C083-BC5F-514B-8FA9-A814C3E27430}"/>
              </a:ext>
            </a:extLst>
          </p:cNvPr>
          <p:cNvSpPr>
            <a:spLocks noGrp="1"/>
          </p:cNvSpPr>
          <p:nvPr>
            <p:ph type="pic" sz="quarter" idx="27"/>
          </p:nvPr>
        </p:nvSpPr>
        <p:spPr>
          <a:xfrm>
            <a:off x="7086775" y="2525203"/>
            <a:ext cx="825548" cy="817506"/>
          </a:xfrm>
        </p:spPr>
        <p:txBody>
          <a:bodyPr/>
          <a:lstStyle>
            <a:lvl1pPr>
              <a:buNone/>
              <a:defRPr/>
            </a:lvl1pPr>
          </a:lstStyle>
          <a:p>
            <a:endParaRPr lang="en-US" dirty="0"/>
          </a:p>
        </p:txBody>
      </p:sp>
    </p:spTree>
    <p:extLst>
      <p:ext uri="{BB962C8B-B14F-4D97-AF65-F5344CB8AC3E}">
        <p14:creationId xmlns:p14="http://schemas.microsoft.com/office/powerpoint/2010/main" val="1568389576"/>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 Photo Layou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B103BAF8-AE0C-4C2A-AFFE-5EFC74007B1B}"/>
              </a:ext>
            </a:extLst>
          </p:cNvPr>
          <p:cNvSpPr>
            <a:spLocks noGrp="1"/>
          </p:cNvSpPr>
          <p:nvPr>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4C29AABA-668F-408C-81ED-9A30ED0A4BE9}"/>
              </a:ext>
            </a:extLst>
          </p:cNvPr>
          <p:cNvSpPr>
            <a:spLocks noGrp="1"/>
          </p:cNvSpPr>
          <p:nvPr>
            <p:ph type="pic" sz="quarter" idx="15"/>
          </p:nvPr>
        </p:nvSpPr>
        <p:spPr>
          <a:xfrm>
            <a:off x="711994" y="1684461"/>
            <a:ext cx="2377679"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5" y="3548916"/>
            <a:ext cx="2375055"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p:ph idx="10" hasCustomPrompt="1"/>
          </p:nvPr>
        </p:nvSpPr>
        <p:spPr>
          <a:xfrm>
            <a:off x="714376" y="4264538"/>
            <a:ext cx="2375055" cy="14084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3282518"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Picture Placeholder 3">
            <a:extLst>
              <a:ext uri="{FF2B5EF4-FFF2-40B4-BE49-F238E27FC236}">
                <a16:creationId xmlns:a16="http://schemas.microsoft.com/office/drawing/2014/main" id="{3C3EF38F-8A6A-4B49-A1A2-467E7797A518}"/>
              </a:ext>
            </a:extLst>
          </p:cNvPr>
          <p:cNvSpPr>
            <a:spLocks noGrp="1"/>
          </p:cNvSpPr>
          <p:nvPr>
            <p:ph type="pic" sz="quarter" idx="16"/>
          </p:nvPr>
        </p:nvSpPr>
        <p:spPr>
          <a:xfrm>
            <a:off x="3451836" y="1677611"/>
            <a:ext cx="2240483" cy="1621608"/>
          </a:xfrm>
        </p:spPr>
        <p:txBody>
          <a:bodyPr/>
          <a:lstStyle>
            <a:lvl1pPr>
              <a:buNone/>
              <a:defRPr/>
            </a:lvl1pPr>
          </a:lstStyle>
          <a:p>
            <a:endParaRPr lang="en-US" dirty="0"/>
          </a:p>
        </p:txBody>
      </p:sp>
      <p:sp>
        <p:nvSpPr>
          <p:cNvPr id="15" name="Content Placeholder 2">
            <a:extLst>
              <a:ext uri="{FF2B5EF4-FFF2-40B4-BE49-F238E27FC236}">
                <a16:creationId xmlns:a16="http://schemas.microsoft.com/office/drawing/2014/main" id="{700A296A-0A06-4FFB-B935-517187294F6B}"/>
              </a:ext>
            </a:extLst>
          </p:cNvPr>
          <p:cNvSpPr>
            <a:spLocks noGrp="1"/>
          </p:cNvSpPr>
          <p:nvPr>
            <p:ph idx="11" hasCustomPrompt="1"/>
          </p:nvPr>
        </p:nvSpPr>
        <p:spPr>
          <a:xfrm>
            <a:off x="3462289" y="3537679"/>
            <a:ext cx="2230029"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6" name="Content Placeholder 2">
            <a:extLst>
              <a:ext uri="{FF2B5EF4-FFF2-40B4-BE49-F238E27FC236}">
                <a16:creationId xmlns:a16="http://schemas.microsoft.com/office/drawing/2014/main" id="{4DA600F9-1950-41BD-ACB3-21F2B5AE9494}"/>
              </a:ext>
            </a:extLst>
          </p:cNvPr>
          <p:cNvSpPr>
            <a:spLocks noGrp="1"/>
          </p:cNvSpPr>
          <p:nvPr>
            <p:ph idx="12" hasCustomPrompt="1"/>
          </p:nvPr>
        </p:nvSpPr>
        <p:spPr>
          <a:xfrm>
            <a:off x="3462290" y="4253301"/>
            <a:ext cx="2230029" cy="14084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5854823" y="1679383"/>
            <a:ext cx="0" cy="42642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Picture Placeholder 3">
            <a:extLst>
              <a:ext uri="{FF2B5EF4-FFF2-40B4-BE49-F238E27FC236}">
                <a16:creationId xmlns:a16="http://schemas.microsoft.com/office/drawing/2014/main" id="{DDD8951C-5A36-4D07-AB7C-0F597B3D797D}"/>
              </a:ext>
            </a:extLst>
          </p:cNvPr>
          <p:cNvSpPr>
            <a:spLocks noGrp="1"/>
          </p:cNvSpPr>
          <p:nvPr>
            <p:ph type="pic" sz="quarter" idx="17"/>
          </p:nvPr>
        </p:nvSpPr>
        <p:spPr>
          <a:xfrm>
            <a:off x="6054481" y="1684461"/>
            <a:ext cx="2375144" cy="1621608"/>
          </a:xfrm>
        </p:spPr>
        <p:txBody>
          <a:bodyPr/>
          <a:lstStyle>
            <a:lvl1pPr>
              <a:buNone/>
              <a:defRPr/>
            </a:lvl1pPr>
          </a:lstStyle>
          <a:p>
            <a:endParaRPr lang="en-US" dirty="0"/>
          </a:p>
        </p:txBody>
      </p:sp>
      <p:sp>
        <p:nvSpPr>
          <p:cNvPr id="17" name="Content Placeholder 2">
            <a:extLst>
              <a:ext uri="{FF2B5EF4-FFF2-40B4-BE49-F238E27FC236}">
                <a16:creationId xmlns:a16="http://schemas.microsoft.com/office/drawing/2014/main" id="{D4DB30FF-E82C-424F-A06C-EFC3CFC45E36}"/>
              </a:ext>
            </a:extLst>
          </p:cNvPr>
          <p:cNvSpPr>
            <a:spLocks noGrp="1"/>
          </p:cNvSpPr>
          <p:nvPr>
            <p:ph idx="13" hasCustomPrompt="1"/>
          </p:nvPr>
        </p:nvSpPr>
        <p:spPr>
          <a:xfrm>
            <a:off x="6047636" y="3537679"/>
            <a:ext cx="2375055"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8" name="Content Placeholder 2">
            <a:extLst>
              <a:ext uri="{FF2B5EF4-FFF2-40B4-BE49-F238E27FC236}">
                <a16:creationId xmlns:a16="http://schemas.microsoft.com/office/drawing/2014/main" id="{36DC4408-89C4-4D74-957E-B2A4D59F76AE}"/>
              </a:ext>
            </a:extLst>
          </p:cNvPr>
          <p:cNvSpPr>
            <a:spLocks noGrp="1"/>
          </p:cNvSpPr>
          <p:nvPr>
            <p:ph idx="14" hasCustomPrompt="1"/>
          </p:nvPr>
        </p:nvSpPr>
        <p:spPr>
          <a:xfrm>
            <a:off x="6047636" y="4253301"/>
            <a:ext cx="2375055" cy="1408471"/>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3" name="Rectangle 22">
            <a:extLst>
              <a:ext uri="{FF2B5EF4-FFF2-40B4-BE49-F238E27FC236}">
                <a16:creationId xmlns:a16="http://schemas.microsoft.com/office/drawing/2014/main" id="{02DAB539-1500-4641-B587-77CADD883496}"/>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0" name="Picture 19" descr="The University of Iowa">
            <a:extLst>
              <a:ext uri="{FF2B5EF4-FFF2-40B4-BE49-F238E27FC236}">
                <a16:creationId xmlns:a16="http://schemas.microsoft.com/office/drawing/2014/main" id="{366D8D2D-32DD-794A-9976-853EF650004D}"/>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2" name="Footer Placeholder 4">
            <a:extLst>
              <a:ext uri="{FF2B5EF4-FFF2-40B4-BE49-F238E27FC236}">
                <a16:creationId xmlns:a16="http://schemas.microsoft.com/office/drawing/2014/main" id="{46934CAC-A1D4-6545-B8FE-B5DAC1E7D2F0}"/>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664682089"/>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7" orient="horz" pos="3744" userDrawn="1">
          <p15:clr>
            <a:srgbClr val="FBAE40"/>
          </p15:clr>
        </p15:guide>
        <p15:guide id="8" orient="horz" pos="697" userDrawn="1">
          <p15:clr>
            <a:srgbClr val="FBAE40"/>
          </p15:clr>
        </p15:guide>
        <p15:guide id="9" orient="horz" pos="240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lumn Photo Layou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D42FEC1B-FCF8-4508-B227-27323879AC52}"/>
              </a:ext>
            </a:extLst>
          </p:cNvPr>
          <p:cNvSpPr>
            <a:spLocks noGrp="1"/>
          </p:cNvSpPr>
          <p:nvPr userDrawn="1">
            <p:ph type="title"/>
          </p:nvPr>
        </p:nvSpPr>
        <p:spPr>
          <a:xfrm>
            <a:off x="714375" y="526778"/>
            <a:ext cx="7715251" cy="869089"/>
          </a:xfrm>
        </p:spPr>
        <p:txBody>
          <a:bodyPr lIns="0" tIns="0" rIns="0" bIns="0">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7" name="Straight Connector 6">
            <a:extLst>
              <a:ext uri="{FF2B5EF4-FFF2-40B4-BE49-F238E27FC236}">
                <a16:creationId xmlns:a16="http://schemas.microsoft.com/office/drawing/2014/main" id="{E7D57D41-E534-4387-8837-F27E5C2408BD}"/>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26" name="Picture Placeholder 3">
            <a:extLst>
              <a:ext uri="{FF2B5EF4-FFF2-40B4-BE49-F238E27FC236}">
                <a16:creationId xmlns:a16="http://schemas.microsoft.com/office/drawing/2014/main" id="{E21D4365-BAA8-4F76-87AD-1A328301E298}"/>
              </a:ext>
            </a:extLst>
          </p:cNvPr>
          <p:cNvSpPr>
            <a:spLocks noGrp="1"/>
          </p:cNvSpPr>
          <p:nvPr>
            <p:ph type="pic" sz="quarter" idx="19"/>
          </p:nvPr>
        </p:nvSpPr>
        <p:spPr>
          <a:xfrm>
            <a:off x="711994" y="1684461"/>
            <a:ext cx="1780454" cy="1621608"/>
          </a:xfrm>
        </p:spPr>
        <p:txBody>
          <a:bodyPr/>
          <a:lstStyle>
            <a:lvl1pPr>
              <a:buNone/>
              <a:defRPr/>
            </a:lvl1pPr>
          </a:lstStyle>
          <a:p>
            <a:endParaRPr lang="en-US" dirty="0"/>
          </a:p>
        </p:txBody>
      </p:sp>
      <p:sp>
        <p:nvSpPr>
          <p:cNvPr id="5" name="Content Placeholder 2">
            <a:extLst>
              <a:ext uri="{FF2B5EF4-FFF2-40B4-BE49-F238E27FC236}">
                <a16:creationId xmlns:a16="http://schemas.microsoft.com/office/drawing/2014/main" id="{94F85108-BDC9-43A2-BEF1-240E666F4E03}"/>
              </a:ext>
            </a:extLst>
          </p:cNvPr>
          <p:cNvSpPr>
            <a:spLocks noGrp="1"/>
          </p:cNvSpPr>
          <p:nvPr>
            <p:ph idx="1" hasCustomPrompt="1"/>
          </p:nvPr>
        </p:nvSpPr>
        <p:spPr>
          <a:xfrm>
            <a:off x="714376" y="3545060"/>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14" name="Content Placeholder 2">
            <a:extLst>
              <a:ext uri="{FF2B5EF4-FFF2-40B4-BE49-F238E27FC236}">
                <a16:creationId xmlns:a16="http://schemas.microsoft.com/office/drawing/2014/main" id="{968A6427-DC92-4AE6-82DE-34A0B3A972EE}"/>
              </a:ext>
            </a:extLst>
          </p:cNvPr>
          <p:cNvSpPr>
            <a:spLocks noGrp="1"/>
          </p:cNvSpPr>
          <p:nvPr userDrawn="1">
            <p:ph idx="10" hasCustomPrompt="1"/>
          </p:nvPr>
        </p:nvSpPr>
        <p:spPr>
          <a:xfrm>
            <a:off x="714376" y="4240050"/>
            <a:ext cx="1769150" cy="14084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1" name="Straight Connector 10">
            <a:extLst>
              <a:ext uri="{FF2B5EF4-FFF2-40B4-BE49-F238E27FC236}">
                <a16:creationId xmlns:a16="http://schemas.microsoft.com/office/drawing/2014/main" id="{7336E4CD-9037-4D69-A3E3-6380D9131A19}"/>
              </a:ext>
            </a:extLst>
          </p:cNvPr>
          <p:cNvCxnSpPr/>
          <p:nvPr userDrawn="1"/>
        </p:nvCxnSpPr>
        <p:spPr>
          <a:xfrm>
            <a:off x="2580885"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Picture Placeholder 3">
            <a:extLst>
              <a:ext uri="{FF2B5EF4-FFF2-40B4-BE49-F238E27FC236}">
                <a16:creationId xmlns:a16="http://schemas.microsoft.com/office/drawing/2014/main" id="{EB10E167-B94B-AD40-958C-D9E0F8F9DF4A}"/>
              </a:ext>
            </a:extLst>
          </p:cNvPr>
          <p:cNvSpPr>
            <a:spLocks noGrp="1"/>
          </p:cNvSpPr>
          <p:nvPr userDrawn="1">
            <p:ph type="pic" sz="quarter" idx="23"/>
          </p:nvPr>
        </p:nvSpPr>
        <p:spPr>
          <a:xfrm>
            <a:off x="2695022" y="1684461"/>
            <a:ext cx="1780454" cy="1621608"/>
          </a:xfrm>
        </p:spPr>
        <p:txBody>
          <a:bodyPr/>
          <a:lstStyle>
            <a:lvl1pPr>
              <a:buNone/>
              <a:defRPr/>
            </a:lvl1pPr>
          </a:lstStyle>
          <a:p>
            <a:endParaRPr lang="en-US" dirty="0"/>
          </a:p>
        </p:txBody>
      </p:sp>
      <p:sp>
        <p:nvSpPr>
          <p:cNvPr id="25" name="Content Placeholder 2">
            <a:extLst>
              <a:ext uri="{FF2B5EF4-FFF2-40B4-BE49-F238E27FC236}">
                <a16:creationId xmlns:a16="http://schemas.microsoft.com/office/drawing/2014/main" id="{C03DF098-BB37-5848-9388-750D29EFC657}"/>
              </a:ext>
            </a:extLst>
          </p:cNvPr>
          <p:cNvSpPr>
            <a:spLocks noGrp="1"/>
          </p:cNvSpPr>
          <p:nvPr userDrawn="1">
            <p:ph idx="24" hasCustomPrompt="1"/>
          </p:nvPr>
        </p:nvSpPr>
        <p:spPr>
          <a:xfrm>
            <a:off x="2722790" y="3545060"/>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3" name="Content Placeholder 2">
            <a:extLst>
              <a:ext uri="{FF2B5EF4-FFF2-40B4-BE49-F238E27FC236}">
                <a16:creationId xmlns:a16="http://schemas.microsoft.com/office/drawing/2014/main" id="{6FE4DEF0-41BC-4548-B7BA-1E5B0231AFFD}"/>
              </a:ext>
            </a:extLst>
          </p:cNvPr>
          <p:cNvSpPr>
            <a:spLocks noGrp="1"/>
          </p:cNvSpPr>
          <p:nvPr userDrawn="1">
            <p:ph idx="25" hasCustomPrompt="1"/>
          </p:nvPr>
        </p:nvSpPr>
        <p:spPr>
          <a:xfrm>
            <a:off x="2722791" y="4240050"/>
            <a:ext cx="1769150" cy="14084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22" name="Straight Connector 21">
            <a:extLst>
              <a:ext uri="{FF2B5EF4-FFF2-40B4-BE49-F238E27FC236}">
                <a16:creationId xmlns:a16="http://schemas.microsoft.com/office/drawing/2014/main" id="{CEF932C4-F1C3-47F2-84B8-FEC885C1843C}"/>
              </a:ext>
            </a:extLst>
          </p:cNvPr>
          <p:cNvCxnSpPr/>
          <p:nvPr userDrawn="1"/>
        </p:nvCxnSpPr>
        <p:spPr>
          <a:xfrm>
            <a:off x="4571805" y="1686759"/>
            <a:ext cx="0" cy="429362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4" name="Picture Placeholder 3">
            <a:extLst>
              <a:ext uri="{FF2B5EF4-FFF2-40B4-BE49-F238E27FC236}">
                <a16:creationId xmlns:a16="http://schemas.microsoft.com/office/drawing/2014/main" id="{864CDDAA-23B4-C842-845C-7640D95F2B65}"/>
              </a:ext>
            </a:extLst>
          </p:cNvPr>
          <p:cNvSpPr>
            <a:spLocks noGrp="1"/>
          </p:cNvSpPr>
          <p:nvPr userDrawn="1">
            <p:ph type="pic" sz="quarter" idx="26"/>
          </p:nvPr>
        </p:nvSpPr>
        <p:spPr>
          <a:xfrm>
            <a:off x="4678050" y="1684461"/>
            <a:ext cx="1780454" cy="1621608"/>
          </a:xfrm>
        </p:spPr>
        <p:txBody>
          <a:bodyPr/>
          <a:lstStyle>
            <a:lvl1pPr>
              <a:buNone/>
              <a:defRPr/>
            </a:lvl1pPr>
          </a:lstStyle>
          <a:p>
            <a:endParaRPr lang="en-US" dirty="0"/>
          </a:p>
        </p:txBody>
      </p:sp>
      <p:sp>
        <p:nvSpPr>
          <p:cNvPr id="35" name="Content Placeholder 2">
            <a:extLst>
              <a:ext uri="{FF2B5EF4-FFF2-40B4-BE49-F238E27FC236}">
                <a16:creationId xmlns:a16="http://schemas.microsoft.com/office/drawing/2014/main" id="{DEB8CCE3-3756-5947-84B2-DFCA00A013F6}"/>
              </a:ext>
            </a:extLst>
          </p:cNvPr>
          <p:cNvSpPr>
            <a:spLocks noGrp="1"/>
          </p:cNvSpPr>
          <p:nvPr userDrawn="1">
            <p:ph idx="27" hasCustomPrompt="1"/>
          </p:nvPr>
        </p:nvSpPr>
        <p:spPr>
          <a:xfrm>
            <a:off x="4682218" y="3545060"/>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36" name="Content Placeholder 2">
            <a:extLst>
              <a:ext uri="{FF2B5EF4-FFF2-40B4-BE49-F238E27FC236}">
                <a16:creationId xmlns:a16="http://schemas.microsoft.com/office/drawing/2014/main" id="{09C56F7D-4836-1E4F-BD4C-CB150E12E098}"/>
              </a:ext>
            </a:extLst>
          </p:cNvPr>
          <p:cNvSpPr>
            <a:spLocks noGrp="1"/>
          </p:cNvSpPr>
          <p:nvPr userDrawn="1">
            <p:ph idx="28" hasCustomPrompt="1"/>
          </p:nvPr>
        </p:nvSpPr>
        <p:spPr>
          <a:xfrm>
            <a:off x="4682219" y="4240050"/>
            <a:ext cx="1769150" cy="1408472"/>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cxnSp>
        <p:nvCxnSpPr>
          <p:cNvPr id="12" name="Straight Connector 11">
            <a:extLst>
              <a:ext uri="{FF2B5EF4-FFF2-40B4-BE49-F238E27FC236}">
                <a16:creationId xmlns:a16="http://schemas.microsoft.com/office/drawing/2014/main" id="{3CA77083-F133-420F-93AD-77761878E852}"/>
              </a:ext>
            </a:extLst>
          </p:cNvPr>
          <p:cNvCxnSpPr/>
          <p:nvPr userDrawn="1"/>
        </p:nvCxnSpPr>
        <p:spPr>
          <a:xfrm>
            <a:off x="6562725" y="1686757"/>
            <a:ext cx="0" cy="425684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Picture Placeholder 3">
            <a:extLst>
              <a:ext uri="{FF2B5EF4-FFF2-40B4-BE49-F238E27FC236}">
                <a16:creationId xmlns:a16="http://schemas.microsoft.com/office/drawing/2014/main" id="{06A5C640-1D0E-4428-AC28-148AE98A7B34}"/>
              </a:ext>
            </a:extLst>
          </p:cNvPr>
          <p:cNvSpPr>
            <a:spLocks noGrp="1"/>
          </p:cNvSpPr>
          <p:nvPr userDrawn="1">
            <p:ph type="pic" sz="quarter" idx="22"/>
          </p:nvPr>
        </p:nvSpPr>
        <p:spPr>
          <a:xfrm>
            <a:off x="6661077" y="1680693"/>
            <a:ext cx="1762024" cy="1621608"/>
          </a:xfrm>
        </p:spPr>
        <p:txBody>
          <a:bodyPr/>
          <a:lstStyle>
            <a:lvl1pPr>
              <a:buNone/>
              <a:defRPr/>
            </a:lvl1pPr>
          </a:lstStyle>
          <a:p>
            <a:endParaRPr lang="en-US" dirty="0"/>
          </a:p>
        </p:txBody>
      </p:sp>
      <p:sp>
        <p:nvSpPr>
          <p:cNvPr id="19" name="Content Placeholder 2">
            <a:extLst>
              <a:ext uri="{FF2B5EF4-FFF2-40B4-BE49-F238E27FC236}">
                <a16:creationId xmlns:a16="http://schemas.microsoft.com/office/drawing/2014/main" id="{A07502CC-5B90-4BCF-B63B-36D026C9AE96}"/>
              </a:ext>
            </a:extLst>
          </p:cNvPr>
          <p:cNvSpPr>
            <a:spLocks noGrp="1"/>
          </p:cNvSpPr>
          <p:nvPr userDrawn="1">
            <p:ph idx="15" hasCustomPrompt="1"/>
          </p:nvPr>
        </p:nvSpPr>
        <p:spPr>
          <a:xfrm>
            <a:off x="6656311" y="3548916"/>
            <a:ext cx="1769150" cy="754602"/>
          </a:xfrm>
        </p:spPr>
        <p:txBody>
          <a:bodyPr lIns="0" tIns="0" rIns="0" bIns="0">
            <a:normAutofit/>
          </a:bodyPr>
          <a:lstStyle>
            <a:lvl1pPr marL="0" indent="0">
              <a:buSzPct val="95000"/>
              <a:buFont typeface="Arial" panose="020B0604020202020204" pitchFamily="34" charset="0"/>
              <a:buNone/>
              <a:defRPr sz="1800" b="1">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header</a:t>
            </a:r>
          </a:p>
        </p:txBody>
      </p:sp>
      <p:sp>
        <p:nvSpPr>
          <p:cNvPr id="20" name="Content Placeholder 2">
            <a:extLst>
              <a:ext uri="{FF2B5EF4-FFF2-40B4-BE49-F238E27FC236}">
                <a16:creationId xmlns:a16="http://schemas.microsoft.com/office/drawing/2014/main" id="{F169EF16-BA54-4279-A087-A65E4F26675F}"/>
              </a:ext>
            </a:extLst>
          </p:cNvPr>
          <p:cNvSpPr>
            <a:spLocks noGrp="1"/>
          </p:cNvSpPr>
          <p:nvPr userDrawn="1">
            <p:ph idx="16" hasCustomPrompt="1"/>
          </p:nvPr>
        </p:nvSpPr>
        <p:spPr>
          <a:xfrm>
            <a:off x="6656311" y="4230000"/>
            <a:ext cx="1769150" cy="1408470"/>
          </a:xfrm>
        </p:spPr>
        <p:txBody>
          <a:bodyPr lIns="0" tIns="0" rIns="0" bIns="0">
            <a:normAutofit/>
          </a:bodyPr>
          <a:lstStyle>
            <a:lvl1pPr marL="0" indent="0">
              <a:buSzPct val="95000"/>
              <a:buFont typeface="Arial" panose="020B0604020202020204" pitchFamily="34" charset="0"/>
              <a:buNone/>
              <a:defRPr sz="1600" b="0">
                <a:latin typeface="Roboto" panose="02000000000000000000" pitchFamily="2" charset="0"/>
                <a:ea typeface="Roboto" panose="02000000000000000000" pitchFamily="2" charset="0"/>
              </a:defRPr>
            </a:lvl1pPr>
            <a:lvl2pPr marL="3429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2pPr>
            <a:lvl3pPr marL="6858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3pPr>
            <a:lvl4pPr marL="10287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4pPr>
            <a:lvl5pPr marL="1371600" indent="0">
              <a:buClr>
                <a:schemeClr val="tx2"/>
              </a:buClr>
              <a:buSzPct val="100000"/>
              <a:buFont typeface="Arial" panose="020B0604020202020204" pitchFamily="34" charset="0"/>
              <a:buNone/>
              <a:defRPr>
                <a:latin typeface="Roboto" panose="02000000000000000000" pitchFamily="2" charset="0"/>
                <a:ea typeface="Roboto" panose="02000000000000000000" pitchFamily="2" charset="0"/>
              </a:defRPr>
            </a:lvl5pPr>
          </a:lstStyle>
          <a:p>
            <a:pPr lvl="0"/>
            <a:r>
              <a:rPr lang="en-US" dirty="0"/>
              <a:t>Click to edit column text</a:t>
            </a:r>
          </a:p>
        </p:txBody>
      </p:sp>
      <p:sp>
        <p:nvSpPr>
          <p:cNvPr id="23" name="Rectangle 22">
            <a:extLst>
              <a:ext uri="{FF2B5EF4-FFF2-40B4-BE49-F238E27FC236}">
                <a16:creationId xmlns:a16="http://schemas.microsoft.com/office/drawing/2014/main" id="{CA720753-9BFD-2840-9C93-FF72942ED6E3}"/>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28" name="Picture 27" descr="The University of Iowa">
            <a:extLst>
              <a:ext uri="{FF2B5EF4-FFF2-40B4-BE49-F238E27FC236}">
                <a16:creationId xmlns:a16="http://schemas.microsoft.com/office/drawing/2014/main" id="{5841833A-DC48-1341-8CED-2C33FF13E5FB}"/>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29" name="Footer Placeholder 4">
            <a:extLst>
              <a:ext uri="{FF2B5EF4-FFF2-40B4-BE49-F238E27FC236}">
                <a16:creationId xmlns:a16="http://schemas.microsoft.com/office/drawing/2014/main" id="{99532311-74A6-524D-8B7C-520D61A0A09E}"/>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3170021997"/>
      </p:ext>
    </p:extLst>
  </p:cSld>
  <p:clrMapOvr>
    <a:masterClrMapping/>
  </p:clrMapOvr>
  <p:extLst>
    <p:ext uri="{DCECCB84-F9BA-43D5-87BE-67443E8EF086}">
      <p15:sldGuideLst xmlns:p15="http://schemas.microsoft.com/office/powerpoint/2012/main">
        <p15:guide id="1" orient="horz" pos="2400" userDrawn="1">
          <p15:clr>
            <a:srgbClr val="FBAE40"/>
          </p15:clr>
        </p15:guide>
        <p15:guide id="2" pos="449" userDrawn="1">
          <p15:clr>
            <a:srgbClr val="FBAE40"/>
          </p15:clr>
        </p15:guide>
        <p15:guide id="3" pos="5310" userDrawn="1">
          <p15:clr>
            <a:srgbClr val="FBAE40"/>
          </p15:clr>
        </p15:guide>
        <p15:guide id="4" pos="2880" userDrawn="1">
          <p15:clr>
            <a:srgbClr val="FBAE40"/>
          </p15:clr>
        </p15:guide>
        <p15:guide id="5" orient="horz" pos="1054" userDrawn="1">
          <p15:clr>
            <a:srgbClr val="FBAE40"/>
          </p15:clr>
        </p15:guide>
        <p15:guide id="6" orient="horz" pos="3744" userDrawn="1">
          <p15:clr>
            <a:srgbClr val="FBAE40"/>
          </p15:clr>
        </p15:guide>
        <p15:guide id="7" orient="horz" pos="69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ullet Slide - Photo">
    <p:spTree>
      <p:nvGrpSpPr>
        <p:cNvPr id="1" name=""/>
        <p:cNvGrpSpPr/>
        <p:nvPr/>
      </p:nvGrpSpPr>
      <p:grpSpPr>
        <a:xfrm>
          <a:off x="0" y="0"/>
          <a:ext cx="0" cy="0"/>
          <a:chOff x="0" y="0"/>
          <a:chExt cx="0" cy="0"/>
        </a:xfrm>
      </p:grpSpPr>
      <p:sp>
        <p:nvSpPr>
          <p:cNvPr id="17" name="Title 20">
            <a:extLst>
              <a:ext uri="{FF2B5EF4-FFF2-40B4-BE49-F238E27FC236}">
                <a16:creationId xmlns:a16="http://schemas.microsoft.com/office/drawing/2014/main" id="{2BA8F287-92C7-4FFD-A7E9-45864F8E91A4}"/>
              </a:ext>
            </a:extLst>
          </p:cNvPr>
          <p:cNvSpPr>
            <a:spLocks noGrp="1"/>
          </p:cNvSpPr>
          <p:nvPr>
            <p:ph type="title" hasCustomPrompt="1"/>
          </p:nvPr>
        </p:nvSpPr>
        <p:spPr>
          <a:xfrm>
            <a:off x="711994" y="498296"/>
            <a:ext cx="3945731" cy="896116"/>
          </a:xfrm>
        </p:spPr>
        <p:txBody>
          <a:bodyPr>
            <a:normAutofit/>
          </a:bodyPr>
          <a:lstStyle>
            <a:lvl1pPr>
              <a:defRPr sz="3300"/>
            </a:lvl1pPr>
          </a:lstStyle>
          <a:p>
            <a:r>
              <a:rPr lang="en-US" dirty="0"/>
              <a:t>Click to edit Title</a:t>
            </a:r>
          </a:p>
        </p:txBody>
      </p:sp>
      <p:cxnSp>
        <p:nvCxnSpPr>
          <p:cNvPr id="16" name="Straight Connector 15">
            <a:extLst>
              <a:ext uri="{FF2B5EF4-FFF2-40B4-BE49-F238E27FC236}">
                <a16:creationId xmlns:a16="http://schemas.microsoft.com/office/drawing/2014/main" id="{0F31F03A-71CF-475D-8A3C-99FC106D73E8}"/>
              </a:ext>
              <a:ext uri="{C183D7F6-B498-43B3-948B-1728B52AA6E4}">
                <adec:decorative xmlns:adec="http://schemas.microsoft.com/office/drawing/2017/decorative" val="1"/>
              </a:ext>
            </a:extLst>
          </p:cNvPr>
          <p:cNvCxnSpPr>
            <a:cxnSpLocks/>
          </p:cNvCxnSpPr>
          <p:nvPr userDrawn="1"/>
        </p:nvCxnSpPr>
        <p:spPr>
          <a:xfrm>
            <a:off x="714374" y="131764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47404DB8-B6AC-4389-8E6E-A115840D1D74}"/>
              </a:ext>
            </a:extLst>
          </p:cNvPr>
          <p:cNvSpPr>
            <a:spLocks noGrp="1"/>
          </p:cNvSpPr>
          <p:nvPr>
            <p:ph idx="1"/>
          </p:nvPr>
        </p:nvSpPr>
        <p:spPr>
          <a:xfrm>
            <a:off x="714375" y="1686758"/>
            <a:ext cx="3943351" cy="4256843"/>
          </a:xfrm>
        </p:spPr>
        <p:txBody>
          <a:bodyPr lIns="0" tIns="0" rIns="0" bIns="0"/>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SzPct val="100000"/>
              <a:buFont typeface="Arial" panose="020B0604020202020204" pitchFamily="34" charset="0"/>
              <a:buChar char="‒"/>
              <a:defRPr sz="2000">
                <a:latin typeface="Roboto" panose="02000000000000000000" pitchFamily="2" charset="0"/>
                <a:ea typeface="Roboto" panose="02000000000000000000" pitchFamily="2" charset="0"/>
              </a:defRPr>
            </a:lvl2pPr>
            <a:lvl3pPr marL="8572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3pPr>
            <a:lvl4pPr marL="1200150" indent="-171450">
              <a:buClr>
                <a:schemeClr val="tx2"/>
              </a:buClr>
              <a:buSzPct val="100000"/>
              <a:buFont typeface="Roboto" panose="02000000000000000000" pitchFamily="2" charset="0"/>
              <a:buChar char="―"/>
              <a:defRPr>
                <a:latin typeface="Roboto" panose="02000000000000000000" pitchFamily="2" charset="0"/>
                <a:ea typeface="Roboto" panose="02000000000000000000" pitchFamily="2" charset="0"/>
              </a:defRPr>
            </a:lvl4pPr>
            <a:lvl5pPr marL="1543050" indent="-171450">
              <a:buClr>
                <a:schemeClr val="tx2"/>
              </a:buClr>
              <a:buSzPct val="100000"/>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a:extLst>
              <a:ext uri="{FF2B5EF4-FFF2-40B4-BE49-F238E27FC236}">
                <a16:creationId xmlns:a16="http://schemas.microsoft.com/office/drawing/2014/main" id="{E42EEDE3-0B18-E049-BE23-974E50C72979}"/>
              </a:ext>
            </a:extLst>
          </p:cNvPr>
          <p:cNvSpPr>
            <a:spLocks noGrp="1"/>
          </p:cNvSpPr>
          <p:nvPr>
            <p:ph type="pic" sz="quarter" idx="11"/>
          </p:nvPr>
        </p:nvSpPr>
        <p:spPr>
          <a:xfrm>
            <a:off x="5378651" y="1"/>
            <a:ext cx="3771900" cy="6389511"/>
          </a:xfrm>
          <a:prstGeom prst="rect">
            <a:avLst/>
          </a:prstGeom>
        </p:spPr>
        <p:txBody>
          <a:bodyPr anchor="ctr" anchorCtr="0"/>
          <a:lstStyle>
            <a:lvl1pPr marL="0" indent="0" algn="ctr">
              <a:buNone/>
              <a:defRPr b="0" i="0">
                <a:solidFill>
                  <a:schemeClr val="accent3"/>
                </a:solidFill>
                <a:latin typeface="Arial" panose="020B0604020202020204" pitchFamily="34" charset="0"/>
              </a:defRPr>
            </a:lvl1pPr>
          </a:lstStyle>
          <a:p>
            <a:r>
              <a:rPr lang="en-US" dirty="0"/>
              <a:t>Click icon to add picture</a:t>
            </a:r>
          </a:p>
        </p:txBody>
      </p:sp>
      <p:sp>
        <p:nvSpPr>
          <p:cNvPr id="9" name="Rectangle 8">
            <a:extLst>
              <a:ext uri="{FF2B5EF4-FFF2-40B4-BE49-F238E27FC236}">
                <a16:creationId xmlns:a16="http://schemas.microsoft.com/office/drawing/2014/main" id="{7420F7CB-393D-BF45-B52D-542FDDEFCAFF}"/>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0" name="Picture 9" descr="The University of Iowa">
            <a:extLst>
              <a:ext uri="{FF2B5EF4-FFF2-40B4-BE49-F238E27FC236}">
                <a16:creationId xmlns:a16="http://schemas.microsoft.com/office/drawing/2014/main" id="{AEE57422-8581-D940-B95A-28BB5FA8EBEA}"/>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3" name="Footer Placeholder 4">
            <a:extLst>
              <a:ext uri="{FF2B5EF4-FFF2-40B4-BE49-F238E27FC236}">
                <a16:creationId xmlns:a16="http://schemas.microsoft.com/office/drawing/2014/main" id="{F4890DD7-288C-3F48-AC5A-4CC0C37D9FAB}"/>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2625500995"/>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2934" userDrawn="1">
          <p15:clr>
            <a:srgbClr val="FBAE40"/>
          </p15:clr>
        </p15:guide>
        <p15:guide id="3" pos="450" userDrawn="1">
          <p15:clr>
            <a:srgbClr val="FBAE40"/>
          </p15:clr>
        </p15:guide>
        <p15:guide id="4" orient="horz" pos="1056" userDrawn="1">
          <p15:clr>
            <a:srgbClr val="FBAE40"/>
          </p15:clr>
        </p15:guide>
        <p15:guide id="6" orient="horz" pos="697" userDrawn="1">
          <p15:clr>
            <a:srgbClr val="FBAE40"/>
          </p15:clr>
        </p15:guide>
        <p15:guide id="7" orient="horz" pos="240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ullet Slide - Photo Collage">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7524483D-CFE3-E34D-BB74-CEDD541765E2}"/>
              </a:ext>
            </a:extLst>
          </p:cNvPr>
          <p:cNvSpPr>
            <a:spLocks noGrp="1"/>
          </p:cNvSpPr>
          <p:nvPr>
            <p:ph type="title"/>
          </p:nvPr>
        </p:nvSpPr>
        <p:spPr>
          <a:xfrm>
            <a:off x="714375" y="365126"/>
            <a:ext cx="3940879" cy="1331865"/>
          </a:xfrm>
        </p:spPr>
        <p:txBody>
          <a:bodyPr>
            <a:normAutofit/>
          </a:bodyPr>
          <a:lstStyle>
            <a:lvl1pPr>
              <a:defRPr sz="3300">
                <a:latin typeface="Roboto" panose="02000000000000000000" pitchFamily="2" charset="0"/>
                <a:ea typeface="Roboto" panose="02000000000000000000" pitchFamily="2" charset="0"/>
              </a:defRPr>
            </a:lvl1pPr>
          </a:lstStyle>
          <a:p>
            <a:r>
              <a:rPr lang="en-US" dirty="0"/>
              <a:t>Click to edit Master title style</a:t>
            </a:r>
          </a:p>
        </p:txBody>
      </p:sp>
      <p:cxnSp>
        <p:nvCxnSpPr>
          <p:cNvPr id="17" name="Straight Connector 16">
            <a:extLst>
              <a:ext uri="{FF2B5EF4-FFF2-40B4-BE49-F238E27FC236}">
                <a16:creationId xmlns:a16="http://schemas.microsoft.com/office/drawing/2014/main" id="{EB28F420-DDD1-5E4A-9513-EAE252D759FE}"/>
              </a:ext>
              <a:ext uri="{C183D7F6-B498-43B3-948B-1728B52AA6E4}">
                <adec:decorative xmlns:adec="http://schemas.microsoft.com/office/drawing/2017/decorative" val="1"/>
              </a:ext>
            </a:extLst>
          </p:cNvPr>
          <p:cNvCxnSpPr>
            <a:cxnSpLocks/>
          </p:cNvCxnSpPr>
          <p:nvPr userDrawn="1"/>
        </p:nvCxnSpPr>
        <p:spPr>
          <a:xfrm>
            <a:off x="714376" y="164262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65D1D7B4-E242-C142-8F5F-F3301CC02498}"/>
              </a:ext>
            </a:extLst>
          </p:cNvPr>
          <p:cNvSpPr>
            <a:spLocks noGrp="1"/>
          </p:cNvSpPr>
          <p:nvPr>
            <p:ph idx="1"/>
          </p:nvPr>
        </p:nvSpPr>
        <p:spPr>
          <a:xfrm>
            <a:off x="714374" y="1962386"/>
            <a:ext cx="3949838" cy="3981214"/>
          </a:xfrm>
        </p:spPr>
        <p:txBody>
          <a:bodyPr/>
          <a:lstStyle>
            <a:lvl1pPr marL="171450" indent="-171450">
              <a:buClr>
                <a:schemeClr val="tx2"/>
              </a:buClr>
              <a:buSzPct val="95000"/>
              <a:buFont typeface="Arial" panose="020B0604020202020204" pitchFamily="34" charset="0"/>
              <a:buChar char="•"/>
              <a:defRPr sz="2400">
                <a:latin typeface="Roboto" panose="02000000000000000000" pitchFamily="2" charset="0"/>
                <a:ea typeface="Roboto" panose="02000000000000000000" pitchFamily="2" charset="0"/>
              </a:defRPr>
            </a:lvl1pPr>
            <a:lvl2pPr marL="514350" indent="-171450">
              <a:buClr>
                <a:schemeClr val="tx2"/>
              </a:buClr>
              <a:buFont typeface="Roboto" panose="02000000000000000000" pitchFamily="2" charset="0"/>
              <a:buChar char="–"/>
              <a:defRPr sz="2000">
                <a:latin typeface="Roboto" panose="02000000000000000000" pitchFamily="2" charset="0"/>
                <a:ea typeface="Roboto" panose="02000000000000000000" pitchFamily="2" charset="0"/>
              </a:defRPr>
            </a:lvl2pPr>
            <a:lvl3pPr>
              <a:buClr>
                <a:schemeClr val="tx2"/>
              </a:buClr>
              <a:defRPr>
                <a:latin typeface="Roboto" panose="02000000000000000000" pitchFamily="2" charset="0"/>
                <a:ea typeface="Roboto" panose="02000000000000000000" pitchFamily="2" charset="0"/>
              </a:defRPr>
            </a:lvl3pPr>
            <a:lvl4pPr marL="1200150" indent="-171450">
              <a:buClr>
                <a:schemeClr val="tx2"/>
              </a:buClr>
              <a:buFont typeface="Arial" panose="020B0604020202020204" pitchFamily="34" charset="0"/>
              <a:buChar char="‒"/>
              <a:defRPr>
                <a:latin typeface="Roboto" panose="02000000000000000000" pitchFamily="2" charset="0"/>
                <a:ea typeface="Roboto" panose="02000000000000000000" pitchFamily="2" charset="0"/>
              </a:defRPr>
            </a:lvl4pPr>
            <a:lvl5pPr marL="1543050" indent="-171450">
              <a:buClr>
                <a:schemeClr val="tx2"/>
              </a:buClr>
              <a:buFont typeface="Arial" panose="020B0604020202020204" pitchFamily="34" charset="0"/>
              <a:buChar char="•"/>
              <a:defRPr>
                <a:latin typeface="Roboto" panose="02000000000000000000" pitchFamily="2" charset="0"/>
                <a:ea typeface="Roboto"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4">
            <a:extLst>
              <a:ext uri="{FF2B5EF4-FFF2-40B4-BE49-F238E27FC236}">
                <a16:creationId xmlns:a16="http://schemas.microsoft.com/office/drawing/2014/main" id="{04FCC643-718F-7645-8F8D-0BFC94D0506B}"/>
              </a:ext>
            </a:extLst>
          </p:cNvPr>
          <p:cNvSpPr>
            <a:spLocks noGrp="1"/>
          </p:cNvSpPr>
          <p:nvPr>
            <p:ph type="pic" sz="quarter" idx="14"/>
          </p:nvPr>
        </p:nvSpPr>
        <p:spPr>
          <a:xfrm>
            <a:off x="5369627" y="1"/>
            <a:ext cx="1862553"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Click icon to add picture</a:t>
            </a:r>
          </a:p>
        </p:txBody>
      </p:sp>
      <p:sp>
        <p:nvSpPr>
          <p:cNvPr id="9" name="Picture Placeholder 4">
            <a:extLst>
              <a:ext uri="{FF2B5EF4-FFF2-40B4-BE49-F238E27FC236}">
                <a16:creationId xmlns:a16="http://schemas.microsoft.com/office/drawing/2014/main" id="{41C31617-CC11-4C42-B6D0-164DF6AFBF41}"/>
              </a:ext>
            </a:extLst>
          </p:cNvPr>
          <p:cNvSpPr>
            <a:spLocks noGrp="1"/>
          </p:cNvSpPr>
          <p:nvPr>
            <p:ph type="pic" sz="quarter" idx="15"/>
          </p:nvPr>
        </p:nvSpPr>
        <p:spPr>
          <a:xfrm>
            <a:off x="7285223" y="1"/>
            <a:ext cx="1862553" cy="3191425"/>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Click icon to add picture</a:t>
            </a:r>
          </a:p>
        </p:txBody>
      </p:sp>
      <p:sp>
        <p:nvSpPr>
          <p:cNvPr id="6" name="Picture Placeholder 4">
            <a:extLst>
              <a:ext uri="{FF2B5EF4-FFF2-40B4-BE49-F238E27FC236}">
                <a16:creationId xmlns:a16="http://schemas.microsoft.com/office/drawing/2014/main" id="{3E5CE386-BEFE-FE49-A675-D93BEDF680BC}"/>
              </a:ext>
            </a:extLst>
          </p:cNvPr>
          <p:cNvSpPr>
            <a:spLocks noGrp="1"/>
          </p:cNvSpPr>
          <p:nvPr>
            <p:ph type="pic" sz="quarter" idx="11" hasCustomPrompt="1"/>
          </p:nvPr>
        </p:nvSpPr>
        <p:spPr>
          <a:xfrm>
            <a:off x="5369627" y="3234551"/>
            <a:ext cx="3774374" cy="3163824"/>
          </a:xfrm>
          <a:prstGeom prst="rect">
            <a:avLst/>
          </a:prstGeom>
        </p:spPr>
        <p:txBody>
          <a:bodyPr anchor="ctr" anchorCtr="0"/>
          <a:lstStyle>
            <a:lvl1pPr marL="0" indent="0" algn="ctr">
              <a:buNone/>
              <a:defRPr b="0" i="0">
                <a:solidFill>
                  <a:schemeClr val="accent3"/>
                </a:solidFill>
                <a:latin typeface="Arial" panose="020B0604020202020204" pitchFamily="34" charset="0"/>
                <a:cs typeface="Arial" panose="020B0604020202020204" pitchFamily="34" charset="0"/>
              </a:defRPr>
            </a:lvl1pPr>
          </a:lstStyle>
          <a:p>
            <a:r>
              <a:rPr lang="en-US" dirty="0"/>
              <a:t> Click icon to add picture </a:t>
            </a:r>
          </a:p>
        </p:txBody>
      </p:sp>
      <p:sp>
        <p:nvSpPr>
          <p:cNvPr id="11" name="Rectangle 10">
            <a:extLst>
              <a:ext uri="{FF2B5EF4-FFF2-40B4-BE49-F238E27FC236}">
                <a16:creationId xmlns:a16="http://schemas.microsoft.com/office/drawing/2014/main" id="{BC24DFA0-3257-B044-87EF-16154359E2FC}"/>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12" name="Picture 11" descr="The University of Iowa">
            <a:extLst>
              <a:ext uri="{FF2B5EF4-FFF2-40B4-BE49-F238E27FC236}">
                <a16:creationId xmlns:a16="http://schemas.microsoft.com/office/drawing/2014/main" id="{BF0FB327-46C7-CA4D-9F47-B21B9F7D79F9}"/>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3" name="Footer Placeholder 4">
            <a:extLst>
              <a:ext uri="{FF2B5EF4-FFF2-40B4-BE49-F238E27FC236}">
                <a16:creationId xmlns:a16="http://schemas.microsoft.com/office/drawing/2014/main" id="{A0A57B74-2163-4C4B-BFF2-0F1E68BF384E}"/>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1338072623"/>
      </p:ext>
    </p:extLst>
  </p:cSld>
  <p:clrMapOvr>
    <a:masterClrMapping/>
  </p:clrMapOvr>
  <p:extLst>
    <p:ext uri="{DCECCB84-F9BA-43D5-87BE-67443E8EF086}">
      <p15:sldGuideLst xmlns:p15="http://schemas.microsoft.com/office/powerpoint/2012/main">
        <p15:guide id="1" orient="horz" pos="3744" userDrawn="1">
          <p15:clr>
            <a:srgbClr val="FBAE40"/>
          </p15:clr>
        </p15:guide>
        <p15:guide id="2" pos="2945" userDrawn="1">
          <p15:clr>
            <a:srgbClr val="FBAE40"/>
          </p15:clr>
        </p15:guide>
        <p15:guide id="3" pos="450" userDrawn="1">
          <p15:clr>
            <a:srgbClr val="FBAE40"/>
          </p15:clr>
        </p15:guide>
        <p15:guide id="4" orient="horz" pos="240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EF4-B950-814D-A811-CD17BDDF049C}"/>
              </a:ext>
            </a:extLst>
          </p:cNvPr>
          <p:cNvSpPr>
            <a:spLocks noGrp="1"/>
          </p:cNvSpPr>
          <p:nvPr>
            <p:ph type="title"/>
          </p:nvPr>
        </p:nvSpPr>
        <p:spPr>
          <a:xfrm>
            <a:off x="711994" y="494273"/>
            <a:ext cx="7717631" cy="869089"/>
          </a:xfrm>
        </p:spPr>
        <p:txBody>
          <a:bodyPr lIns="0" tIns="0" rIns="0" bIns="0"/>
          <a:lstStyle/>
          <a:p>
            <a:r>
              <a:rPr lang="en-US" dirty="0"/>
              <a:t>Click to edit Master title style</a:t>
            </a:r>
          </a:p>
        </p:txBody>
      </p:sp>
      <p:cxnSp>
        <p:nvCxnSpPr>
          <p:cNvPr id="8" name="Straight Connector 7">
            <a:extLst>
              <a:ext uri="{FF2B5EF4-FFF2-40B4-BE49-F238E27FC236}">
                <a16:creationId xmlns:a16="http://schemas.microsoft.com/office/drawing/2014/main" id="{CBB5BDD8-8221-F040-8AE0-3F33C4E24CA0}"/>
              </a:ext>
              <a:ext uri="{C183D7F6-B498-43B3-948B-1728B52AA6E4}">
                <adec:decorative xmlns:adec="http://schemas.microsoft.com/office/drawing/2017/decorative" val="1"/>
              </a:ext>
            </a:extLst>
          </p:cNvPr>
          <p:cNvCxnSpPr>
            <a:cxnSpLocks/>
          </p:cNvCxnSpPr>
          <p:nvPr userDrawn="1"/>
        </p:nvCxnSpPr>
        <p:spPr>
          <a:xfrm>
            <a:off x="711994" y="1310022"/>
            <a:ext cx="576398"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5" name="Chart Placeholder 4">
            <a:extLst>
              <a:ext uri="{FF2B5EF4-FFF2-40B4-BE49-F238E27FC236}">
                <a16:creationId xmlns:a16="http://schemas.microsoft.com/office/drawing/2014/main" id="{DF1F65E7-1CB7-3D42-91A9-88DA4E58EB0E}"/>
              </a:ext>
            </a:extLst>
          </p:cNvPr>
          <p:cNvSpPr>
            <a:spLocks noGrp="1"/>
          </p:cNvSpPr>
          <p:nvPr>
            <p:ph type="chart" sz="quarter" idx="10"/>
          </p:nvPr>
        </p:nvSpPr>
        <p:spPr>
          <a:xfrm>
            <a:off x="711994" y="1570038"/>
            <a:ext cx="7717631" cy="4114800"/>
          </a:xfrm>
        </p:spPr>
        <p:txBody>
          <a:bodyPr lIns="0" tIns="0" rIns="0" bIns="0"/>
          <a:lstStyle/>
          <a:p>
            <a:endParaRPr lang="en-US" dirty="0"/>
          </a:p>
        </p:txBody>
      </p:sp>
      <p:sp>
        <p:nvSpPr>
          <p:cNvPr id="12" name="Rectangle 11">
            <a:extLst>
              <a:ext uri="{FF2B5EF4-FFF2-40B4-BE49-F238E27FC236}">
                <a16:creationId xmlns:a16="http://schemas.microsoft.com/office/drawing/2014/main" id="{1F56D074-0631-F846-A2A3-4A39FEAEFDD7}"/>
              </a:ext>
              <a:ext uri="{C183D7F6-B498-43B3-948B-1728B52AA6E4}">
                <adec:decorative xmlns:adec="http://schemas.microsoft.com/office/drawing/2017/decorative" val="1"/>
              </a:ext>
            </a:extLst>
          </p:cNvPr>
          <p:cNvSpPr/>
          <p:nvPr userDrawn="1"/>
        </p:nvSpPr>
        <p:spPr>
          <a:xfrm>
            <a:off x="0" y="6389512"/>
            <a:ext cx="9144000" cy="46848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Arial" panose="020B0604020202020204" pitchFamily="34" charset="0"/>
            </a:endParaRPr>
          </a:p>
        </p:txBody>
      </p:sp>
      <p:pic>
        <p:nvPicPr>
          <p:cNvPr id="9" name="Picture 8" descr="The University of Iowa">
            <a:extLst>
              <a:ext uri="{FF2B5EF4-FFF2-40B4-BE49-F238E27FC236}">
                <a16:creationId xmlns:a16="http://schemas.microsoft.com/office/drawing/2014/main" id="{34AAA98D-AE4C-3B41-A01C-8A57BF732058}"/>
              </a:ext>
            </a:extLst>
          </p:cNvPr>
          <p:cNvPicPr>
            <a:picLocks noChangeAspect="1"/>
          </p:cNvPicPr>
          <p:nvPr userDrawn="1"/>
        </p:nvPicPr>
        <p:blipFill>
          <a:blip r:embed="rId2"/>
          <a:srcRect/>
          <a:stretch/>
        </p:blipFill>
        <p:spPr>
          <a:xfrm>
            <a:off x="628650" y="6247570"/>
            <a:ext cx="1299998" cy="617498"/>
          </a:xfrm>
          <a:prstGeom prst="rect">
            <a:avLst/>
          </a:prstGeom>
        </p:spPr>
      </p:pic>
      <p:sp>
        <p:nvSpPr>
          <p:cNvPr id="10" name="Footer Placeholder 4">
            <a:extLst>
              <a:ext uri="{FF2B5EF4-FFF2-40B4-BE49-F238E27FC236}">
                <a16:creationId xmlns:a16="http://schemas.microsoft.com/office/drawing/2014/main" id="{761FD608-F8D8-AF42-97E8-83F5C7F92E37}"/>
              </a:ext>
            </a:extLst>
          </p:cNvPr>
          <p:cNvSpPr>
            <a:spLocks noGrp="1"/>
          </p:cNvSpPr>
          <p:nvPr>
            <p:ph type="ftr" sz="quarter" idx="3"/>
          </p:nvPr>
        </p:nvSpPr>
        <p:spPr>
          <a:xfrm>
            <a:off x="2073821" y="6441193"/>
            <a:ext cx="6513130" cy="365125"/>
          </a:xfrm>
          <a:prstGeom prst="rect">
            <a:avLst/>
          </a:prstGeom>
        </p:spPr>
        <p:txBody>
          <a:bodyPr vert="horz" lIns="91440" tIns="45720" rIns="91440" bIns="45720" rtlCol="0" anchor="ctr"/>
          <a:lstStyle>
            <a:lvl1pPr algn="l">
              <a:defRPr sz="1050" b="0">
                <a:solidFill>
                  <a:schemeClr val="bg1"/>
                </a:solidFill>
              </a:defRPr>
            </a:lvl1pPr>
          </a:lstStyle>
          <a:p>
            <a:r>
              <a:rPr lang="en-US" dirty="0"/>
              <a:t>View &gt;&gt; Header and Footer &gt;&gt; Add Unit Name</a:t>
            </a:r>
            <a:endParaRPr lang="en-US" b="0" dirty="0"/>
          </a:p>
        </p:txBody>
      </p:sp>
    </p:spTree>
    <p:extLst>
      <p:ext uri="{BB962C8B-B14F-4D97-AF65-F5344CB8AC3E}">
        <p14:creationId xmlns:p14="http://schemas.microsoft.com/office/powerpoint/2010/main" val="3142765285"/>
      </p:ext>
    </p:extLst>
  </p:cSld>
  <p:clrMapOvr>
    <a:masterClrMapping/>
  </p:clrMapOvr>
  <p:extLst>
    <p:ext uri="{DCECCB84-F9BA-43D5-87BE-67443E8EF086}">
      <p15:sldGuideLst xmlns:p15="http://schemas.microsoft.com/office/powerpoint/2012/main">
        <p15:guide id="2" pos="449" userDrawn="1">
          <p15:clr>
            <a:srgbClr val="FBAE40"/>
          </p15:clr>
        </p15:guide>
        <p15:guide id="3" pos="531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AC533B8E-DBF3-664D-901D-8735DE775212}"/>
              </a:ext>
            </a:extLst>
          </p:cNvPr>
          <p:cNvSpPr>
            <a:spLocks noGrp="1"/>
          </p:cNvSpPr>
          <p:nvPr>
            <p:ph type="ctrTitle" hasCustomPrompt="1"/>
          </p:nvPr>
        </p:nvSpPr>
        <p:spPr>
          <a:xfrm>
            <a:off x="711994" y="3214770"/>
            <a:ext cx="5372488" cy="1160369"/>
          </a:xfrm>
        </p:spPr>
        <p:txBody>
          <a:bodyPr lIns="0" tIns="0" rIns="0" bIns="0" anchor="t" anchorCtr="0">
            <a:noAutofit/>
          </a:bodyPr>
          <a:lstStyle>
            <a:lvl1pPr algn="l">
              <a:defRPr sz="5200" b="1">
                <a:solidFill>
                  <a:schemeClr val="tx1"/>
                </a:solidFill>
                <a:latin typeface="+mj-lt"/>
                <a:ea typeface="Roboto Black" panose="02000000000000000000" pitchFamily="2" charset="0"/>
                <a:cs typeface="Arial" panose="020B0604020202020204" pitchFamily="34" charset="0"/>
              </a:defRPr>
            </a:lvl1pPr>
          </a:lstStyle>
          <a:p>
            <a:r>
              <a:rPr lang="en-US" dirty="0"/>
              <a:t>Thank you</a:t>
            </a:r>
          </a:p>
        </p:txBody>
      </p:sp>
      <p:cxnSp>
        <p:nvCxnSpPr>
          <p:cNvPr id="12" name="Straight Connector 11">
            <a:extLst>
              <a:ext uri="{FF2B5EF4-FFF2-40B4-BE49-F238E27FC236}">
                <a16:creationId xmlns:a16="http://schemas.microsoft.com/office/drawing/2014/main" id="{382B9834-3ABC-DD48-8F8B-7C2FACEC9236}"/>
              </a:ext>
              <a:ext uri="{C183D7F6-B498-43B3-948B-1728B52AA6E4}">
                <adec:decorative xmlns:adec="http://schemas.microsoft.com/office/drawing/2017/decorative" val="1"/>
              </a:ext>
            </a:extLst>
          </p:cNvPr>
          <p:cNvCxnSpPr>
            <a:cxnSpLocks/>
          </p:cNvCxnSpPr>
          <p:nvPr userDrawn="1"/>
        </p:nvCxnSpPr>
        <p:spPr>
          <a:xfrm>
            <a:off x="730595" y="2923615"/>
            <a:ext cx="576398"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6471287" y="3087124"/>
            <a:ext cx="2015280" cy="1498329"/>
          </a:xfrm>
        </p:spPr>
        <p:txBody>
          <a:bodyPr vert="horz" anchor="ctr" anchorCtr="0">
            <a:noAutofit/>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sz="1200" b="0"/>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dirty="0"/>
              <a:t>Contact Person Name</a:t>
            </a:r>
          </a:p>
          <a:p>
            <a:pPr lvl="0"/>
            <a:r>
              <a:rPr lang="en-US" dirty="0"/>
              <a:t>Contact Person Title </a:t>
            </a:r>
          </a:p>
          <a:p>
            <a:pPr lvl="0"/>
            <a:r>
              <a:rPr lang="en-US" dirty="0"/>
              <a:t>Contact Person Unit</a:t>
            </a:r>
          </a:p>
          <a:p>
            <a:pPr lvl="0"/>
            <a:endParaRPr lang="en-US" dirty="0"/>
          </a:p>
          <a:p>
            <a:pPr lvl="0"/>
            <a:r>
              <a:rPr lang="en-US" dirty="0"/>
              <a:t>Phone: </a:t>
            </a:r>
          </a:p>
          <a:p>
            <a:pPr lvl="0"/>
            <a:r>
              <a:rPr lang="en-US" dirty="0"/>
              <a:t>Fax: </a:t>
            </a:r>
          </a:p>
          <a:p>
            <a:pPr lvl="0"/>
            <a:r>
              <a:rPr lang="en-US" dirty="0"/>
              <a:t>Email:</a:t>
            </a:r>
          </a:p>
        </p:txBody>
      </p:sp>
      <p:sp>
        <p:nvSpPr>
          <p:cNvPr id="4" name="Rectangle 3">
            <a:extLst>
              <a:ext uri="{FF2B5EF4-FFF2-40B4-BE49-F238E27FC236}">
                <a16:creationId xmlns:a16="http://schemas.microsoft.com/office/drawing/2014/main" id="{1C6ACD65-4DC5-40D8-89A9-EBA0997790E8}"/>
              </a:ext>
              <a:ext uri="{C183D7F6-B498-43B3-948B-1728B52AA6E4}">
                <adec:decorative xmlns:adec="http://schemas.microsoft.com/office/drawing/2017/decorative" val="1"/>
              </a:ext>
            </a:extLst>
          </p:cNvPr>
          <p:cNvSpPr/>
          <p:nvPr userDrawn="1"/>
        </p:nvSpPr>
        <p:spPr>
          <a:xfrm>
            <a:off x="711994" y="4789293"/>
            <a:ext cx="292608" cy="3000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989435" y="4789292"/>
            <a:ext cx="1719072" cy="300082"/>
          </a:xfrm>
          <a:solidFill>
            <a:schemeClr val="tx1"/>
          </a:solidFill>
          <a:ln>
            <a:noFill/>
          </a:ln>
        </p:spPr>
        <p:txBody>
          <a:bodyPr wrap="square" lIns="91440" tIns="45720" rIns="91440" bIns="45720">
            <a:spAutoFit/>
          </a:bodyPr>
          <a:lstStyle>
            <a:lvl1pPr marL="0" indent="0">
              <a:buNone/>
              <a:defRPr sz="1350">
                <a:solidFill>
                  <a:schemeClr val="bg1"/>
                </a:solidFill>
                <a:latin typeface="Roboto Black" panose="02000000000000000000" pitchFamily="2" charset="0"/>
                <a:ea typeface="Roboto Black" panose="02000000000000000000" pitchFamily="2" charset="0"/>
              </a:defRPr>
            </a:lvl1pPr>
          </a:lstStyle>
          <a:p>
            <a:pPr lvl="0"/>
            <a:r>
              <a:rPr lang="en-US" dirty="0"/>
              <a:t>Insert Web Address</a:t>
            </a:r>
          </a:p>
        </p:txBody>
      </p:sp>
      <p:grpSp>
        <p:nvGrpSpPr>
          <p:cNvPr id="15" name="Group 14">
            <a:extLst>
              <a:ext uri="{FF2B5EF4-FFF2-40B4-BE49-F238E27FC236}">
                <a16:creationId xmlns:a16="http://schemas.microsoft.com/office/drawing/2014/main" id="{EB262A30-5EEC-5549-B428-7E5B11A5D7A7}"/>
              </a:ext>
            </a:extLst>
          </p:cNvPr>
          <p:cNvGrpSpPr/>
          <p:nvPr userDrawn="1"/>
        </p:nvGrpSpPr>
        <p:grpSpPr>
          <a:xfrm>
            <a:off x="803454" y="4864147"/>
            <a:ext cx="146304" cy="150373"/>
            <a:chOff x="3057746" y="812006"/>
            <a:chExt cx="173610" cy="183357"/>
          </a:xfrm>
          <a:noFill/>
        </p:grpSpPr>
        <p:cxnSp>
          <p:nvCxnSpPr>
            <p:cNvPr id="16" name="Straight Connector 15">
              <a:extLst>
                <a:ext uri="{FF2B5EF4-FFF2-40B4-BE49-F238E27FC236}">
                  <a16:creationId xmlns:a16="http://schemas.microsoft.com/office/drawing/2014/main" id="{1699B573-1E8F-3547-9D64-50A2EC630F1F}"/>
                </a:ext>
              </a:extLst>
            </p:cNvPr>
            <p:cNvCxnSpPr/>
            <p:nvPr userDrawn="1"/>
          </p:nvCxnSpPr>
          <p:spPr>
            <a:xfrm>
              <a:off x="3057746" y="904875"/>
              <a:ext cx="173610" cy="0"/>
            </a:xfrm>
            <a:prstGeom prst="line">
              <a:avLst/>
            </a:prstGeom>
            <a:grpFill/>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Freeform: Shape 12">
              <a:extLst>
                <a:ext uri="{FF2B5EF4-FFF2-40B4-BE49-F238E27FC236}">
                  <a16:creationId xmlns:a16="http://schemas.microsoft.com/office/drawing/2014/main" id="{68F32139-4BAE-F54C-8358-EF5839C5813E}"/>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pic>
        <p:nvPicPr>
          <p:cNvPr id="14" name="Picture 13" descr="The University of Iowa">
            <a:extLst>
              <a:ext uri="{FF2B5EF4-FFF2-40B4-BE49-F238E27FC236}">
                <a16:creationId xmlns:a16="http://schemas.microsoft.com/office/drawing/2014/main" id="{4B1807D8-E6B4-C743-A4EC-22D5E0479848}"/>
              </a:ext>
            </a:extLst>
          </p:cNvPr>
          <p:cNvPicPr>
            <a:picLocks noChangeAspect="1"/>
          </p:cNvPicPr>
          <p:nvPr userDrawn="1"/>
        </p:nvPicPr>
        <p:blipFill>
          <a:blip r:embed="rId2"/>
          <a:srcRect/>
          <a:stretch/>
        </p:blipFill>
        <p:spPr>
          <a:xfrm>
            <a:off x="6471287" y="-1189"/>
            <a:ext cx="2015279" cy="963278"/>
          </a:xfrm>
          <a:prstGeom prst="rect">
            <a:avLst/>
          </a:prstGeom>
        </p:spPr>
      </p:pic>
      <p:sp>
        <p:nvSpPr>
          <p:cNvPr id="13" name="Footer Placeholder 4">
            <a:extLst>
              <a:ext uri="{FF2B5EF4-FFF2-40B4-BE49-F238E27FC236}">
                <a16:creationId xmlns:a16="http://schemas.microsoft.com/office/drawing/2014/main" id="{D7F85C9B-9D4B-D642-BBFB-CDE025D69CBD}"/>
              </a:ext>
            </a:extLst>
          </p:cNvPr>
          <p:cNvSpPr>
            <a:spLocks noGrp="1"/>
          </p:cNvSpPr>
          <p:nvPr>
            <p:ph type="ftr" sz="quarter" idx="3"/>
          </p:nvPr>
        </p:nvSpPr>
        <p:spPr>
          <a:xfrm>
            <a:off x="717072" y="2365791"/>
            <a:ext cx="7772020" cy="365125"/>
          </a:xfrm>
          <a:prstGeom prst="rect">
            <a:avLst/>
          </a:prstGeom>
          <a:noFill/>
        </p:spPr>
        <p:txBody>
          <a:bodyPr vert="horz" lIns="0" tIns="0" rIns="0" bIns="0" rtlCol="0" anchor="ctr"/>
          <a:lstStyle>
            <a:lvl1pPr algn="l">
              <a:defRPr sz="1650" b="0">
                <a:solidFill>
                  <a:schemeClr val="tx1"/>
                </a:solidFill>
              </a:defRPr>
            </a:lvl1pPr>
          </a:lstStyle>
          <a:p>
            <a:r>
              <a:rPr lang="en-US" dirty="0"/>
              <a:t>Insert-&gt;Header and Footer-&gt;Type Customizable Name</a:t>
            </a:r>
          </a:p>
        </p:txBody>
      </p:sp>
    </p:spTree>
    <p:extLst>
      <p:ext uri="{BB962C8B-B14F-4D97-AF65-F5344CB8AC3E}">
        <p14:creationId xmlns:p14="http://schemas.microsoft.com/office/powerpoint/2010/main" val="2883638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9"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Slide-Solid Black">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A47420D0-6FF1-9C4A-B953-EA4EEABBA308}"/>
              </a:ext>
            </a:extLst>
          </p:cNvPr>
          <p:cNvSpPr>
            <a:spLocks noGrp="1"/>
          </p:cNvSpPr>
          <p:nvPr>
            <p:ph type="ctrTitle" hasCustomPrompt="1"/>
          </p:nvPr>
        </p:nvSpPr>
        <p:spPr>
          <a:xfrm>
            <a:off x="711994" y="3203884"/>
            <a:ext cx="5372488" cy="1160369"/>
          </a:xfrm>
        </p:spPr>
        <p:txBody>
          <a:bodyPr lIns="0" tIns="0" rIns="0" bIns="0" anchor="t" anchorCtr="0">
            <a:noAutofit/>
          </a:bodyPr>
          <a:lstStyle>
            <a:lvl1pPr algn="l">
              <a:defRPr sz="5200" b="1">
                <a:solidFill>
                  <a:schemeClr val="bg1"/>
                </a:solidFill>
                <a:latin typeface="+mj-lt"/>
                <a:ea typeface="Roboto Black" panose="02000000000000000000" pitchFamily="2" charset="0"/>
                <a:cs typeface="Arial" panose="020B0604020202020204" pitchFamily="34" charset="0"/>
              </a:defRPr>
            </a:lvl1pPr>
          </a:lstStyle>
          <a:p>
            <a:r>
              <a:rPr lang="en-US" dirty="0"/>
              <a:t>Thank you</a:t>
            </a:r>
          </a:p>
        </p:txBody>
      </p:sp>
      <p:cxnSp>
        <p:nvCxnSpPr>
          <p:cNvPr id="21" name="Straight Connector 20">
            <a:extLst>
              <a:ext uri="{FF2B5EF4-FFF2-40B4-BE49-F238E27FC236}">
                <a16:creationId xmlns:a16="http://schemas.microsoft.com/office/drawing/2014/main" id="{4F7216A4-2452-1B4B-AE0D-122E7F5A5965}"/>
              </a:ext>
              <a:ext uri="{C183D7F6-B498-43B3-948B-1728B52AA6E4}">
                <adec:decorative xmlns:adec="http://schemas.microsoft.com/office/drawing/2017/decorative" val="1"/>
              </a:ext>
            </a:extLst>
          </p:cNvPr>
          <p:cNvCxnSpPr>
            <a:cxnSpLocks/>
          </p:cNvCxnSpPr>
          <p:nvPr userDrawn="1"/>
        </p:nvCxnSpPr>
        <p:spPr>
          <a:xfrm>
            <a:off x="730595" y="2923615"/>
            <a:ext cx="576398"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Text Placeholder 13">
            <a:extLst>
              <a:ext uri="{FF2B5EF4-FFF2-40B4-BE49-F238E27FC236}">
                <a16:creationId xmlns:a16="http://schemas.microsoft.com/office/drawing/2014/main" id="{73873935-43A0-4C23-AC45-B3EF69B188E1}"/>
              </a:ext>
            </a:extLst>
          </p:cNvPr>
          <p:cNvSpPr>
            <a:spLocks noGrp="1"/>
          </p:cNvSpPr>
          <p:nvPr>
            <p:ph type="body" sz="quarter" idx="12" hasCustomPrompt="1"/>
          </p:nvPr>
        </p:nvSpPr>
        <p:spPr>
          <a:xfrm>
            <a:off x="6468763" y="3105910"/>
            <a:ext cx="2020329" cy="1498329"/>
          </a:xfrm>
        </p:spPr>
        <p:txBody>
          <a:bodyPr vert="horz" anchor="ctr" anchorCtr="0">
            <a:noAutofit/>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sz="1200" b="0">
                <a:solidFill>
                  <a:schemeClr val="bg1"/>
                </a:solidFill>
              </a:defRPr>
            </a:lvl1pPr>
            <a:lvl2pPr marL="342900" indent="0">
              <a:buNone/>
              <a:defRPr sz="1200"/>
            </a:lvl2pPr>
            <a:lvl3pPr marL="685800" indent="0">
              <a:buNone/>
              <a:defRPr sz="1200"/>
            </a:lvl3pPr>
            <a:lvl4pPr marL="1028700" indent="0">
              <a:buNone/>
              <a:defRPr sz="1200"/>
            </a:lvl4pPr>
            <a:lvl5pPr marL="1371600" indent="0">
              <a:buNone/>
              <a:defRPr sz="1200"/>
            </a:lvl5pPr>
          </a:lstStyle>
          <a:p>
            <a:pPr lvl="0"/>
            <a:r>
              <a:rPr lang="en-US" dirty="0"/>
              <a:t>Contact Person Name</a:t>
            </a:r>
          </a:p>
          <a:p>
            <a:pPr lvl="0"/>
            <a:r>
              <a:rPr lang="en-US" dirty="0"/>
              <a:t>Contact Person Title </a:t>
            </a:r>
          </a:p>
          <a:p>
            <a:pPr lvl="0"/>
            <a:r>
              <a:rPr lang="en-US" dirty="0"/>
              <a:t>Contact Person Unit</a:t>
            </a:r>
          </a:p>
          <a:p>
            <a:pPr lvl="0"/>
            <a:endParaRPr lang="en-US" dirty="0"/>
          </a:p>
          <a:p>
            <a:pPr lvl="0"/>
            <a:r>
              <a:rPr lang="en-US" dirty="0"/>
              <a:t>Phone: </a:t>
            </a:r>
          </a:p>
          <a:p>
            <a:pPr lvl="0"/>
            <a:r>
              <a:rPr lang="en-US" dirty="0"/>
              <a:t>Fax: </a:t>
            </a:r>
          </a:p>
          <a:p>
            <a:pPr lvl="0"/>
            <a:r>
              <a:rPr lang="en-US" dirty="0"/>
              <a:t>Email:</a:t>
            </a:r>
          </a:p>
        </p:txBody>
      </p:sp>
      <p:sp>
        <p:nvSpPr>
          <p:cNvPr id="4" name="Rectangle 3">
            <a:extLst>
              <a:ext uri="{FF2B5EF4-FFF2-40B4-BE49-F238E27FC236}">
                <a16:creationId xmlns:a16="http://schemas.microsoft.com/office/drawing/2014/main" id="{1C6ACD65-4DC5-40D8-89A9-EBA0997790E8}"/>
              </a:ext>
            </a:extLst>
          </p:cNvPr>
          <p:cNvSpPr/>
          <p:nvPr userDrawn="1"/>
        </p:nvSpPr>
        <p:spPr>
          <a:xfrm>
            <a:off x="711993" y="4770260"/>
            <a:ext cx="292608" cy="3000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3" name="Text Placeholder 2">
            <a:extLst>
              <a:ext uri="{FF2B5EF4-FFF2-40B4-BE49-F238E27FC236}">
                <a16:creationId xmlns:a16="http://schemas.microsoft.com/office/drawing/2014/main" id="{33438018-43AE-4329-BACA-C859C7CFF4A2}"/>
              </a:ext>
            </a:extLst>
          </p:cNvPr>
          <p:cNvSpPr>
            <a:spLocks noGrp="1"/>
          </p:cNvSpPr>
          <p:nvPr>
            <p:ph type="body" sz="quarter" idx="10" hasCustomPrompt="1"/>
          </p:nvPr>
        </p:nvSpPr>
        <p:spPr>
          <a:xfrm>
            <a:off x="997825" y="4770260"/>
            <a:ext cx="1719072" cy="300082"/>
          </a:xfrm>
          <a:solidFill>
            <a:schemeClr val="accent1"/>
          </a:solidFill>
          <a:ln>
            <a:noFill/>
          </a:ln>
        </p:spPr>
        <p:txBody>
          <a:bodyPr wrap="none" lIns="91440" tIns="45720" rIns="91440" bIns="45720">
            <a:spAutoFit/>
          </a:bodyPr>
          <a:lstStyle>
            <a:lvl1pPr marL="0" indent="0">
              <a:buNone/>
              <a:defRPr sz="1350">
                <a:solidFill>
                  <a:schemeClr val="tx1"/>
                </a:solidFill>
                <a:latin typeface="Roboto Black" panose="02000000000000000000" pitchFamily="2" charset="0"/>
                <a:ea typeface="Roboto Black" panose="02000000000000000000" pitchFamily="2" charset="0"/>
              </a:defRPr>
            </a:lvl1pPr>
          </a:lstStyle>
          <a:p>
            <a:pPr lvl="0"/>
            <a:r>
              <a:rPr lang="en-US" dirty="0"/>
              <a:t>Insert Web Address</a:t>
            </a:r>
          </a:p>
        </p:txBody>
      </p:sp>
      <p:grpSp>
        <p:nvGrpSpPr>
          <p:cNvPr id="11" name="Group 10">
            <a:extLst>
              <a:ext uri="{FF2B5EF4-FFF2-40B4-BE49-F238E27FC236}">
                <a16:creationId xmlns:a16="http://schemas.microsoft.com/office/drawing/2014/main" id="{5625728D-FF50-4FF2-AC2E-B13A3D44D5B9}"/>
              </a:ext>
              <a:ext uri="{C183D7F6-B498-43B3-948B-1728B52AA6E4}">
                <adec:decorative xmlns:adec="http://schemas.microsoft.com/office/drawing/2017/decorative" val="1"/>
              </a:ext>
            </a:extLst>
          </p:cNvPr>
          <p:cNvGrpSpPr/>
          <p:nvPr/>
        </p:nvGrpSpPr>
        <p:grpSpPr>
          <a:xfrm>
            <a:off x="803454" y="4845115"/>
            <a:ext cx="146304" cy="150373"/>
            <a:chOff x="3057746" y="812006"/>
            <a:chExt cx="173610" cy="183357"/>
          </a:xfrm>
          <a:noFill/>
        </p:grpSpPr>
        <p:cxnSp>
          <p:nvCxnSpPr>
            <p:cNvPr id="12" name="Straight Connector 11">
              <a:extLst>
                <a:ext uri="{FF2B5EF4-FFF2-40B4-BE49-F238E27FC236}">
                  <a16:creationId xmlns:a16="http://schemas.microsoft.com/office/drawing/2014/main" id="{58A6E0DE-15E0-485B-8083-6D1BB965B9B6}"/>
                </a:ext>
              </a:extLst>
            </p:cNvPr>
            <p:cNvCxnSpPr/>
            <p:nvPr userDrawn="1"/>
          </p:nvCxnSpPr>
          <p:spPr>
            <a:xfrm>
              <a:off x="3057746" y="904875"/>
              <a:ext cx="173610" cy="0"/>
            </a:xfrm>
            <a:prstGeom prst="line">
              <a:avLst/>
            </a:prstGeom>
            <a:grpFill/>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184EFEE4-DF1C-4FDF-ABC6-804BF8FA2941}"/>
                </a:ext>
              </a:extLst>
            </p:cNvPr>
            <p:cNvSpPr/>
            <p:nvPr userDrawn="1"/>
          </p:nvSpPr>
          <p:spPr>
            <a:xfrm>
              <a:off x="3143250" y="812006"/>
              <a:ext cx="85725" cy="183357"/>
            </a:xfrm>
            <a:custGeom>
              <a:avLst/>
              <a:gdLst>
                <a:gd name="connsiteX0" fmla="*/ 4763 w 85725"/>
                <a:gd name="connsiteY0" fmla="*/ 0 h 183357"/>
                <a:gd name="connsiteX1" fmla="*/ 85725 w 85725"/>
                <a:gd name="connsiteY1" fmla="*/ 92869 h 183357"/>
                <a:gd name="connsiteX2" fmla="*/ 0 w 85725"/>
                <a:gd name="connsiteY2" fmla="*/ 183357 h 183357"/>
              </a:gdLst>
              <a:ahLst/>
              <a:cxnLst>
                <a:cxn ang="0">
                  <a:pos x="connsiteX0" y="connsiteY0"/>
                </a:cxn>
                <a:cxn ang="0">
                  <a:pos x="connsiteX1" y="connsiteY1"/>
                </a:cxn>
                <a:cxn ang="0">
                  <a:pos x="connsiteX2" y="connsiteY2"/>
                </a:cxn>
              </a:cxnLst>
              <a:rect l="l" t="t" r="r" b="b"/>
              <a:pathLst>
                <a:path w="85725" h="183357">
                  <a:moveTo>
                    <a:pt x="4763" y="0"/>
                  </a:moveTo>
                  <a:lnTo>
                    <a:pt x="85725" y="92869"/>
                  </a:lnTo>
                  <a:lnTo>
                    <a:pt x="0" y="183357"/>
                  </a:lnTo>
                </a:path>
              </a:pathLst>
            </a:custGeom>
            <a:grp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pic>
        <p:nvPicPr>
          <p:cNvPr id="15" name="Picture 14" descr="The University of Iowa">
            <a:extLst>
              <a:ext uri="{FF2B5EF4-FFF2-40B4-BE49-F238E27FC236}">
                <a16:creationId xmlns:a16="http://schemas.microsoft.com/office/drawing/2014/main" id="{6179B039-C5FC-F04C-AB21-BEF980B032D5}"/>
              </a:ext>
            </a:extLst>
          </p:cNvPr>
          <p:cNvPicPr>
            <a:picLocks noChangeAspect="1"/>
          </p:cNvPicPr>
          <p:nvPr userDrawn="1"/>
        </p:nvPicPr>
        <p:blipFill>
          <a:blip r:embed="rId2"/>
          <a:srcRect/>
          <a:stretch/>
        </p:blipFill>
        <p:spPr>
          <a:xfrm>
            <a:off x="6468762" y="-581"/>
            <a:ext cx="2020330" cy="962061"/>
          </a:xfrm>
          <a:prstGeom prst="rect">
            <a:avLst/>
          </a:prstGeom>
        </p:spPr>
      </p:pic>
      <p:sp>
        <p:nvSpPr>
          <p:cNvPr id="17" name="Footer Placeholder 4">
            <a:extLst>
              <a:ext uri="{FF2B5EF4-FFF2-40B4-BE49-F238E27FC236}">
                <a16:creationId xmlns:a16="http://schemas.microsoft.com/office/drawing/2014/main" id="{70E4C36A-C453-EE4B-A1E5-D1232C361273}"/>
              </a:ext>
            </a:extLst>
          </p:cNvPr>
          <p:cNvSpPr>
            <a:spLocks noGrp="1"/>
          </p:cNvSpPr>
          <p:nvPr>
            <p:ph type="ftr" sz="quarter" idx="3"/>
          </p:nvPr>
        </p:nvSpPr>
        <p:spPr>
          <a:xfrm>
            <a:off x="717072" y="2365791"/>
            <a:ext cx="7772020" cy="365125"/>
          </a:xfrm>
          <a:prstGeom prst="rect">
            <a:avLst/>
          </a:prstGeom>
          <a:noFill/>
        </p:spPr>
        <p:txBody>
          <a:bodyPr vert="horz" lIns="0" tIns="0" rIns="0" bIns="0" rtlCol="0" anchor="ctr"/>
          <a:lstStyle>
            <a:lvl1pPr algn="l">
              <a:defRPr sz="1650" b="0">
                <a:solidFill>
                  <a:schemeClr val="bg1"/>
                </a:solidFill>
              </a:defRPr>
            </a:lvl1pPr>
          </a:lstStyle>
          <a:p>
            <a:r>
              <a:rPr lang="en-US" dirty="0"/>
              <a:t>Insert-&gt;Header and Footer-&gt;Type Customizable Name</a:t>
            </a:r>
            <a:endParaRPr lang="en-US" sz="1650" dirty="0"/>
          </a:p>
        </p:txBody>
      </p:sp>
    </p:spTree>
    <p:extLst>
      <p:ext uri="{BB962C8B-B14F-4D97-AF65-F5344CB8AC3E}">
        <p14:creationId xmlns:p14="http://schemas.microsoft.com/office/powerpoint/2010/main" val="37886445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44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IOWA Logo with Text">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B993FB4-4336-2048-A6A4-FA306EBBE714}"/>
              </a:ext>
            </a:extLst>
          </p:cNvPr>
          <p:cNvSpPr>
            <a:spLocks noGrp="1"/>
          </p:cNvSpPr>
          <p:nvPr>
            <p:ph type="title" hasCustomPrompt="1"/>
          </p:nvPr>
        </p:nvSpPr>
        <p:spPr>
          <a:xfrm>
            <a:off x="628650" y="4229810"/>
            <a:ext cx="7886700" cy="1311454"/>
          </a:xfrm>
        </p:spPr>
        <p:txBody>
          <a:bodyPr/>
          <a:lstStyle>
            <a:lvl1pPr algn="ctr">
              <a:defRPr sz="4200">
                <a:solidFill>
                  <a:schemeClr val="bg1"/>
                </a:solidFill>
              </a:defRPr>
            </a:lvl1pPr>
          </a:lstStyle>
          <a:p>
            <a:r>
              <a:rPr lang="en-US" dirty="0"/>
              <a:t>Closing Slide Header</a:t>
            </a:r>
          </a:p>
        </p:txBody>
      </p:sp>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rcRect/>
          <a:stretch/>
        </p:blipFill>
        <p:spPr>
          <a:xfrm>
            <a:off x="1714500" y="1793124"/>
            <a:ext cx="5715000" cy="1666875"/>
          </a:xfrm>
          <a:prstGeom prst="rect">
            <a:avLst/>
          </a:prstGeom>
        </p:spPr>
      </p:pic>
    </p:spTree>
    <p:extLst>
      <p:ext uri="{BB962C8B-B14F-4D97-AF65-F5344CB8AC3E}">
        <p14:creationId xmlns:p14="http://schemas.microsoft.com/office/powerpoint/2010/main" val="11334907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OWA Logo Only">
    <p:bg>
      <p:bgPr>
        <a:solidFill>
          <a:schemeClr val="tx1"/>
        </a:solidFill>
        <a:effectLst/>
      </p:bgPr>
    </p:bg>
    <p:spTree>
      <p:nvGrpSpPr>
        <p:cNvPr id="1" name=""/>
        <p:cNvGrpSpPr/>
        <p:nvPr/>
      </p:nvGrpSpPr>
      <p:grpSpPr>
        <a:xfrm>
          <a:off x="0" y="0"/>
          <a:ext cx="0" cy="0"/>
          <a:chOff x="0" y="0"/>
          <a:chExt cx="0" cy="0"/>
        </a:xfrm>
      </p:grpSpPr>
      <p:pic>
        <p:nvPicPr>
          <p:cNvPr id="4" name="Picture 3" descr="The University of Iowa">
            <a:extLst>
              <a:ext uri="{FF2B5EF4-FFF2-40B4-BE49-F238E27FC236}">
                <a16:creationId xmlns:a16="http://schemas.microsoft.com/office/drawing/2014/main" id="{D94B893B-3A5E-A84C-9A26-CCC1CC0A2366}"/>
              </a:ext>
            </a:extLst>
          </p:cNvPr>
          <p:cNvPicPr>
            <a:picLocks noChangeAspect="1"/>
          </p:cNvPicPr>
          <p:nvPr userDrawn="1"/>
        </p:nvPicPr>
        <p:blipFill>
          <a:blip r:embed="rId2"/>
          <a:srcRect/>
          <a:stretch/>
        </p:blipFill>
        <p:spPr>
          <a:xfrm>
            <a:off x="1714500" y="2595562"/>
            <a:ext cx="5715000" cy="1666875"/>
          </a:xfrm>
          <a:prstGeom prst="rect">
            <a:avLst/>
          </a:prstGeom>
        </p:spPr>
      </p:pic>
    </p:spTree>
    <p:extLst>
      <p:ext uri="{BB962C8B-B14F-4D97-AF65-F5344CB8AC3E}">
        <p14:creationId xmlns:p14="http://schemas.microsoft.com/office/powerpoint/2010/main" val="1974530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628650" y="365126"/>
            <a:ext cx="7886700" cy="896116"/>
          </a:xfrm>
          <a:prstGeom prst="rect">
            <a:avLst/>
          </a:prstGeom>
        </p:spPr>
        <p:txBody>
          <a:bodyPr vert="horz" lIns="0" tIns="0" rIns="0" bIns="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0061491"/>
      </p:ext>
    </p:extLst>
  </p:cSld>
  <p:clrMap bg1="lt1" tx1="dk1" bg2="lt2" tx2="dk2" accent1="accent1" accent2="accent2" accent3="accent3" accent4="accent4" accent5="accent5" accent6="accent6" hlink="hlink" folHlink="folHlink"/>
  <p:sldLayoutIdLst>
    <p:sldLayoutId id="2147483656" r:id="rId1"/>
    <p:sldLayoutId id="2147483687" r:id="rId2"/>
    <p:sldLayoutId id="2147483688" r:id="rId3"/>
    <p:sldLayoutId id="2147483684" r:id="rId4"/>
    <p:sldLayoutId id="2147483663" r:id="rId5"/>
    <p:sldLayoutId id="2147483686" r:id="rId6"/>
    <p:sldLayoutId id="2147483690" r:id="rId7"/>
    <p:sldLayoutId id="2147483682" r:id="rId8"/>
    <p:sldLayoutId id="2147483650" r:id="rId9"/>
    <p:sldLayoutId id="2147483662" r:id="rId10"/>
    <p:sldLayoutId id="2147483670" r:id="rId11"/>
    <p:sldLayoutId id="2147483667" r:id="rId12"/>
    <p:sldLayoutId id="2147483668" r:id="rId13"/>
    <p:sldLayoutId id="2147483675" r:id="rId14"/>
    <p:sldLayoutId id="2147483677" r:id="rId15"/>
    <p:sldLayoutId id="2147483676" r:id="rId16"/>
    <p:sldLayoutId id="2147483672" r:id="rId17"/>
    <p:sldLayoutId id="2147483692" r:id="rId18"/>
    <p:sldLayoutId id="2147483669" r:id="rId19"/>
    <p:sldLayoutId id="2147483671" r:id="rId20"/>
    <p:sldLayoutId id="2147483679" r:id="rId21"/>
    <p:sldLayoutId id="2147483680" r:id="rId22"/>
    <p:sldLayoutId id="2147483654" r:id="rId23"/>
    <p:sldLayoutId id="2147483655" r:id="rId24"/>
    <p:sldLayoutId id="2147483665" r:id="rId25"/>
    <p:sldLayoutId id="2147483664" r:id="rId26"/>
    <p:sldLayoutId id="2147483689" r:id="rId27"/>
    <p:sldLayoutId id="2147483693" r:id="rId28"/>
    <p:sldLayoutId id="2147483691" r:id="rId29"/>
  </p:sldLayoutIdLst>
  <p:hf sldNum="0" hdr="0" dt="0"/>
  <p:txStyles>
    <p:titleStyle>
      <a:lvl1pPr algn="l" defTabSz="685800" rtl="0" eaLnBrk="1" latinLnBrk="0" hangingPunct="1">
        <a:lnSpc>
          <a:spcPct val="90000"/>
        </a:lnSpc>
        <a:spcBef>
          <a:spcPct val="0"/>
        </a:spcBef>
        <a:buNone/>
        <a:defRPr sz="3000" b="1" kern="1200">
          <a:solidFill>
            <a:schemeClr val="tx1"/>
          </a:solidFill>
          <a:latin typeface="Roboto" panose="02000000000000000000" pitchFamily="2" charset="0"/>
          <a:ea typeface="Roboto" panose="02000000000000000000" pitchFamily="2" charset="0"/>
          <a:cs typeface="Arial" panose="020B0604020202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tx1"/>
          </a:solidFill>
          <a:latin typeface="Roboto" panose="02000000000000000000" pitchFamily="2" charset="0"/>
          <a:ea typeface="Roboto" panose="02000000000000000000" pitchFamily="2" charset="0"/>
          <a:cs typeface="Arial" panose="020B0604020202020204" pitchFamily="34" charset="0"/>
        </a:defRPr>
      </a:lvl1pPr>
      <a:lvl2pPr marL="514350" indent="-171450" algn="l" defTabSz="685800" rtl="0" eaLnBrk="1" latinLnBrk="0" hangingPunct="1">
        <a:lnSpc>
          <a:spcPct val="100000"/>
        </a:lnSpc>
        <a:spcBef>
          <a:spcPts val="375"/>
        </a:spcBef>
        <a:buFont typeface="Roboto" panose="02000000000000000000" pitchFamily="2" charset="0"/>
        <a:buChar char="–"/>
        <a:defRPr sz="1800" kern="1200">
          <a:solidFill>
            <a:schemeClr val="tx1"/>
          </a:solidFill>
          <a:latin typeface="Roboto" panose="02000000000000000000" pitchFamily="2" charset="0"/>
          <a:ea typeface="Roboto" panose="02000000000000000000" pitchFamily="2" charset="0"/>
          <a:cs typeface="Arial" panose="020B0604020202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tx1"/>
          </a:solidFill>
          <a:latin typeface="Roboto" panose="02000000000000000000" pitchFamily="2" charset="0"/>
          <a:ea typeface="Roboto" panose="02000000000000000000" pitchFamily="2" charset="0"/>
          <a:cs typeface="Arial" panose="020B0604020202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tx1"/>
          </a:solidFill>
          <a:latin typeface="Roboto" panose="02000000000000000000" pitchFamily="2" charset="0"/>
          <a:ea typeface="Roboto" panose="02000000000000000000" pitchFamily="2" charset="0"/>
          <a:cs typeface="Arial" panose="020B0604020202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tx1"/>
          </a:solidFill>
          <a:latin typeface="Roboto" panose="02000000000000000000" pitchFamily="2" charset="0"/>
          <a:ea typeface="Roboto" panose="02000000000000000000" pitchFamily="2" charset="0"/>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 Id="rId9"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9.xml"/><Relationship Id="rId5" Type="http://schemas.openxmlformats.org/officeDocument/2006/relationships/image" Target="../media/image38.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27.xml"/><Relationship Id="rId4" Type="http://schemas.openxmlformats.org/officeDocument/2006/relationships/image" Target="../media/image40.jpeg"/></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9.xml"/><Relationship Id="rId5" Type="http://schemas.openxmlformats.org/officeDocument/2006/relationships/image" Target="../media/image38.png"/><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80B23-7308-1745-A1A9-A5522BA49EE8}"/>
              </a:ext>
            </a:extLst>
          </p:cNvPr>
          <p:cNvSpPr>
            <a:spLocks noGrp="1"/>
          </p:cNvSpPr>
          <p:nvPr>
            <p:ph type="ctrTitle"/>
          </p:nvPr>
        </p:nvSpPr>
        <p:spPr>
          <a:xfrm>
            <a:off x="731044" y="2677626"/>
            <a:ext cx="6931628" cy="1847088"/>
          </a:xfrm>
        </p:spPr>
        <p:txBody>
          <a:bodyPr>
            <a:normAutofit/>
          </a:bodyPr>
          <a:lstStyle/>
          <a:p>
            <a:r>
              <a:rPr lang="en-US" dirty="0"/>
              <a:t>Introducing Lesion Profile Mapping</a:t>
            </a:r>
          </a:p>
        </p:txBody>
      </p:sp>
      <p:sp>
        <p:nvSpPr>
          <p:cNvPr id="12" name="Subtitle 11">
            <a:extLst>
              <a:ext uri="{FF2B5EF4-FFF2-40B4-BE49-F238E27FC236}">
                <a16:creationId xmlns:a16="http://schemas.microsoft.com/office/drawing/2014/main" id="{ADA0161C-D166-6E4C-8069-E1FBFE0BE5F2}"/>
              </a:ext>
            </a:extLst>
          </p:cNvPr>
          <p:cNvSpPr>
            <a:spLocks noGrp="1"/>
          </p:cNvSpPr>
          <p:nvPr>
            <p:ph type="subTitle" idx="1"/>
          </p:nvPr>
        </p:nvSpPr>
        <p:spPr>
          <a:xfrm>
            <a:off x="731044" y="4524714"/>
            <a:ext cx="7765770" cy="550037"/>
          </a:xfrm>
        </p:spPr>
        <p:txBody>
          <a:bodyPr>
            <a:normAutofit/>
          </a:bodyPr>
          <a:lstStyle/>
          <a:p>
            <a:r>
              <a:rPr lang="en-US" sz="2800" dirty="0"/>
              <a:t>Jax Skye, PhD</a:t>
            </a:r>
          </a:p>
        </p:txBody>
      </p:sp>
      <p:sp>
        <p:nvSpPr>
          <p:cNvPr id="13" name="Text Placeholder 12">
            <a:extLst>
              <a:ext uri="{FF2B5EF4-FFF2-40B4-BE49-F238E27FC236}">
                <a16:creationId xmlns:a16="http://schemas.microsoft.com/office/drawing/2014/main" id="{6C5EE2B8-026E-D04B-8925-60FA6F76C380}"/>
              </a:ext>
            </a:extLst>
          </p:cNvPr>
          <p:cNvSpPr>
            <a:spLocks noGrp="1"/>
          </p:cNvSpPr>
          <p:nvPr>
            <p:ph type="body" sz="quarter" idx="10"/>
          </p:nvPr>
        </p:nvSpPr>
        <p:spPr>
          <a:xfrm>
            <a:off x="731044" y="5098725"/>
            <a:ext cx="7765770" cy="1378275"/>
          </a:xfrm>
        </p:spPr>
        <p:txBody>
          <a:bodyPr>
            <a:normAutofit/>
          </a:bodyPr>
          <a:lstStyle/>
          <a:p>
            <a:r>
              <a:rPr lang="en-US" dirty="0"/>
              <a:t>October 21, 2025</a:t>
            </a:r>
          </a:p>
          <a:p>
            <a:r>
              <a:rPr lang="en-US" dirty="0"/>
              <a:t>INC Working Group Meeting</a:t>
            </a:r>
          </a:p>
        </p:txBody>
      </p:sp>
      <p:sp>
        <p:nvSpPr>
          <p:cNvPr id="5" name="Footer Placeholder 4">
            <a:extLst>
              <a:ext uri="{FF2B5EF4-FFF2-40B4-BE49-F238E27FC236}">
                <a16:creationId xmlns:a16="http://schemas.microsoft.com/office/drawing/2014/main" id="{A71FEB04-6AB2-DD4F-B560-E3674C11A535}"/>
              </a:ext>
            </a:extLst>
          </p:cNvPr>
          <p:cNvSpPr>
            <a:spLocks noGrp="1"/>
          </p:cNvSpPr>
          <p:nvPr>
            <p:ph type="ftr" sz="quarter" idx="3"/>
          </p:nvPr>
        </p:nvSpPr>
        <p:spPr>
          <a:xfrm>
            <a:off x="714376" y="1774217"/>
            <a:ext cx="6948756" cy="365125"/>
          </a:xfrm>
        </p:spPr>
        <p:txBody>
          <a:bodyPr/>
          <a:lstStyle/>
          <a:p>
            <a:r>
              <a:rPr lang="en-US" dirty="0"/>
              <a:t>Laboratory for Ecological Inference   ||   Social Cognitive Neuroscience Lab</a:t>
            </a:r>
          </a:p>
        </p:txBody>
      </p:sp>
    </p:spTree>
    <p:extLst>
      <p:ext uri="{BB962C8B-B14F-4D97-AF65-F5344CB8AC3E}">
        <p14:creationId xmlns:p14="http://schemas.microsoft.com/office/powerpoint/2010/main" val="3892510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D7DAF-9DDF-91CB-BFCC-94AD4ACEE12B}"/>
              </a:ext>
            </a:extLst>
          </p:cNvPr>
          <p:cNvSpPr>
            <a:spLocks noGrp="1"/>
          </p:cNvSpPr>
          <p:nvPr>
            <p:ph type="ctrTitle"/>
          </p:nvPr>
        </p:nvSpPr>
        <p:spPr/>
        <p:txBody>
          <a:bodyPr/>
          <a:lstStyle/>
          <a:p>
            <a:r>
              <a:rPr lang="en-US" dirty="0"/>
              <a:t>Outline</a:t>
            </a:r>
          </a:p>
        </p:txBody>
      </p:sp>
      <p:sp>
        <p:nvSpPr>
          <p:cNvPr id="3" name="Subtitle 2">
            <a:extLst>
              <a:ext uri="{FF2B5EF4-FFF2-40B4-BE49-F238E27FC236}">
                <a16:creationId xmlns:a16="http://schemas.microsoft.com/office/drawing/2014/main" id="{4FFC0430-EAB8-746C-4549-AE61768C9088}"/>
              </a:ext>
            </a:extLst>
          </p:cNvPr>
          <p:cNvSpPr>
            <a:spLocks noGrp="1"/>
          </p:cNvSpPr>
          <p:nvPr>
            <p:ph type="subTitle" idx="1"/>
          </p:nvPr>
        </p:nvSpPr>
        <p:spPr>
          <a:xfrm>
            <a:off x="714376" y="3694740"/>
            <a:ext cx="7715249" cy="3163260"/>
          </a:xfrm>
        </p:spPr>
        <p:txBody>
          <a:bodyPr>
            <a:normAutofit/>
          </a:bodyPr>
          <a:lstStyle/>
          <a:p>
            <a:r>
              <a:rPr lang="en-US" sz="3200" dirty="0"/>
              <a:t>Background </a:t>
            </a:r>
          </a:p>
          <a:p>
            <a:r>
              <a:rPr lang="en-US" sz="3200" dirty="0"/>
              <a:t>Approach development</a:t>
            </a:r>
          </a:p>
          <a:p>
            <a:r>
              <a:rPr lang="en-US" sz="3200" dirty="0"/>
              <a:t>Lesion profile mapping pipeline</a:t>
            </a:r>
          </a:p>
          <a:p>
            <a:r>
              <a:rPr lang="en-US" sz="3200" dirty="0"/>
              <a:t>Future directions</a:t>
            </a:r>
          </a:p>
          <a:p>
            <a:endParaRPr lang="en-US" sz="3200" dirty="0"/>
          </a:p>
          <a:p>
            <a:endParaRPr lang="en-US" sz="3200" dirty="0"/>
          </a:p>
        </p:txBody>
      </p:sp>
    </p:spTree>
    <p:extLst>
      <p:ext uri="{BB962C8B-B14F-4D97-AF65-F5344CB8AC3E}">
        <p14:creationId xmlns:p14="http://schemas.microsoft.com/office/powerpoint/2010/main" val="14877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4A1B1-2976-CC4F-8FE1-EA47D63AF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70E8A-78DA-FC1D-C32A-56BB60A97816}"/>
              </a:ext>
            </a:extLst>
          </p:cNvPr>
          <p:cNvSpPr>
            <a:spLocks noGrp="1"/>
          </p:cNvSpPr>
          <p:nvPr>
            <p:ph type="ctrTitle"/>
          </p:nvPr>
        </p:nvSpPr>
        <p:spPr/>
        <p:txBody>
          <a:bodyPr/>
          <a:lstStyle/>
          <a:p>
            <a:r>
              <a:rPr lang="en-US" dirty="0"/>
              <a:t>Background</a:t>
            </a:r>
          </a:p>
        </p:txBody>
      </p:sp>
      <p:sp>
        <p:nvSpPr>
          <p:cNvPr id="3" name="Subtitle 2">
            <a:extLst>
              <a:ext uri="{FF2B5EF4-FFF2-40B4-BE49-F238E27FC236}">
                <a16:creationId xmlns:a16="http://schemas.microsoft.com/office/drawing/2014/main" id="{DDF5D5DD-099C-0ABC-7809-110F2A2870D8}"/>
              </a:ext>
            </a:extLst>
          </p:cNvPr>
          <p:cNvSpPr>
            <a:spLocks noGrp="1"/>
          </p:cNvSpPr>
          <p:nvPr>
            <p:ph type="subTitle" idx="1"/>
          </p:nvPr>
        </p:nvSpPr>
        <p:spPr>
          <a:xfrm>
            <a:off x="714376" y="3694740"/>
            <a:ext cx="7715249" cy="1979550"/>
          </a:xfrm>
        </p:spPr>
        <p:txBody>
          <a:bodyPr>
            <a:normAutofit/>
          </a:bodyPr>
          <a:lstStyle/>
          <a:p>
            <a:endParaRPr lang="en-US" dirty="0"/>
          </a:p>
        </p:txBody>
      </p:sp>
    </p:spTree>
    <p:extLst>
      <p:ext uri="{BB962C8B-B14F-4D97-AF65-F5344CB8AC3E}">
        <p14:creationId xmlns:p14="http://schemas.microsoft.com/office/powerpoint/2010/main" val="1889207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4CB914-A7C6-486A-B2B2-11A098EBD34A}"/>
              </a:ext>
            </a:extLst>
          </p:cNvPr>
          <p:cNvPicPr>
            <a:picLocks noChangeAspect="1"/>
          </p:cNvPicPr>
          <p:nvPr/>
        </p:nvPicPr>
        <p:blipFill rotWithShape="1">
          <a:blip r:embed="rId3"/>
          <a:srcRect l="9559" t="20990" r="7919" b="4378"/>
          <a:stretch/>
        </p:blipFill>
        <p:spPr>
          <a:xfrm>
            <a:off x="136401" y="2326884"/>
            <a:ext cx="2915866" cy="2745347"/>
          </a:xfrm>
          <a:prstGeom prst="rect">
            <a:avLst/>
          </a:prstGeom>
        </p:spPr>
      </p:pic>
      <p:sp>
        <p:nvSpPr>
          <p:cNvPr id="2" name="Rectangle 1">
            <a:extLst>
              <a:ext uri="{FF2B5EF4-FFF2-40B4-BE49-F238E27FC236}">
                <a16:creationId xmlns:a16="http://schemas.microsoft.com/office/drawing/2014/main" id="{B50F8F7F-0880-345D-F301-14B496603622}"/>
              </a:ext>
            </a:extLst>
          </p:cNvPr>
          <p:cNvSpPr/>
          <p:nvPr/>
        </p:nvSpPr>
        <p:spPr>
          <a:xfrm>
            <a:off x="424543" y="767443"/>
            <a:ext cx="1616528" cy="81642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54B6D9FD-DFEE-4FAC-AD80-71D5B4E8C31B}"/>
              </a:ext>
            </a:extLst>
          </p:cNvPr>
          <p:cNvSpPr>
            <a:spLocks noGrp="1"/>
          </p:cNvSpPr>
          <p:nvPr>
            <p:ph type="title"/>
          </p:nvPr>
        </p:nvSpPr>
        <p:spPr>
          <a:xfrm>
            <a:off x="714375" y="1252333"/>
            <a:ext cx="7715251" cy="651817"/>
          </a:xfrm>
        </p:spPr>
        <p:txBody>
          <a:bodyPr/>
          <a:lstStyle/>
          <a:p>
            <a:r>
              <a:rPr lang="en-US">
                <a:solidFill>
                  <a:schemeClr val="bg1"/>
                </a:solidFill>
              </a:rPr>
              <a:t>Lesion-Symptom Mapping</a:t>
            </a:r>
          </a:p>
        </p:txBody>
      </p:sp>
    </p:spTree>
    <p:extLst>
      <p:ext uri="{BB962C8B-B14F-4D97-AF65-F5344CB8AC3E}">
        <p14:creationId xmlns:p14="http://schemas.microsoft.com/office/powerpoint/2010/main" val="552319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D1611A5-4ED0-6CD1-006F-6FEBFA79B43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E36B30-214A-91B2-B3A8-03316EA3BBB7}"/>
              </a:ext>
            </a:extLst>
          </p:cNvPr>
          <p:cNvPicPr>
            <a:picLocks noChangeAspect="1"/>
          </p:cNvPicPr>
          <p:nvPr/>
        </p:nvPicPr>
        <p:blipFill rotWithShape="1">
          <a:blip r:embed="rId3"/>
          <a:srcRect l="9559" t="20990" r="7919" b="4378"/>
          <a:stretch/>
        </p:blipFill>
        <p:spPr>
          <a:xfrm>
            <a:off x="136401" y="2326884"/>
            <a:ext cx="2915866" cy="2745347"/>
          </a:xfrm>
          <a:prstGeom prst="rect">
            <a:avLst/>
          </a:prstGeom>
        </p:spPr>
      </p:pic>
      <p:pic>
        <p:nvPicPr>
          <p:cNvPr id="9" name="Picture 8">
            <a:extLst>
              <a:ext uri="{FF2B5EF4-FFF2-40B4-BE49-F238E27FC236}">
                <a16:creationId xmlns:a16="http://schemas.microsoft.com/office/drawing/2014/main" id="{E04AF6E5-4481-7D41-B07B-13E720BB0AEC}"/>
              </a:ext>
            </a:extLst>
          </p:cNvPr>
          <p:cNvPicPr>
            <a:picLocks noChangeAspect="1"/>
          </p:cNvPicPr>
          <p:nvPr/>
        </p:nvPicPr>
        <p:blipFill rotWithShape="1">
          <a:blip r:embed="rId4"/>
          <a:srcRect l="7090" t="13105" r="6771" b="11146"/>
          <a:stretch/>
        </p:blipFill>
        <p:spPr>
          <a:xfrm>
            <a:off x="3114066" y="2390575"/>
            <a:ext cx="2715020" cy="2624519"/>
          </a:xfrm>
          <a:prstGeom prst="rect">
            <a:avLst/>
          </a:prstGeom>
        </p:spPr>
      </p:pic>
      <p:sp>
        <p:nvSpPr>
          <p:cNvPr id="2" name="Rectangle 1">
            <a:extLst>
              <a:ext uri="{FF2B5EF4-FFF2-40B4-BE49-F238E27FC236}">
                <a16:creationId xmlns:a16="http://schemas.microsoft.com/office/drawing/2014/main" id="{FC5A881D-BBC8-EAEA-7350-5027A82FEBBB}"/>
              </a:ext>
            </a:extLst>
          </p:cNvPr>
          <p:cNvSpPr/>
          <p:nvPr/>
        </p:nvSpPr>
        <p:spPr>
          <a:xfrm>
            <a:off x="424543" y="767443"/>
            <a:ext cx="1616528" cy="81642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1A9F5D71-FA9A-CFEA-7EFE-642240B12BF4}"/>
              </a:ext>
            </a:extLst>
          </p:cNvPr>
          <p:cNvSpPr>
            <a:spLocks noGrp="1"/>
          </p:cNvSpPr>
          <p:nvPr>
            <p:ph type="title"/>
          </p:nvPr>
        </p:nvSpPr>
        <p:spPr>
          <a:xfrm>
            <a:off x="714375" y="1252333"/>
            <a:ext cx="7715251" cy="651817"/>
          </a:xfrm>
        </p:spPr>
        <p:txBody>
          <a:bodyPr/>
          <a:lstStyle/>
          <a:p>
            <a:r>
              <a:rPr lang="en-US">
                <a:solidFill>
                  <a:schemeClr val="bg1"/>
                </a:solidFill>
              </a:rPr>
              <a:t>Lesion-Symptom Mapping</a:t>
            </a:r>
          </a:p>
        </p:txBody>
      </p:sp>
    </p:spTree>
    <p:extLst>
      <p:ext uri="{BB962C8B-B14F-4D97-AF65-F5344CB8AC3E}">
        <p14:creationId xmlns:p14="http://schemas.microsoft.com/office/powerpoint/2010/main" val="1450721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8CF26B-53C5-C3D3-3E82-0C51E0CBCE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2B48127-D964-6F1E-7B19-8CA4D5E0464E}"/>
              </a:ext>
            </a:extLst>
          </p:cNvPr>
          <p:cNvPicPr>
            <a:picLocks noChangeAspect="1"/>
          </p:cNvPicPr>
          <p:nvPr/>
        </p:nvPicPr>
        <p:blipFill rotWithShape="1">
          <a:blip r:embed="rId3"/>
          <a:srcRect l="9559" t="20990" r="7919" b="4378"/>
          <a:stretch/>
        </p:blipFill>
        <p:spPr>
          <a:xfrm>
            <a:off x="136401" y="2326884"/>
            <a:ext cx="2915866" cy="2745347"/>
          </a:xfrm>
          <a:prstGeom prst="rect">
            <a:avLst/>
          </a:prstGeom>
        </p:spPr>
      </p:pic>
      <p:pic>
        <p:nvPicPr>
          <p:cNvPr id="9" name="Picture 8">
            <a:extLst>
              <a:ext uri="{FF2B5EF4-FFF2-40B4-BE49-F238E27FC236}">
                <a16:creationId xmlns:a16="http://schemas.microsoft.com/office/drawing/2014/main" id="{11CBF51D-EEBD-ACA2-E212-AF1D712E5907}"/>
              </a:ext>
            </a:extLst>
          </p:cNvPr>
          <p:cNvPicPr>
            <a:picLocks noChangeAspect="1"/>
          </p:cNvPicPr>
          <p:nvPr/>
        </p:nvPicPr>
        <p:blipFill rotWithShape="1">
          <a:blip r:embed="rId4"/>
          <a:srcRect l="7090" t="13105" r="6771" b="11146"/>
          <a:stretch/>
        </p:blipFill>
        <p:spPr>
          <a:xfrm>
            <a:off x="3114066" y="2390575"/>
            <a:ext cx="2715020" cy="2624519"/>
          </a:xfrm>
          <a:prstGeom prst="rect">
            <a:avLst/>
          </a:prstGeom>
        </p:spPr>
      </p:pic>
      <p:pic>
        <p:nvPicPr>
          <p:cNvPr id="11" name="Picture 10">
            <a:extLst>
              <a:ext uri="{FF2B5EF4-FFF2-40B4-BE49-F238E27FC236}">
                <a16:creationId xmlns:a16="http://schemas.microsoft.com/office/drawing/2014/main" id="{1C9741AF-76E5-C398-E7F8-85D63F2C6C28}"/>
              </a:ext>
            </a:extLst>
          </p:cNvPr>
          <p:cNvPicPr>
            <a:picLocks noChangeAspect="1"/>
          </p:cNvPicPr>
          <p:nvPr/>
        </p:nvPicPr>
        <p:blipFill rotWithShape="1">
          <a:blip r:embed="rId5"/>
          <a:srcRect l="7514" t="8016" r="5124" b="8055"/>
          <a:stretch/>
        </p:blipFill>
        <p:spPr>
          <a:xfrm>
            <a:off x="5991772" y="2176050"/>
            <a:ext cx="2957465" cy="3050866"/>
          </a:xfrm>
          <a:prstGeom prst="rect">
            <a:avLst/>
          </a:prstGeom>
        </p:spPr>
      </p:pic>
      <p:sp>
        <p:nvSpPr>
          <p:cNvPr id="2" name="Rectangle 1">
            <a:extLst>
              <a:ext uri="{FF2B5EF4-FFF2-40B4-BE49-F238E27FC236}">
                <a16:creationId xmlns:a16="http://schemas.microsoft.com/office/drawing/2014/main" id="{98EAA0B3-33AF-4129-7F2B-56A03A5EAFEE}"/>
              </a:ext>
            </a:extLst>
          </p:cNvPr>
          <p:cNvSpPr/>
          <p:nvPr/>
        </p:nvSpPr>
        <p:spPr>
          <a:xfrm>
            <a:off x="424543" y="767443"/>
            <a:ext cx="1616528" cy="81642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itle 1">
            <a:extLst>
              <a:ext uri="{FF2B5EF4-FFF2-40B4-BE49-F238E27FC236}">
                <a16:creationId xmlns:a16="http://schemas.microsoft.com/office/drawing/2014/main" id="{961EB6EE-3356-9423-1544-278F914EF4F2}"/>
              </a:ext>
            </a:extLst>
          </p:cNvPr>
          <p:cNvSpPr>
            <a:spLocks noGrp="1"/>
          </p:cNvSpPr>
          <p:nvPr>
            <p:ph type="title"/>
          </p:nvPr>
        </p:nvSpPr>
        <p:spPr>
          <a:xfrm>
            <a:off x="714375" y="1252333"/>
            <a:ext cx="7715251" cy="651817"/>
          </a:xfrm>
        </p:spPr>
        <p:txBody>
          <a:bodyPr/>
          <a:lstStyle/>
          <a:p>
            <a:r>
              <a:rPr lang="en-US">
                <a:solidFill>
                  <a:schemeClr val="bg1"/>
                </a:solidFill>
              </a:rPr>
              <a:t>Lesion-Symptom Mapping</a:t>
            </a:r>
          </a:p>
        </p:txBody>
      </p:sp>
    </p:spTree>
    <p:extLst>
      <p:ext uri="{BB962C8B-B14F-4D97-AF65-F5344CB8AC3E}">
        <p14:creationId xmlns:p14="http://schemas.microsoft.com/office/powerpoint/2010/main" val="1458794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BA552-51F0-13F8-A0F0-67BC66BB2DC1}"/>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1872FD11-1E6E-F3AE-B7A6-CCBD91A26270}"/>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dirty="0"/>
          </a:p>
        </p:txBody>
      </p:sp>
      <p:sp>
        <p:nvSpPr>
          <p:cNvPr id="4" name="Rectangle 3">
            <a:extLst>
              <a:ext uri="{FF2B5EF4-FFF2-40B4-BE49-F238E27FC236}">
                <a16:creationId xmlns:a16="http://schemas.microsoft.com/office/drawing/2014/main" id="{4388DA5D-49B1-74C7-3BB3-7BE96FF721BB}"/>
              </a:ext>
            </a:extLst>
          </p:cNvPr>
          <p:cNvSpPr/>
          <p:nvPr/>
        </p:nvSpPr>
        <p:spPr>
          <a:xfrm>
            <a:off x="624114" y="232230"/>
            <a:ext cx="3947886"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Brain lesion location</a:t>
            </a:r>
          </a:p>
          <a:p>
            <a:pPr algn="ctr"/>
            <a:r>
              <a:rPr lang="en-US" sz="2800" dirty="0">
                <a:solidFill>
                  <a:schemeClr val="tx1"/>
                </a:solidFill>
              </a:rPr>
              <a:t>(structural MRI)</a:t>
            </a:r>
          </a:p>
        </p:txBody>
      </p:sp>
      <p:sp>
        <p:nvSpPr>
          <p:cNvPr id="6" name="Rectangle 5">
            <a:extLst>
              <a:ext uri="{FF2B5EF4-FFF2-40B4-BE49-F238E27FC236}">
                <a16:creationId xmlns:a16="http://schemas.microsoft.com/office/drawing/2014/main" id="{D05DDA6E-832C-AD62-221A-9EFACEE6B130}"/>
              </a:ext>
            </a:extLst>
          </p:cNvPr>
          <p:cNvSpPr/>
          <p:nvPr/>
        </p:nvSpPr>
        <p:spPr>
          <a:xfrm>
            <a:off x="5112657" y="232230"/>
            <a:ext cx="3367314"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Behavioral test score</a:t>
            </a:r>
          </a:p>
        </p:txBody>
      </p:sp>
      <p:sp>
        <p:nvSpPr>
          <p:cNvPr id="7" name="Rectangle 6">
            <a:extLst>
              <a:ext uri="{FF2B5EF4-FFF2-40B4-BE49-F238E27FC236}">
                <a16:creationId xmlns:a16="http://schemas.microsoft.com/office/drawing/2014/main" id="{FEE315BB-0BAB-FB5D-89F8-EAC270BD4DC7}"/>
              </a:ext>
            </a:extLst>
          </p:cNvPr>
          <p:cNvSpPr/>
          <p:nvPr/>
        </p:nvSpPr>
        <p:spPr>
          <a:xfrm>
            <a:off x="6255657" y="1342573"/>
            <a:ext cx="1081314" cy="4898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3000"/>
              </a:spcAft>
            </a:pPr>
            <a:r>
              <a:rPr lang="en-US" sz="3600" dirty="0">
                <a:solidFill>
                  <a:schemeClr val="tx1"/>
                </a:solidFill>
              </a:rPr>
              <a:t>38</a:t>
            </a:r>
          </a:p>
          <a:p>
            <a:pPr algn="ctr">
              <a:spcAft>
                <a:spcPts val="3000"/>
              </a:spcAft>
            </a:pPr>
            <a:r>
              <a:rPr lang="en-US" sz="3600" dirty="0">
                <a:solidFill>
                  <a:schemeClr val="tx1"/>
                </a:solidFill>
              </a:rPr>
              <a:t>37</a:t>
            </a:r>
          </a:p>
          <a:p>
            <a:pPr algn="ctr">
              <a:spcAft>
                <a:spcPts val="3000"/>
              </a:spcAft>
            </a:pPr>
            <a:r>
              <a:rPr lang="en-US" sz="3600" dirty="0">
                <a:solidFill>
                  <a:schemeClr val="tx1"/>
                </a:solidFill>
              </a:rPr>
              <a:t>25</a:t>
            </a:r>
          </a:p>
          <a:p>
            <a:pPr algn="ctr">
              <a:spcAft>
                <a:spcPts val="3000"/>
              </a:spcAft>
            </a:pPr>
            <a:r>
              <a:rPr lang="en-US" sz="3600" dirty="0">
                <a:solidFill>
                  <a:schemeClr val="tx1"/>
                </a:solidFill>
              </a:rPr>
              <a:t>22</a:t>
            </a:r>
          </a:p>
          <a:p>
            <a:pPr algn="ctr">
              <a:spcAft>
                <a:spcPts val="3000"/>
              </a:spcAft>
            </a:pPr>
            <a:r>
              <a:rPr lang="en-US" sz="3600" dirty="0">
                <a:solidFill>
                  <a:schemeClr val="tx1"/>
                </a:solidFill>
              </a:rPr>
              <a:t>34</a:t>
            </a:r>
          </a:p>
        </p:txBody>
      </p:sp>
      <p:grpSp>
        <p:nvGrpSpPr>
          <p:cNvPr id="12" name="Group 11">
            <a:extLst>
              <a:ext uri="{FF2B5EF4-FFF2-40B4-BE49-F238E27FC236}">
                <a16:creationId xmlns:a16="http://schemas.microsoft.com/office/drawing/2014/main" id="{069E5FD5-CA14-7E8B-0A6C-27747B07626E}"/>
              </a:ext>
            </a:extLst>
          </p:cNvPr>
          <p:cNvGrpSpPr/>
          <p:nvPr/>
        </p:nvGrpSpPr>
        <p:grpSpPr>
          <a:xfrm>
            <a:off x="2161647" y="1554797"/>
            <a:ext cx="776440" cy="4544660"/>
            <a:chOff x="5616047" y="1554797"/>
            <a:chExt cx="776440" cy="4544660"/>
          </a:xfrm>
        </p:grpSpPr>
        <p:pic>
          <p:nvPicPr>
            <p:cNvPr id="1026" name="Picture 2">
              <a:extLst>
                <a:ext uri="{FF2B5EF4-FFF2-40B4-BE49-F238E27FC236}">
                  <a16:creationId xmlns:a16="http://schemas.microsoft.com/office/drawing/2014/main" id="{ABCC8676-2D23-D22E-A3F0-C625803420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1554797"/>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249210B6-B275-BA0C-A8B9-4C1D524129D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2477826"/>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57DF2696-7B41-B57B-8B45-F4095EFF09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3376553"/>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912DB36D-29CD-DD1D-3721-06D94A7CC6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4296551"/>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7C873106-3770-F195-1579-6D55859712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5268847"/>
              <a:ext cx="776440" cy="83061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Rectangle 12">
            <a:extLst>
              <a:ext uri="{FF2B5EF4-FFF2-40B4-BE49-F238E27FC236}">
                <a16:creationId xmlns:a16="http://schemas.microsoft.com/office/drawing/2014/main" id="{4AF8CC1E-5172-89B5-801E-F9094C9D9C4F}"/>
              </a:ext>
            </a:extLst>
          </p:cNvPr>
          <p:cNvSpPr/>
          <p:nvPr/>
        </p:nvSpPr>
        <p:spPr>
          <a:xfrm>
            <a:off x="328386" y="1146630"/>
            <a:ext cx="1081314" cy="1959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ultiplication Sign 14">
            <a:extLst>
              <a:ext uri="{FF2B5EF4-FFF2-40B4-BE49-F238E27FC236}">
                <a16:creationId xmlns:a16="http://schemas.microsoft.com/office/drawing/2014/main" id="{C90A18BA-D832-4081-2B8D-EA6DE5FF8805}"/>
              </a:ext>
            </a:extLst>
          </p:cNvPr>
          <p:cNvSpPr/>
          <p:nvPr/>
        </p:nvSpPr>
        <p:spPr>
          <a:xfrm>
            <a:off x="3769558" y="2584500"/>
            <a:ext cx="1828800" cy="1828800"/>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3719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77024-69C9-D7FA-01BF-0949C2B99973}"/>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7EFA148D-243B-A5F1-4BD0-906B658D37E6}"/>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dirty="0"/>
          </a:p>
        </p:txBody>
      </p:sp>
      <p:sp>
        <p:nvSpPr>
          <p:cNvPr id="16" name="Rectangle 15">
            <a:extLst>
              <a:ext uri="{FF2B5EF4-FFF2-40B4-BE49-F238E27FC236}">
                <a16:creationId xmlns:a16="http://schemas.microsoft.com/office/drawing/2014/main" id="{4890C351-1A08-B6CA-A95E-40AF801F630B}"/>
              </a:ext>
            </a:extLst>
          </p:cNvPr>
          <p:cNvSpPr/>
          <p:nvPr/>
        </p:nvSpPr>
        <p:spPr>
          <a:xfrm>
            <a:off x="-1200150" y="100652"/>
            <a:ext cx="4152900" cy="21662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screenshot of a computer screen&#10;&#10;AI-generated content may be incorrect.">
            <a:extLst>
              <a:ext uri="{FF2B5EF4-FFF2-40B4-BE49-F238E27FC236}">
                <a16:creationId xmlns:a16="http://schemas.microsoft.com/office/drawing/2014/main" id="{90AF6964-186E-CAE5-A835-1EE79A7D3799}"/>
              </a:ext>
            </a:extLst>
          </p:cNvPr>
          <p:cNvPicPr>
            <a:picLocks noChangeAspect="1"/>
          </p:cNvPicPr>
          <p:nvPr/>
        </p:nvPicPr>
        <p:blipFill>
          <a:blip r:embed="rId3"/>
          <a:stretch>
            <a:fillRect/>
          </a:stretch>
        </p:blipFill>
        <p:spPr>
          <a:xfrm>
            <a:off x="0" y="100652"/>
            <a:ext cx="4458988" cy="3328348"/>
          </a:xfrm>
          <a:prstGeom prst="rect">
            <a:avLst/>
          </a:prstGeom>
        </p:spPr>
      </p:pic>
      <p:pic>
        <p:nvPicPr>
          <p:cNvPr id="17" name="Picture 16">
            <a:extLst>
              <a:ext uri="{FF2B5EF4-FFF2-40B4-BE49-F238E27FC236}">
                <a16:creationId xmlns:a16="http://schemas.microsoft.com/office/drawing/2014/main" id="{EDBE1F3B-3F2C-FD04-72E0-E1502DF26117}"/>
              </a:ext>
            </a:extLst>
          </p:cNvPr>
          <p:cNvPicPr>
            <a:picLocks noChangeAspect="1"/>
          </p:cNvPicPr>
          <p:nvPr/>
        </p:nvPicPr>
        <p:blipFill>
          <a:blip r:embed="rId4"/>
          <a:stretch>
            <a:fillRect/>
          </a:stretch>
        </p:blipFill>
        <p:spPr>
          <a:xfrm>
            <a:off x="0" y="3793374"/>
            <a:ext cx="9144000" cy="1823952"/>
          </a:xfrm>
          <a:prstGeom prst="rect">
            <a:avLst/>
          </a:prstGeom>
        </p:spPr>
      </p:pic>
      <p:sp>
        <p:nvSpPr>
          <p:cNvPr id="18" name="TextBox 17">
            <a:extLst>
              <a:ext uri="{FF2B5EF4-FFF2-40B4-BE49-F238E27FC236}">
                <a16:creationId xmlns:a16="http://schemas.microsoft.com/office/drawing/2014/main" id="{BFAC1F10-1777-3B8C-3F9F-7BC287ADDAD4}"/>
              </a:ext>
            </a:extLst>
          </p:cNvPr>
          <p:cNvSpPr txBox="1"/>
          <p:nvPr/>
        </p:nvSpPr>
        <p:spPr>
          <a:xfrm>
            <a:off x="6066971" y="5901508"/>
            <a:ext cx="3077029" cy="400110"/>
          </a:xfrm>
          <a:prstGeom prst="rect">
            <a:avLst/>
          </a:prstGeom>
          <a:noFill/>
        </p:spPr>
        <p:txBody>
          <a:bodyPr wrap="square" rtlCol="0">
            <a:spAutoFit/>
          </a:bodyPr>
          <a:lstStyle/>
          <a:p>
            <a:pPr algn="r"/>
            <a:r>
              <a:rPr lang="en-US" sz="2000" dirty="0"/>
              <a:t>(Skye et al, 2023)</a:t>
            </a:r>
          </a:p>
        </p:txBody>
      </p:sp>
    </p:spTree>
    <p:extLst>
      <p:ext uri="{BB962C8B-B14F-4D97-AF65-F5344CB8AC3E}">
        <p14:creationId xmlns:p14="http://schemas.microsoft.com/office/powerpoint/2010/main" val="3742150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56D7E89-53C6-BF52-B604-095FF146611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53A2F00-55C2-332C-F242-09119A9FC14E}"/>
              </a:ext>
            </a:extLst>
          </p:cNvPr>
          <p:cNvSpPr/>
          <p:nvPr/>
        </p:nvSpPr>
        <p:spPr>
          <a:xfrm>
            <a:off x="-1828800" y="400050"/>
            <a:ext cx="5734050" cy="1447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675D47-40A7-B58F-0A85-B5E608C78442}"/>
              </a:ext>
            </a:extLst>
          </p:cNvPr>
          <p:cNvSpPr>
            <a:spLocks noGrp="1"/>
          </p:cNvSpPr>
          <p:nvPr>
            <p:ph type="title"/>
          </p:nvPr>
        </p:nvSpPr>
        <p:spPr>
          <a:xfrm>
            <a:off x="156816" y="-40380"/>
            <a:ext cx="8811855" cy="869089"/>
          </a:xfrm>
        </p:spPr>
        <p:txBody>
          <a:bodyPr>
            <a:normAutofit fontScale="90000"/>
          </a:bodyPr>
          <a:lstStyle/>
          <a:p>
            <a:r>
              <a:rPr lang="en-US" dirty="0"/>
              <a:t>Current Approach 1: Mapping Test Performance</a:t>
            </a:r>
          </a:p>
        </p:txBody>
      </p:sp>
      <p:sp>
        <p:nvSpPr>
          <p:cNvPr id="5" name="Footer Placeholder 3">
            <a:extLst>
              <a:ext uri="{FF2B5EF4-FFF2-40B4-BE49-F238E27FC236}">
                <a16:creationId xmlns:a16="http://schemas.microsoft.com/office/drawing/2014/main" id="{0279603F-D864-C391-0928-BE60AA1A32C6}"/>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dirty="0"/>
          </a:p>
        </p:txBody>
      </p:sp>
      <p:pic>
        <p:nvPicPr>
          <p:cNvPr id="4" name="Picture 3">
            <a:extLst>
              <a:ext uri="{FF2B5EF4-FFF2-40B4-BE49-F238E27FC236}">
                <a16:creationId xmlns:a16="http://schemas.microsoft.com/office/drawing/2014/main" id="{10EBA69B-E90A-273E-4254-6F3460C8091A}"/>
              </a:ext>
            </a:extLst>
          </p:cNvPr>
          <p:cNvPicPr>
            <a:picLocks noChangeAspect="1"/>
          </p:cNvPicPr>
          <p:nvPr/>
        </p:nvPicPr>
        <p:blipFill>
          <a:blip r:embed="rId3"/>
          <a:stretch>
            <a:fillRect/>
          </a:stretch>
        </p:blipFill>
        <p:spPr>
          <a:xfrm>
            <a:off x="1" y="772109"/>
            <a:ext cx="5486400" cy="1956840"/>
          </a:xfrm>
          <a:prstGeom prst="rect">
            <a:avLst/>
          </a:prstGeom>
        </p:spPr>
      </p:pic>
      <p:pic>
        <p:nvPicPr>
          <p:cNvPr id="7" name="Picture 6">
            <a:extLst>
              <a:ext uri="{FF2B5EF4-FFF2-40B4-BE49-F238E27FC236}">
                <a16:creationId xmlns:a16="http://schemas.microsoft.com/office/drawing/2014/main" id="{4C023EF8-35FB-5A25-636F-E395FED11D12}"/>
              </a:ext>
            </a:extLst>
          </p:cNvPr>
          <p:cNvPicPr>
            <a:picLocks noChangeAspect="1"/>
          </p:cNvPicPr>
          <p:nvPr/>
        </p:nvPicPr>
        <p:blipFill>
          <a:blip r:embed="rId4"/>
          <a:stretch>
            <a:fillRect/>
          </a:stretch>
        </p:blipFill>
        <p:spPr>
          <a:xfrm>
            <a:off x="0" y="2706647"/>
            <a:ext cx="8811855" cy="1810003"/>
          </a:xfrm>
          <a:prstGeom prst="rect">
            <a:avLst/>
          </a:prstGeom>
        </p:spPr>
      </p:pic>
      <p:pic>
        <p:nvPicPr>
          <p:cNvPr id="9" name="Picture 8">
            <a:extLst>
              <a:ext uri="{FF2B5EF4-FFF2-40B4-BE49-F238E27FC236}">
                <a16:creationId xmlns:a16="http://schemas.microsoft.com/office/drawing/2014/main" id="{6D8F741E-0004-D059-E520-C9D545D1435B}"/>
              </a:ext>
            </a:extLst>
          </p:cNvPr>
          <p:cNvPicPr>
            <a:picLocks noChangeAspect="1"/>
          </p:cNvPicPr>
          <p:nvPr/>
        </p:nvPicPr>
        <p:blipFill>
          <a:blip r:embed="rId5"/>
          <a:stretch>
            <a:fillRect/>
          </a:stretch>
        </p:blipFill>
        <p:spPr>
          <a:xfrm>
            <a:off x="0" y="4497749"/>
            <a:ext cx="8697951" cy="1724374"/>
          </a:xfrm>
          <a:prstGeom prst="rect">
            <a:avLst/>
          </a:prstGeom>
        </p:spPr>
      </p:pic>
      <p:sp>
        <p:nvSpPr>
          <p:cNvPr id="3" name="Rectangle 2">
            <a:extLst>
              <a:ext uri="{FF2B5EF4-FFF2-40B4-BE49-F238E27FC236}">
                <a16:creationId xmlns:a16="http://schemas.microsoft.com/office/drawing/2014/main" id="{236EB574-5985-6C49-4F43-1257B9EDA23E}"/>
              </a:ext>
            </a:extLst>
          </p:cNvPr>
          <p:cNvSpPr/>
          <p:nvPr/>
        </p:nvSpPr>
        <p:spPr>
          <a:xfrm>
            <a:off x="5638800" y="5960183"/>
            <a:ext cx="1524000" cy="247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523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A60B20-A0DE-2D72-D799-F8C4248B55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4BF0741-8938-A7A3-C77E-36B04CE0C11C}"/>
              </a:ext>
            </a:extLst>
          </p:cNvPr>
          <p:cNvSpPr/>
          <p:nvPr/>
        </p:nvSpPr>
        <p:spPr>
          <a:xfrm>
            <a:off x="-1828800" y="400050"/>
            <a:ext cx="5734050" cy="1447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3">
            <a:extLst>
              <a:ext uri="{FF2B5EF4-FFF2-40B4-BE49-F238E27FC236}">
                <a16:creationId xmlns:a16="http://schemas.microsoft.com/office/drawing/2014/main" id="{E4C4C527-9C2C-6969-9197-9BDC692739DA}"/>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dirty="0"/>
          </a:p>
        </p:txBody>
      </p:sp>
      <p:sp>
        <p:nvSpPr>
          <p:cNvPr id="6" name="Title 1">
            <a:extLst>
              <a:ext uri="{FF2B5EF4-FFF2-40B4-BE49-F238E27FC236}">
                <a16:creationId xmlns:a16="http://schemas.microsoft.com/office/drawing/2014/main" id="{F591830A-A1D1-B797-CBA9-8A57C491B5A1}"/>
              </a:ext>
            </a:extLst>
          </p:cNvPr>
          <p:cNvSpPr txBox="1">
            <a:spLocks/>
          </p:cNvSpPr>
          <p:nvPr/>
        </p:nvSpPr>
        <p:spPr>
          <a:xfrm>
            <a:off x="78408" y="-68014"/>
            <a:ext cx="8987184" cy="869089"/>
          </a:xfrm>
          <a:prstGeom prst="rect">
            <a:avLst/>
          </a:prstGeom>
        </p:spPr>
        <p:txBody>
          <a:bodyPr vert="horz" lIns="0" tIns="0" rIns="0" bIns="0" rtlCol="0" anchor="ctr">
            <a:normAutofit fontScale="97500"/>
          </a:bodyPr>
          <a:lstStyle>
            <a:lvl1pPr algn="l" defTabSz="685800" rtl="0" eaLnBrk="1" latinLnBrk="0" hangingPunct="1">
              <a:lnSpc>
                <a:spcPct val="90000"/>
              </a:lnSpc>
              <a:spcBef>
                <a:spcPct val="0"/>
              </a:spcBef>
              <a:buNone/>
              <a:defRPr sz="3300" b="1" kern="1200">
                <a:solidFill>
                  <a:schemeClr val="tx1"/>
                </a:solidFill>
                <a:latin typeface="Roboto" panose="02000000000000000000" pitchFamily="2" charset="0"/>
                <a:ea typeface="Roboto" panose="02000000000000000000" pitchFamily="2" charset="0"/>
                <a:cs typeface="Arial" panose="020B0604020202020204" pitchFamily="34" charset="0"/>
              </a:defRPr>
            </a:lvl1pPr>
          </a:lstStyle>
          <a:p>
            <a:r>
              <a:rPr lang="en-US" dirty="0"/>
              <a:t>Current Approach 2: Mapping Cognitive Domains</a:t>
            </a:r>
          </a:p>
        </p:txBody>
      </p:sp>
      <p:grpSp>
        <p:nvGrpSpPr>
          <p:cNvPr id="10" name="Group 9">
            <a:extLst>
              <a:ext uri="{FF2B5EF4-FFF2-40B4-BE49-F238E27FC236}">
                <a16:creationId xmlns:a16="http://schemas.microsoft.com/office/drawing/2014/main" id="{9647970B-87DD-7035-E861-88BEE02E7F0E}"/>
              </a:ext>
            </a:extLst>
          </p:cNvPr>
          <p:cNvGrpSpPr/>
          <p:nvPr/>
        </p:nvGrpSpPr>
        <p:grpSpPr>
          <a:xfrm>
            <a:off x="-259460" y="620333"/>
            <a:ext cx="9421611" cy="2079328"/>
            <a:chOff x="1416987" y="2033392"/>
            <a:chExt cx="6193912" cy="1366981"/>
          </a:xfrm>
        </p:grpSpPr>
        <p:pic>
          <p:nvPicPr>
            <p:cNvPr id="8" name="Picture 7">
              <a:extLst>
                <a:ext uri="{FF2B5EF4-FFF2-40B4-BE49-F238E27FC236}">
                  <a16:creationId xmlns:a16="http://schemas.microsoft.com/office/drawing/2014/main" id="{33676205-4553-F327-B766-083A536B6AF9}"/>
                </a:ext>
              </a:extLst>
            </p:cNvPr>
            <p:cNvPicPr>
              <a:picLocks noChangeAspect="1"/>
            </p:cNvPicPr>
            <p:nvPr/>
          </p:nvPicPr>
          <p:blipFill>
            <a:blip r:embed="rId3"/>
            <a:srcRect b="78173"/>
            <a:stretch>
              <a:fillRect/>
            </a:stretch>
          </p:blipFill>
          <p:spPr>
            <a:xfrm>
              <a:off x="1533101" y="2033392"/>
              <a:ext cx="6077798" cy="609241"/>
            </a:xfrm>
            <a:prstGeom prst="rect">
              <a:avLst/>
            </a:prstGeom>
          </p:spPr>
        </p:pic>
        <p:pic>
          <p:nvPicPr>
            <p:cNvPr id="9" name="Picture 8">
              <a:extLst>
                <a:ext uri="{FF2B5EF4-FFF2-40B4-BE49-F238E27FC236}">
                  <a16:creationId xmlns:a16="http://schemas.microsoft.com/office/drawing/2014/main" id="{3E02C596-5BCB-219B-DF2F-FC54A034A7A6}"/>
                </a:ext>
              </a:extLst>
            </p:cNvPr>
            <p:cNvPicPr>
              <a:picLocks noChangeAspect="1"/>
            </p:cNvPicPr>
            <p:nvPr/>
          </p:nvPicPr>
          <p:blipFill>
            <a:blip r:embed="rId3"/>
            <a:srcRect t="68863"/>
            <a:stretch>
              <a:fillRect/>
            </a:stretch>
          </p:blipFill>
          <p:spPr>
            <a:xfrm>
              <a:off x="1416987" y="2531284"/>
              <a:ext cx="6077798" cy="869089"/>
            </a:xfrm>
            <a:prstGeom prst="rect">
              <a:avLst/>
            </a:prstGeom>
          </p:spPr>
        </p:pic>
      </p:grpSp>
      <p:pic>
        <p:nvPicPr>
          <p:cNvPr id="12" name="Picture 11">
            <a:extLst>
              <a:ext uri="{FF2B5EF4-FFF2-40B4-BE49-F238E27FC236}">
                <a16:creationId xmlns:a16="http://schemas.microsoft.com/office/drawing/2014/main" id="{F359B7FF-35B6-93B4-D15C-2C5134591E1B}"/>
              </a:ext>
            </a:extLst>
          </p:cNvPr>
          <p:cNvPicPr>
            <a:picLocks noChangeAspect="1"/>
          </p:cNvPicPr>
          <p:nvPr/>
        </p:nvPicPr>
        <p:blipFill>
          <a:blip r:embed="rId4"/>
          <a:stretch>
            <a:fillRect/>
          </a:stretch>
        </p:blipFill>
        <p:spPr>
          <a:xfrm>
            <a:off x="0" y="2450389"/>
            <a:ext cx="9144000" cy="1345626"/>
          </a:xfrm>
          <a:prstGeom prst="rect">
            <a:avLst/>
          </a:prstGeom>
        </p:spPr>
      </p:pic>
      <p:pic>
        <p:nvPicPr>
          <p:cNvPr id="14" name="Picture 13">
            <a:extLst>
              <a:ext uri="{FF2B5EF4-FFF2-40B4-BE49-F238E27FC236}">
                <a16:creationId xmlns:a16="http://schemas.microsoft.com/office/drawing/2014/main" id="{FA4FD8E7-03AB-C3CF-59BB-77B27E68CD6F}"/>
              </a:ext>
            </a:extLst>
          </p:cNvPr>
          <p:cNvPicPr>
            <a:picLocks noChangeAspect="1"/>
          </p:cNvPicPr>
          <p:nvPr/>
        </p:nvPicPr>
        <p:blipFill>
          <a:blip r:embed="rId5"/>
          <a:stretch>
            <a:fillRect/>
          </a:stretch>
        </p:blipFill>
        <p:spPr>
          <a:xfrm>
            <a:off x="762016" y="3939985"/>
            <a:ext cx="7656270" cy="2282082"/>
          </a:xfrm>
          <a:prstGeom prst="rect">
            <a:avLst/>
          </a:prstGeom>
        </p:spPr>
      </p:pic>
    </p:spTree>
    <p:extLst>
      <p:ext uri="{BB962C8B-B14F-4D97-AF65-F5344CB8AC3E}">
        <p14:creationId xmlns:p14="http://schemas.microsoft.com/office/powerpoint/2010/main" val="385053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BA46B2F-6A6C-7E59-505D-3DDE2A2B8394}"/>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b="0" dirty="0"/>
          </a:p>
        </p:txBody>
      </p:sp>
      <p:pic>
        <p:nvPicPr>
          <p:cNvPr id="5" name="Picture 4">
            <a:extLst>
              <a:ext uri="{FF2B5EF4-FFF2-40B4-BE49-F238E27FC236}">
                <a16:creationId xmlns:a16="http://schemas.microsoft.com/office/drawing/2014/main" id="{CF284D67-91CF-38C9-199A-A1D0BDC07F4C}"/>
              </a:ext>
            </a:extLst>
          </p:cNvPr>
          <p:cNvPicPr>
            <a:picLocks noChangeAspect="1"/>
          </p:cNvPicPr>
          <p:nvPr/>
        </p:nvPicPr>
        <p:blipFill>
          <a:blip r:embed="rId3"/>
          <a:stretch>
            <a:fillRect/>
          </a:stretch>
        </p:blipFill>
        <p:spPr>
          <a:xfrm>
            <a:off x="17687" y="51682"/>
            <a:ext cx="6818540" cy="6270750"/>
          </a:xfrm>
          <a:prstGeom prst="rect">
            <a:avLst/>
          </a:prstGeom>
        </p:spPr>
      </p:pic>
      <p:sp>
        <p:nvSpPr>
          <p:cNvPr id="6" name="TextBox 5">
            <a:extLst>
              <a:ext uri="{FF2B5EF4-FFF2-40B4-BE49-F238E27FC236}">
                <a16:creationId xmlns:a16="http://schemas.microsoft.com/office/drawing/2014/main" id="{665F7D35-3626-A669-1040-3353E6E85069}"/>
              </a:ext>
            </a:extLst>
          </p:cNvPr>
          <p:cNvSpPr txBox="1"/>
          <p:nvPr/>
        </p:nvSpPr>
        <p:spPr>
          <a:xfrm>
            <a:off x="6066971" y="5901508"/>
            <a:ext cx="3077029" cy="400110"/>
          </a:xfrm>
          <a:prstGeom prst="rect">
            <a:avLst/>
          </a:prstGeom>
          <a:noFill/>
        </p:spPr>
        <p:txBody>
          <a:bodyPr wrap="square" rtlCol="0">
            <a:spAutoFit/>
          </a:bodyPr>
          <a:lstStyle/>
          <a:p>
            <a:pPr algn="r"/>
            <a:r>
              <a:rPr lang="en-US" sz="2000" dirty="0"/>
              <a:t>(Bowren et al, 2020)</a:t>
            </a:r>
          </a:p>
        </p:txBody>
      </p:sp>
    </p:spTree>
    <p:extLst>
      <p:ext uri="{BB962C8B-B14F-4D97-AF65-F5344CB8AC3E}">
        <p14:creationId xmlns:p14="http://schemas.microsoft.com/office/powerpoint/2010/main" val="4223994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19818-5E27-2B58-02C4-C4467359A456}"/>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087A35C6-00A8-6466-D82B-5FA335AEABEB}"/>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dirty="0"/>
          </a:p>
        </p:txBody>
      </p:sp>
      <p:sp>
        <p:nvSpPr>
          <p:cNvPr id="4" name="Rectangle 3">
            <a:extLst>
              <a:ext uri="{FF2B5EF4-FFF2-40B4-BE49-F238E27FC236}">
                <a16:creationId xmlns:a16="http://schemas.microsoft.com/office/drawing/2014/main" id="{9EFB7EEE-AB75-154D-ADBF-1B70B37ADDA0}"/>
              </a:ext>
            </a:extLst>
          </p:cNvPr>
          <p:cNvSpPr/>
          <p:nvPr/>
        </p:nvSpPr>
        <p:spPr>
          <a:xfrm>
            <a:off x="624114" y="232230"/>
            <a:ext cx="3947886"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Brain lesion location</a:t>
            </a:r>
          </a:p>
          <a:p>
            <a:pPr algn="ctr"/>
            <a:r>
              <a:rPr lang="en-US" sz="2800" dirty="0">
                <a:solidFill>
                  <a:schemeClr val="tx1"/>
                </a:solidFill>
              </a:rPr>
              <a:t>(structural MRI)</a:t>
            </a:r>
          </a:p>
        </p:txBody>
      </p:sp>
      <p:sp>
        <p:nvSpPr>
          <p:cNvPr id="6" name="Rectangle 5">
            <a:extLst>
              <a:ext uri="{FF2B5EF4-FFF2-40B4-BE49-F238E27FC236}">
                <a16:creationId xmlns:a16="http://schemas.microsoft.com/office/drawing/2014/main" id="{55E9B32B-1C40-512D-C611-DAF2BF2BAA33}"/>
              </a:ext>
            </a:extLst>
          </p:cNvPr>
          <p:cNvSpPr/>
          <p:nvPr/>
        </p:nvSpPr>
        <p:spPr>
          <a:xfrm>
            <a:off x="5112657" y="232230"/>
            <a:ext cx="3367314"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Behavioral test score</a:t>
            </a:r>
          </a:p>
        </p:txBody>
      </p:sp>
      <p:sp>
        <p:nvSpPr>
          <p:cNvPr id="7" name="Rectangle 6">
            <a:extLst>
              <a:ext uri="{FF2B5EF4-FFF2-40B4-BE49-F238E27FC236}">
                <a16:creationId xmlns:a16="http://schemas.microsoft.com/office/drawing/2014/main" id="{8A9E4405-F08D-8C31-1DBD-A140CFE4AF92}"/>
              </a:ext>
            </a:extLst>
          </p:cNvPr>
          <p:cNvSpPr/>
          <p:nvPr/>
        </p:nvSpPr>
        <p:spPr>
          <a:xfrm>
            <a:off x="6255657" y="1342573"/>
            <a:ext cx="1081314" cy="4898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3000"/>
              </a:spcAft>
            </a:pPr>
            <a:r>
              <a:rPr lang="en-US" sz="3600" dirty="0">
                <a:solidFill>
                  <a:schemeClr val="tx1"/>
                </a:solidFill>
              </a:rPr>
              <a:t>38</a:t>
            </a:r>
          </a:p>
          <a:p>
            <a:pPr algn="ctr">
              <a:spcAft>
                <a:spcPts val="3000"/>
              </a:spcAft>
            </a:pPr>
            <a:r>
              <a:rPr lang="en-US" sz="3600" dirty="0">
                <a:solidFill>
                  <a:schemeClr val="tx1"/>
                </a:solidFill>
              </a:rPr>
              <a:t>37</a:t>
            </a:r>
          </a:p>
          <a:p>
            <a:pPr algn="ctr">
              <a:spcAft>
                <a:spcPts val="3000"/>
              </a:spcAft>
            </a:pPr>
            <a:r>
              <a:rPr lang="en-US" sz="3600" dirty="0">
                <a:solidFill>
                  <a:schemeClr val="tx1"/>
                </a:solidFill>
              </a:rPr>
              <a:t>25</a:t>
            </a:r>
          </a:p>
          <a:p>
            <a:pPr algn="ctr">
              <a:spcAft>
                <a:spcPts val="3000"/>
              </a:spcAft>
            </a:pPr>
            <a:r>
              <a:rPr lang="en-US" sz="3600" dirty="0">
                <a:solidFill>
                  <a:schemeClr val="tx1"/>
                </a:solidFill>
              </a:rPr>
              <a:t>22</a:t>
            </a:r>
          </a:p>
          <a:p>
            <a:pPr algn="ctr">
              <a:spcAft>
                <a:spcPts val="3000"/>
              </a:spcAft>
            </a:pPr>
            <a:r>
              <a:rPr lang="en-US" sz="3600" dirty="0">
                <a:solidFill>
                  <a:schemeClr val="tx1"/>
                </a:solidFill>
              </a:rPr>
              <a:t>34</a:t>
            </a:r>
          </a:p>
        </p:txBody>
      </p:sp>
      <p:grpSp>
        <p:nvGrpSpPr>
          <p:cNvPr id="12" name="Group 11">
            <a:extLst>
              <a:ext uri="{FF2B5EF4-FFF2-40B4-BE49-F238E27FC236}">
                <a16:creationId xmlns:a16="http://schemas.microsoft.com/office/drawing/2014/main" id="{C90B8326-CFBE-3681-DCC2-1EB238B8E955}"/>
              </a:ext>
            </a:extLst>
          </p:cNvPr>
          <p:cNvGrpSpPr/>
          <p:nvPr/>
        </p:nvGrpSpPr>
        <p:grpSpPr>
          <a:xfrm>
            <a:off x="2161647" y="1554797"/>
            <a:ext cx="776440" cy="4544660"/>
            <a:chOff x="5616047" y="1554797"/>
            <a:chExt cx="776440" cy="4544660"/>
          </a:xfrm>
        </p:grpSpPr>
        <p:pic>
          <p:nvPicPr>
            <p:cNvPr id="1026" name="Picture 2">
              <a:extLst>
                <a:ext uri="{FF2B5EF4-FFF2-40B4-BE49-F238E27FC236}">
                  <a16:creationId xmlns:a16="http://schemas.microsoft.com/office/drawing/2014/main" id="{A37CABF3-CE02-1AAC-1BBF-EE953B398F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1554797"/>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9E8EC2DA-2679-AA09-0972-CAC3259368F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2477826"/>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999AF002-114F-C4EE-53A2-15E6F92C10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3376553"/>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9BE63FFC-DB53-51FB-2E1A-C3BDC6B724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4296551"/>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698A44FE-2DDA-85A7-289F-D7389176E1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5268847"/>
              <a:ext cx="776440" cy="83061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Rectangle 12">
            <a:extLst>
              <a:ext uri="{FF2B5EF4-FFF2-40B4-BE49-F238E27FC236}">
                <a16:creationId xmlns:a16="http://schemas.microsoft.com/office/drawing/2014/main" id="{F3E4B075-77E4-564A-8F55-337FB208F0C4}"/>
              </a:ext>
            </a:extLst>
          </p:cNvPr>
          <p:cNvSpPr/>
          <p:nvPr/>
        </p:nvSpPr>
        <p:spPr>
          <a:xfrm>
            <a:off x="328386" y="1146630"/>
            <a:ext cx="1081314" cy="1959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ultiplication Sign 14">
            <a:extLst>
              <a:ext uri="{FF2B5EF4-FFF2-40B4-BE49-F238E27FC236}">
                <a16:creationId xmlns:a16="http://schemas.microsoft.com/office/drawing/2014/main" id="{6438A028-CA5B-48F2-4DFA-7B59FB4F4EE1}"/>
              </a:ext>
            </a:extLst>
          </p:cNvPr>
          <p:cNvSpPr/>
          <p:nvPr/>
        </p:nvSpPr>
        <p:spPr>
          <a:xfrm>
            <a:off x="3769558" y="2584500"/>
            <a:ext cx="1828800" cy="1828800"/>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Multiplication Sign 1">
            <a:extLst>
              <a:ext uri="{FF2B5EF4-FFF2-40B4-BE49-F238E27FC236}">
                <a16:creationId xmlns:a16="http://schemas.microsoft.com/office/drawing/2014/main" id="{AF448E34-A363-8380-9F0B-256A397683CC}"/>
              </a:ext>
            </a:extLst>
          </p:cNvPr>
          <p:cNvSpPr/>
          <p:nvPr/>
        </p:nvSpPr>
        <p:spPr>
          <a:xfrm>
            <a:off x="4683958" y="198954"/>
            <a:ext cx="4136572" cy="914400"/>
          </a:xfrm>
          <a:prstGeom prst="mathMultiply">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019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5B16B-4068-32DF-1178-4B4E3517DCD2}"/>
            </a:ext>
          </a:extLst>
        </p:cNvPr>
        <p:cNvGrpSpPr/>
        <p:nvPr/>
      </p:nvGrpSpPr>
      <p:grpSpPr>
        <a:xfrm>
          <a:off x="0" y="0"/>
          <a:ext cx="0" cy="0"/>
          <a:chOff x="0" y="0"/>
          <a:chExt cx="0" cy="0"/>
        </a:xfrm>
      </p:grpSpPr>
      <p:sp>
        <p:nvSpPr>
          <p:cNvPr id="5" name="Footer Placeholder 3">
            <a:extLst>
              <a:ext uri="{FF2B5EF4-FFF2-40B4-BE49-F238E27FC236}">
                <a16:creationId xmlns:a16="http://schemas.microsoft.com/office/drawing/2014/main" id="{9D6A22D2-CA6F-718B-B257-44850FB87872}"/>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dirty="0"/>
          </a:p>
        </p:txBody>
      </p:sp>
      <p:sp>
        <p:nvSpPr>
          <p:cNvPr id="4" name="Rectangle 3">
            <a:extLst>
              <a:ext uri="{FF2B5EF4-FFF2-40B4-BE49-F238E27FC236}">
                <a16:creationId xmlns:a16="http://schemas.microsoft.com/office/drawing/2014/main" id="{0734CB4C-BE97-925A-9110-204816A488BE}"/>
              </a:ext>
            </a:extLst>
          </p:cNvPr>
          <p:cNvSpPr/>
          <p:nvPr/>
        </p:nvSpPr>
        <p:spPr>
          <a:xfrm>
            <a:off x="624114" y="232230"/>
            <a:ext cx="3947886"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Brain lesion location</a:t>
            </a:r>
          </a:p>
          <a:p>
            <a:pPr algn="ctr"/>
            <a:r>
              <a:rPr lang="en-US" sz="2800" dirty="0">
                <a:solidFill>
                  <a:schemeClr val="tx1"/>
                </a:solidFill>
              </a:rPr>
              <a:t>(structural MRI)</a:t>
            </a:r>
          </a:p>
        </p:txBody>
      </p:sp>
      <p:sp>
        <p:nvSpPr>
          <p:cNvPr id="6" name="Rectangle 5">
            <a:extLst>
              <a:ext uri="{FF2B5EF4-FFF2-40B4-BE49-F238E27FC236}">
                <a16:creationId xmlns:a16="http://schemas.microsoft.com/office/drawing/2014/main" id="{460F8F26-6D14-47F8-0480-E005381BEC49}"/>
              </a:ext>
            </a:extLst>
          </p:cNvPr>
          <p:cNvSpPr/>
          <p:nvPr/>
        </p:nvSpPr>
        <p:spPr>
          <a:xfrm>
            <a:off x="5112657" y="232230"/>
            <a:ext cx="3367314" cy="914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solidFill>
                  <a:schemeClr val="tx1"/>
                </a:solidFill>
              </a:rPr>
              <a:t>Factor Score</a:t>
            </a:r>
          </a:p>
        </p:txBody>
      </p:sp>
      <p:sp>
        <p:nvSpPr>
          <p:cNvPr id="7" name="Rectangle 6">
            <a:extLst>
              <a:ext uri="{FF2B5EF4-FFF2-40B4-BE49-F238E27FC236}">
                <a16:creationId xmlns:a16="http://schemas.microsoft.com/office/drawing/2014/main" id="{3F8E8DAA-2209-02B9-52D9-58CFBDCCCDDA}"/>
              </a:ext>
            </a:extLst>
          </p:cNvPr>
          <p:cNvSpPr/>
          <p:nvPr/>
        </p:nvSpPr>
        <p:spPr>
          <a:xfrm>
            <a:off x="6255657" y="1342573"/>
            <a:ext cx="1081314" cy="48985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3000"/>
              </a:spcAft>
            </a:pPr>
            <a:r>
              <a:rPr lang="en-US" sz="3600" dirty="0">
                <a:solidFill>
                  <a:schemeClr val="tx1"/>
                </a:solidFill>
              </a:rPr>
              <a:t>1.1</a:t>
            </a:r>
          </a:p>
          <a:p>
            <a:pPr algn="ctr">
              <a:spcAft>
                <a:spcPts val="3000"/>
              </a:spcAft>
            </a:pPr>
            <a:r>
              <a:rPr lang="en-US" sz="3600" dirty="0">
                <a:solidFill>
                  <a:schemeClr val="tx1"/>
                </a:solidFill>
              </a:rPr>
              <a:t>-2.4</a:t>
            </a:r>
          </a:p>
          <a:p>
            <a:pPr algn="ctr">
              <a:spcAft>
                <a:spcPts val="3000"/>
              </a:spcAft>
            </a:pPr>
            <a:r>
              <a:rPr lang="en-US" sz="3600" dirty="0">
                <a:solidFill>
                  <a:schemeClr val="tx1"/>
                </a:solidFill>
              </a:rPr>
              <a:t>1.4</a:t>
            </a:r>
          </a:p>
          <a:p>
            <a:pPr algn="ctr">
              <a:spcAft>
                <a:spcPts val="3000"/>
              </a:spcAft>
            </a:pPr>
            <a:r>
              <a:rPr lang="en-US" sz="3600" dirty="0">
                <a:solidFill>
                  <a:schemeClr val="tx1"/>
                </a:solidFill>
              </a:rPr>
              <a:t>-0.2</a:t>
            </a:r>
          </a:p>
          <a:p>
            <a:pPr algn="ctr">
              <a:spcAft>
                <a:spcPts val="3000"/>
              </a:spcAft>
            </a:pPr>
            <a:r>
              <a:rPr lang="en-US" sz="3600" dirty="0">
                <a:solidFill>
                  <a:schemeClr val="tx1"/>
                </a:solidFill>
              </a:rPr>
              <a:t>2.1</a:t>
            </a:r>
          </a:p>
        </p:txBody>
      </p:sp>
      <p:grpSp>
        <p:nvGrpSpPr>
          <p:cNvPr id="12" name="Group 11">
            <a:extLst>
              <a:ext uri="{FF2B5EF4-FFF2-40B4-BE49-F238E27FC236}">
                <a16:creationId xmlns:a16="http://schemas.microsoft.com/office/drawing/2014/main" id="{4F166380-3C59-9B46-4E38-B9B6A0B87BD5}"/>
              </a:ext>
            </a:extLst>
          </p:cNvPr>
          <p:cNvGrpSpPr/>
          <p:nvPr/>
        </p:nvGrpSpPr>
        <p:grpSpPr>
          <a:xfrm>
            <a:off x="2161647" y="1554797"/>
            <a:ext cx="776440" cy="4544660"/>
            <a:chOff x="5616047" y="1554797"/>
            <a:chExt cx="776440" cy="4544660"/>
          </a:xfrm>
        </p:grpSpPr>
        <p:pic>
          <p:nvPicPr>
            <p:cNvPr id="1026" name="Picture 2">
              <a:extLst>
                <a:ext uri="{FF2B5EF4-FFF2-40B4-BE49-F238E27FC236}">
                  <a16:creationId xmlns:a16="http://schemas.microsoft.com/office/drawing/2014/main" id="{F077D5DD-BAA8-F01A-ADF4-1004009F05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1554797"/>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BA7D1676-F86A-6096-9F17-27432289BF8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2477826"/>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6899EF8E-2F1C-D950-4B98-35C3B06D3D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3376553"/>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7D0187EE-A2D5-10C7-B87C-2851BEC3FB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4296551"/>
              <a:ext cx="776440" cy="83061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7343AD50-9023-8FC1-FEDB-5A8D01AFB3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134" t="9869" r="10304" b="9869"/>
            <a:stretch>
              <a:fillRect/>
            </a:stretch>
          </p:blipFill>
          <p:spPr bwMode="auto">
            <a:xfrm>
              <a:off x="5616047" y="5268847"/>
              <a:ext cx="776440" cy="830610"/>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Rectangle 12">
            <a:extLst>
              <a:ext uri="{FF2B5EF4-FFF2-40B4-BE49-F238E27FC236}">
                <a16:creationId xmlns:a16="http://schemas.microsoft.com/office/drawing/2014/main" id="{2F257F32-ADE3-10FE-B9B7-41E31D9CAC55}"/>
              </a:ext>
            </a:extLst>
          </p:cNvPr>
          <p:cNvSpPr/>
          <p:nvPr/>
        </p:nvSpPr>
        <p:spPr>
          <a:xfrm>
            <a:off x="328386" y="1146630"/>
            <a:ext cx="1081314" cy="1959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ultiplication Sign 14">
            <a:extLst>
              <a:ext uri="{FF2B5EF4-FFF2-40B4-BE49-F238E27FC236}">
                <a16:creationId xmlns:a16="http://schemas.microsoft.com/office/drawing/2014/main" id="{78C95B6E-FC1F-1D07-54D1-DBE9CD5CA193}"/>
              </a:ext>
            </a:extLst>
          </p:cNvPr>
          <p:cNvSpPr/>
          <p:nvPr/>
        </p:nvSpPr>
        <p:spPr>
          <a:xfrm>
            <a:off x="3769558" y="2584500"/>
            <a:ext cx="1828800" cy="1828800"/>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770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41AFA-A5B2-1EE9-6F8B-5D8543AC44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A762F-CB72-8CD6-F586-674FF3F77087}"/>
              </a:ext>
            </a:extLst>
          </p:cNvPr>
          <p:cNvSpPr>
            <a:spLocks noGrp="1"/>
          </p:cNvSpPr>
          <p:nvPr>
            <p:ph type="ctrTitle"/>
          </p:nvPr>
        </p:nvSpPr>
        <p:spPr>
          <a:xfrm>
            <a:off x="714376" y="2744662"/>
            <a:ext cx="7715249" cy="759907"/>
          </a:xfrm>
        </p:spPr>
        <p:txBody>
          <a:bodyPr>
            <a:normAutofit/>
          </a:bodyPr>
          <a:lstStyle/>
          <a:p>
            <a:r>
              <a:rPr lang="en-US" dirty="0"/>
              <a:t>Methodological Gap</a:t>
            </a:r>
          </a:p>
        </p:txBody>
      </p:sp>
      <p:sp>
        <p:nvSpPr>
          <p:cNvPr id="3" name="Subtitle 2">
            <a:extLst>
              <a:ext uri="{FF2B5EF4-FFF2-40B4-BE49-F238E27FC236}">
                <a16:creationId xmlns:a16="http://schemas.microsoft.com/office/drawing/2014/main" id="{A03266B5-ECB9-6633-0AD4-7A4F681B6F6F}"/>
              </a:ext>
            </a:extLst>
          </p:cNvPr>
          <p:cNvSpPr>
            <a:spLocks noGrp="1"/>
          </p:cNvSpPr>
          <p:nvPr>
            <p:ph type="subTitle" idx="1"/>
          </p:nvPr>
        </p:nvSpPr>
        <p:spPr>
          <a:xfrm>
            <a:off x="714376" y="3694740"/>
            <a:ext cx="7715249" cy="1979550"/>
          </a:xfrm>
        </p:spPr>
        <p:txBody>
          <a:bodyPr>
            <a:normAutofit/>
          </a:bodyPr>
          <a:lstStyle/>
          <a:p>
            <a:r>
              <a:rPr lang="en-US" dirty="0"/>
              <a:t>Mapping behavioral profiles</a:t>
            </a:r>
          </a:p>
        </p:txBody>
      </p:sp>
    </p:spTree>
    <p:extLst>
      <p:ext uri="{BB962C8B-B14F-4D97-AF65-F5344CB8AC3E}">
        <p14:creationId xmlns:p14="http://schemas.microsoft.com/office/powerpoint/2010/main" val="8070410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CCBD8-8447-4905-F559-94AF5A4E70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E336C-F7A8-94B2-D8B6-02F893361820}"/>
              </a:ext>
            </a:extLst>
          </p:cNvPr>
          <p:cNvSpPr>
            <a:spLocks noGrp="1"/>
          </p:cNvSpPr>
          <p:nvPr>
            <p:ph type="ctrTitle"/>
          </p:nvPr>
        </p:nvSpPr>
        <p:spPr/>
        <p:txBody>
          <a:bodyPr/>
          <a:lstStyle/>
          <a:p>
            <a:r>
              <a:rPr lang="en-US" dirty="0"/>
              <a:t>Approach Development</a:t>
            </a:r>
          </a:p>
        </p:txBody>
      </p:sp>
      <p:sp>
        <p:nvSpPr>
          <p:cNvPr id="3" name="Subtitle 2">
            <a:extLst>
              <a:ext uri="{FF2B5EF4-FFF2-40B4-BE49-F238E27FC236}">
                <a16:creationId xmlns:a16="http://schemas.microsoft.com/office/drawing/2014/main" id="{83B90135-F38B-69B6-DF40-E3C85BD14E1A}"/>
              </a:ext>
            </a:extLst>
          </p:cNvPr>
          <p:cNvSpPr>
            <a:spLocks noGrp="1"/>
          </p:cNvSpPr>
          <p:nvPr>
            <p:ph type="subTitle" idx="1"/>
          </p:nvPr>
        </p:nvSpPr>
        <p:spPr>
          <a:xfrm>
            <a:off x="714376" y="3694740"/>
            <a:ext cx="7715249" cy="1979550"/>
          </a:xfrm>
        </p:spPr>
        <p:txBody>
          <a:bodyPr>
            <a:normAutofit/>
          </a:bodyPr>
          <a:lstStyle/>
          <a:p>
            <a:endParaRPr lang="en-US" dirty="0"/>
          </a:p>
        </p:txBody>
      </p:sp>
    </p:spTree>
    <p:extLst>
      <p:ext uri="{BB962C8B-B14F-4D97-AF65-F5344CB8AC3E}">
        <p14:creationId xmlns:p14="http://schemas.microsoft.com/office/powerpoint/2010/main" val="25643265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2242DBD-B789-95C8-A2DD-8EB6A60C68F3}"/>
              </a:ext>
            </a:extLst>
          </p:cNvPr>
          <p:cNvPicPr>
            <a:picLocks noChangeAspect="1"/>
          </p:cNvPicPr>
          <p:nvPr/>
        </p:nvPicPr>
        <p:blipFill>
          <a:blip r:embed="rId3"/>
          <a:stretch>
            <a:fillRect/>
          </a:stretch>
        </p:blipFill>
        <p:spPr>
          <a:xfrm>
            <a:off x="223230" y="539341"/>
            <a:ext cx="8697539" cy="5553850"/>
          </a:xfrm>
          <a:prstGeom prst="rect">
            <a:avLst/>
          </a:prstGeom>
        </p:spPr>
      </p:pic>
      <p:sp>
        <p:nvSpPr>
          <p:cNvPr id="13" name="Rectangle 12">
            <a:extLst>
              <a:ext uri="{FF2B5EF4-FFF2-40B4-BE49-F238E27FC236}">
                <a16:creationId xmlns:a16="http://schemas.microsoft.com/office/drawing/2014/main" id="{1BE1915E-FA9E-8FCD-29B8-0B36BEE82CF7}"/>
              </a:ext>
            </a:extLst>
          </p:cNvPr>
          <p:cNvSpPr/>
          <p:nvPr/>
        </p:nvSpPr>
        <p:spPr>
          <a:xfrm>
            <a:off x="-187890" y="338203"/>
            <a:ext cx="1102290" cy="5761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787045-F04F-6483-246F-C80F8E7D8402}"/>
              </a:ext>
            </a:extLst>
          </p:cNvPr>
          <p:cNvSpPr/>
          <p:nvPr/>
        </p:nvSpPr>
        <p:spPr>
          <a:xfrm>
            <a:off x="8702756" y="239400"/>
            <a:ext cx="1102290" cy="5761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5A4B4F1-EFE5-9DFD-B2F8-93688B2BB4E1}"/>
              </a:ext>
            </a:extLst>
          </p:cNvPr>
          <p:cNvPicPr>
            <a:picLocks noChangeAspect="1"/>
          </p:cNvPicPr>
          <p:nvPr/>
        </p:nvPicPr>
        <p:blipFill>
          <a:blip r:embed="rId4"/>
          <a:stretch>
            <a:fillRect/>
          </a:stretch>
        </p:blipFill>
        <p:spPr>
          <a:xfrm>
            <a:off x="2664404" y="3316266"/>
            <a:ext cx="3523453" cy="1180578"/>
          </a:xfrm>
          <a:prstGeom prst="rect">
            <a:avLst/>
          </a:prstGeom>
        </p:spPr>
      </p:pic>
      <p:sp>
        <p:nvSpPr>
          <p:cNvPr id="2" name="TextBox 1">
            <a:extLst>
              <a:ext uri="{FF2B5EF4-FFF2-40B4-BE49-F238E27FC236}">
                <a16:creationId xmlns:a16="http://schemas.microsoft.com/office/drawing/2014/main" id="{F787C74D-4196-B99D-B43D-4F4F6C9588D6}"/>
              </a:ext>
            </a:extLst>
          </p:cNvPr>
          <p:cNvSpPr txBox="1"/>
          <p:nvPr/>
        </p:nvSpPr>
        <p:spPr>
          <a:xfrm>
            <a:off x="5094553" y="6375960"/>
            <a:ext cx="4114800" cy="461665"/>
          </a:xfrm>
          <a:prstGeom prst="rect">
            <a:avLst/>
          </a:prstGeom>
          <a:noFill/>
        </p:spPr>
        <p:txBody>
          <a:bodyPr wrap="square" rtlCol="0">
            <a:spAutoFit/>
          </a:bodyPr>
          <a:lstStyle/>
          <a:p>
            <a:pPr algn="r"/>
            <a:r>
              <a:rPr lang="en-US" sz="2400" dirty="0"/>
              <a:t>(Skye et al, </a:t>
            </a:r>
            <a:r>
              <a:rPr lang="en-US" sz="2400" i="1" dirty="0"/>
              <a:t>in prep</a:t>
            </a:r>
            <a:r>
              <a:rPr lang="en-US" sz="2400" dirty="0"/>
              <a:t>)</a:t>
            </a:r>
          </a:p>
        </p:txBody>
      </p:sp>
    </p:spTree>
    <p:extLst>
      <p:ext uri="{BB962C8B-B14F-4D97-AF65-F5344CB8AC3E}">
        <p14:creationId xmlns:p14="http://schemas.microsoft.com/office/powerpoint/2010/main" val="3258086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30A3F-240A-89A7-F47B-5F3DFB8DF90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DB700DF-429F-3968-6FB2-36C998EAB6B2}"/>
              </a:ext>
            </a:extLst>
          </p:cNvPr>
          <p:cNvPicPr>
            <a:picLocks noChangeAspect="1"/>
          </p:cNvPicPr>
          <p:nvPr/>
        </p:nvPicPr>
        <p:blipFill>
          <a:blip r:embed="rId3"/>
          <a:srcRect l="-1" t="1180" r="211"/>
          <a:stretch>
            <a:fillRect/>
          </a:stretch>
        </p:blipFill>
        <p:spPr>
          <a:xfrm>
            <a:off x="0" y="502920"/>
            <a:ext cx="9144000" cy="5607593"/>
          </a:xfrm>
          <a:prstGeom prst="rect">
            <a:avLst/>
          </a:prstGeom>
        </p:spPr>
      </p:pic>
      <p:sp>
        <p:nvSpPr>
          <p:cNvPr id="6" name="Rectangle 5">
            <a:extLst>
              <a:ext uri="{FF2B5EF4-FFF2-40B4-BE49-F238E27FC236}">
                <a16:creationId xmlns:a16="http://schemas.microsoft.com/office/drawing/2014/main" id="{0CBFF26C-49C5-95D2-2EE9-3E1363BE6346}"/>
              </a:ext>
            </a:extLst>
          </p:cNvPr>
          <p:cNvSpPr/>
          <p:nvPr/>
        </p:nvSpPr>
        <p:spPr>
          <a:xfrm>
            <a:off x="-187890" y="338203"/>
            <a:ext cx="1102290" cy="57619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A03547D-8181-A283-803B-BC5C7363D1AD}"/>
              </a:ext>
            </a:extLst>
          </p:cNvPr>
          <p:cNvSpPr/>
          <p:nvPr/>
        </p:nvSpPr>
        <p:spPr>
          <a:xfrm>
            <a:off x="1387929" y="1453243"/>
            <a:ext cx="898071" cy="408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7EFB720-BE71-F221-2C4E-D6E97DD67531}"/>
              </a:ext>
            </a:extLst>
          </p:cNvPr>
          <p:cNvSpPr/>
          <p:nvPr/>
        </p:nvSpPr>
        <p:spPr>
          <a:xfrm>
            <a:off x="6667503" y="1401535"/>
            <a:ext cx="898071" cy="4599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7F2AC51-CE4F-E328-6363-FA3871E6BC8B}"/>
              </a:ext>
            </a:extLst>
          </p:cNvPr>
          <p:cNvSpPr txBox="1"/>
          <p:nvPr/>
        </p:nvSpPr>
        <p:spPr>
          <a:xfrm>
            <a:off x="5094553" y="6375960"/>
            <a:ext cx="4114800" cy="461665"/>
          </a:xfrm>
          <a:prstGeom prst="rect">
            <a:avLst/>
          </a:prstGeom>
          <a:noFill/>
        </p:spPr>
        <p:txBody>
          <a:bodyPr wrap="square" rtlCol="0">
            <a:spAutoFit/>
          </a:bodyPr>
          <a:lstStyle/>
          <a:p>
            <a:pPr algn="r"/>
            <a:r>
              <a:rPr lang="en-US" sz="2400" dirty="0"/>
              <a:t>(Skye et al, </a:t>
            </a:r>
            <a:r>
              <a:rPr lang="en-US" sz="2400" i="1" dirty="0"/>
              <a:t>in prep</a:t>
            </a:r>
            <a:r>
              <a:rPr lang="en-US" sz="2400" dirty="0"/>
              <a:t>)</a:t>
            </a:r>
          </a:p>
        </p:txBody>
      </p:sp>
    </p:spTree>
    <p:extLst>
      <p:ext uri="{BB962C8B-B14F-4D97-AF65-F5344CB8AC3E}">
        <p14:creationId xmlns:p14="http://schemas.microsoft.com/office/powerpoint/2010/main" val="4042359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E0AFF-43B5-9DD9-5FAA-0F1304EEEBC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7493712-CDE1-3672-F97E-27A3377599CC}"/>
              </a:ext>
            </a:extLst>
          </p:cNvPr>
          <p:cNvPicPr>
            <a:picLocks noChangeAspect="1"/>
          </p:cNvPicPr>
          <p:nvPr/>
        </p:nvPicPr>
        <p:blipFill>
          <a:blip r:embed="rId3"/>
          <a:srcRect l="1582"/>
          <a:stretch>
            <a:fillRect/>
          </a:stretch>
        </p:blipFill>
        <p:spPr>
          <a:xfrm>
            <a:off x="61819" y="85344"/>
            <a:ext cx="9082181" cy="6461760"/>
          </a:xfrm>
          <a:prstGeom prst="rect">
            <a:avLst/>
          </a:prstGeom>
        </p:spPr>
      </p:pic>
      <p:sp>
        <p:nvSpPr>
          <p:cNvPr id="4" name="Rectangle 3">
            <a:extLst>
              <a:ext uri="{FF2B5EF4-FFF2-40B4-BE49-F238E27FC236}">
                <a16:creationId xmlns:a16="http://schemas.microsoft.com/office/drawing/2014/main" id="{9238C612-DCF3-D649-CC26-8C2B7EDB64E5}"/>
              </a:ext>
            </a:extLst>
          </p:cNvPr>
          <p:cNvSpPr/>
          <p:nvPr/>
        </p:nvSpPr>
        <p:spPr>
          <a:xfrm>
            <a:off x="-170688" y="85344"/>
            <a:ext cx="938784" cy="463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E3AC733-3BC4-6EB6-6B73-54A7D5016B80}"/>
              </a:ext>
            </a:extLst>
          </p:cNvPr>
          <p:cNvSpPr/>
          <p:nvPr/>
        </p:nvSpPr>
        <p:spPr>
          <a:xfrm>
            <a:off x="61819" y="1551217"/>
            <a:ext cx="898071" cy="408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00D3812-8DDC-E615-4ADA-3AA670154DE2}"/>
              </a:ext>
            </a:extLst>
          </p:cNvPr>
          <p:cNvSpPr/>
          <p:nvPr/>
        </p:nvSpPr>
        <p:spPr>
          <a:xfrm>
            <a:off x="8017329" y="1551217"/>
            <a:ext cx="898071" cy="408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F37238-EE59-BA10-72E7-6CEFCE8E9854}"/>
              </a:ext>
            </a:extLst>
          </p:cNvPr>
          <p:cNvSpPr txBox="1"/>
          <p:nvPr/>
        </p:nvSpPr>
        <p:spPr>
          <a:xfrm>
            <a:off x="5094553" y="6375960"/>
            <a:ext cx="4114800" cy="461665"/>
          </a:xfrm>
          <a:prstGeom prst="rect">
            <a:avLst/>
          </a:prstGeom>
          <a:noFill/>
        </p:spPr>
        <p:txBody>
          <a:bodyPr wrap="square" rtlCol="0">
            <a:spAutoFit/>
          </a:bodyPr>
          <a:lstStyle/>
          <a:p>
            <a:pPr algn="r"/>
            <a:r>
              <a:rPr lang="en-US" sz="2400" dirty="0"/>
              <a:t>(Skye et al, </a:t>
            </a:r>
            <a:r>
              <a:rPr lang="en-US" sz="2400" i="1" dirty="0"/>
              <a:t>in prep</a:t>
            </a:r>
            <a:r>
              <a:rPr lang="en-US" sz="2400" dirty="0"/>
              <a:t>)</a:t>
            </a:r>
          </a:p>
        </p:txBody>
      </p:sp>
    </p:spTree>
    <p:extLst>
      <p:ext uri="{BB962C8B-B14F-4D97-AF65-F5344CB8AC3E}">
        <p14:creationId xmlns:p14="http://schemas.microsoft.com/office/powerpoint/2010/main" val="2512353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8465E-4510-169F-6441-4337B39E9F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2FFC0EB-6FC7-96C4-B88E-512E7B40FFA6}"/>
              </a:ext>
            </a:extLst>
          </p:cNvPr>
          <p:cNvPicPr>
            <a:picLocks noChangeAspect="1"/>
          </p:cNvPicPr>
          <p:nvPr/>
        </p:nvPicPr>
        <p:blipFill>
          <a:blip r:embed="rId3"/>
          <a:stretch>
            <a:fillRect/>
          </a:stretch>
        </p:blipFill>
        <p:spPr>
          <a:xfrm>
            <a:off x="0" y="0"/>
            <a:ext cx="9240375" cy="6858000"/>
          </a:xfrm>
          <a:prstGeom prst="rect">
            <a:avLst/>
          </a:prstGeom>
        </p:spPr>
      </p:pic>
      <p:sp>
        <p:nvSpPr>
          <p:cNvPr id="4" name="Rectangle 3">
            <a:extLst>
              <a:ext uri="{FF2B5EF4-FFF2-40B4-BE49-F238E27FC236}">
                <a16:creationId xmlns:a16="http://schemas.microsoft.com/office/drawing/2014/main" id="{BEDF17FD-C1A8-A823-1F81-F7D09B9CA667}"/>
              </a:ext>
            </a:extLst>
          </p:cNvPr>
          <p:cNvSpPr/>
          <p:nvPr/>
        </p:nvSpPr>
        <p:spPr>
          <a:xfrm>
            <a:off x="-493486" y="-609600"/>
            <a:ext cx="1059543" cy="13643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F9A222E-AD5E-D2C9-41E9-5170E345A48B}"/>
              </a:ext>
            </a:extLst>
          </p:cNvPr>
          <p:cNvSpPr/>
          <p:nvPr/>
        </p:nvSpPr>
        <p:spPr>
          <a:xfrm>
            <a:off x="1059543" y="477078"/>
            <a:ext cx="7905553" cy="55659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6186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45E6CD-DDC3-28BB-74E0-41FAE84FA64F}"/>
              </a:ext>
            </a:extLst>
          </p:cNvPr>
          <p:cNvPicPr>
            <a:picLocks noChangeAspect="1"/>
          </p:cNvPicPr>
          <p:nvPr/>
        </p:nvPicPr>
        <p:blipFill>
          <a:blip r:embed="rId2"/>
          <a:stretch>
            <a:fillRect/>
          </a:stretch>
        </p:blipFill>
        <p:spPr>
          <a:xfrm>
            <a:off x="32123" y="1042595"/>
            <a:ext cx="8963025" cy="4772810"/>
          </a:xfrm>
          <a:prstGeom prst="rect">
            <a:avLst/>
          </a:prstGeom>
          <a:noFill/>
        </p:spPr>
      </p:pic>
      <p:cxnSp>
        <p:nvCxnSpPr>
          <p:cNvPr id="6" name="Straight Connector 5">
            <a:extLst>
              <a:ext uri="{FF2B5EF4-FFF2-40B4-BE49-F238E27FC236}">
                <a16:creationId xmlns:a16="http://schemas.microsoft.com/office/drawing/2014/main" id="{1FF150ED-9859-B685-5F9C-6084105A8E7E}"/>
              </a:ext>
            </a:extLst>
          </p:cNvPr>
          <p:cNvCxnSpPr/>
          <p:nvPr/>
        </p:nvCxnSpPr>
        <p:spPr>
          <a:xfrm flipV="1">
            <a:off x="1117600" y="2400300"/>
            <a:ext cx="1181100" cy="186690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2A47E9C-F5AB-681F-599D-CF070F31BCD1}"/>
              </a:ext>
            </a:extLst>
          </p:cNvPr>
          <p:cNvSpPr/>
          <p:nvPr/>
        </p:nvSpPr>
        <p:spPr>
          <a:xfrm>
            <a:off x="2991394" y="1449977"/>
            <a:ext cx="6270172" cy="45850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015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0A2D2-CAD6-E4DF-C3D7-EF0B4A34BD6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59AAB6D-43A0-4CF2-37E3-102B15311F4F}"/>
              </a:ext>
            </a:extLst>
          </p:cNvPr>
          <p:cNvPicPr>
            <a:picLocks noChangeAspect="1"/>
          </p:cNvPicPr>
          <p:nvPr/>
        </p:nvPicPr>
        <p:blipFill>
          <a:blip r:embed="rId2"/>
          <a:stretch>
            <a:fillRect/>
          </a:stretch>
        </p:blipFill>
        <p:spPr>
          <a:xfrm>
            <a:off x="32123" y="1042595"/>
            <a:ext cx="8963025" cy="4772810"/>
          </a:xfrm>
          <a:prstGeom prst="rect">
            <a:avLst/>
          </a:prstGeom>
          <a:noFill/>
        </p:spPr>
      </p:pic>
      <p:sp>
        <p:nvSpPr>
          <p:cNvPr id="2" name="Oval 1">
            <a:extLst>
              <a:ext uri="{FF2B5EF4-FFF2-40B4-BE49-F238E27FC236}">
                <a16:creationId xmlns:a16="http://schemas.microsoft.com/office/drawing/2014/main" id="{472DD324-A6F3-99FD-A47F-7DDE18AA39DF}"/>
              </a:ext>
            </a:extLst>
          </p:cNvPr>
          <p:cNvSpPr/>
          <p:nvPr/>
        </p:nvSpPr>
        <p:spPr>
          <a:xfrm>
            <a:off x="1227666" y="2404532"/>
            <a:ext cx="1016000" cy="905933"/>
          </a:xfrm>
          <a:prstGeom prst="ellipse">
            <a:avLst/>
          </a:prstGeom>
          <a:no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B011F5-3F59-4828-65C0-5DE022E3B596}"/>
              </a:ext>
            </a:extLst>
          </p:cNvPr>
          <p:cNvSpPr/>
          <p:nvPr/>
        </p:nvSpPr>
        <p:spPr>
          <a:xfrm>
            <a:off x="2991394" y="1449977"/>
            <a:ext cx="6270172" cy="45850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347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9264-150C-AF08-5445-8A3FC404F9A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977BB5B-6229-27DB-165C-1BB3225B060A}"/>
              </a:ext>
            </a:extLst>
          </p:cNvPr>
          <p:cNvPicPr>
            <a:picLocks noChangeAspect="1"/>
          </p:cNvPicPr>
          <p:nvPr/>
        </p:nvPicPr>
        <p:blipFill>
          <a:blip r:embed="rId2"/>
          <a:stretch>
            <a:fillRect/>
          </a:stretch>
        </p:blipFill>
        <p:spPr>
          <a:xfrm>
            <a:off x="32123" y="1042595"/>
            <a:ext cx="8963025" cy="4772810"/>
          </a:xfrm>
          <a:prstGeom prst="rect">
            <a:avLst/>
          </a:prstGeom>
          <a:noFill/>
        </p:spPr>
      </p:pic>
      <p:sp>
        <p:nvSpPr>
          <p:cNvPr id="3" name="Rectangle 2">
            <a:extLst>
              <a:ext uri="{FF2B5EF4-FFF2-40B4-BE49-F238E27FC236}">
                <a16:creationId xmlns:a16="http://schemas.microsoft.com/office/drawing/2014/main" id="{E93CC29F-4D2A-0D44-6266-FDB6F5DB34BC}"/>
              </a:ext>
            </a:extLst>
          </p:cNvPr>
          <p:cNvSpPr/>
          <p:nvPr/>
        </p:nvSpPr>
        <p:spPr>
          <a:xfrm>
            <a:off x="6139542" y="1449977"/>
            <a:ext cx="3122023" cy="45850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3237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AA1EA-15EB-87CB-C43C-41035922FF3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6C44289-63B1-60B0-0D4B-5D92717C106A}"/>
              </a:ext>
            </a:extLst>
          </p:cNvPr>
          <p:cNvPicPr>
            <a:picLocks noChangeAspect="1"/>
          </p:cNvPicPr>
          <p:nvPr/>
        </p:nvPicPr>
        <p:blipFill>
          <a:blip r:embed="rId2"/>
          <a:stretch>
            <a:fillRect/>
          </a:stretch>
        </p:blipFill>
        <p:spPr>
          <a:xfrm>
            <a:off x="32123" y="1042595"/>
            <a:ext cx="8963025" cy="4772810"/>
          </a:xfrm>
          <a:prstGeom prst="rect">
            <a:avLst/>
          </a:prstGeom>
          <a:noFill/>
        </p:spPr>
      </p:pic>
    </p:spTree>
    <p:extLst>
      <p:ext uri="{BB962C8B-B14F-4D97-AF65-F5344CB8AC3E}">
        <p14:creationId xmlns:p14="http://schemas.microsoft.com/office/powerpoint/2010/main" val="135028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2256-1B62-304E-18B2-564B112DEC3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304F51C-0821-8D97-294C-79546D54D6FE}"/>
              </a:ext>
            </a:extLst>
          </p:cNvPr>
          <p:cNvPicPr>
            <a:picLocks noChangeAspect="1"/>
          </p:cNvPicPr>
          <p:nvPr/>
        </p:nvPicPr>
        <p:blipFill>
          <a:blip r:embed="rId3"/>
          <a:stretch>
            <a:fillRect/>
          </a:stretch>
        </p:blipFill>
        <p:spPr>
          <a:xfrm>
            <a:off x="0" y="0"/>
            <a:ext cx="9240375" cy="6858000"/>
          </a:xfrm>
          <a:prstGeom prst="rect">
            <a:avLst/>
          </a:prstGeom>
        </p:spPr>
      </p:pic>
      <p:sp>
        <p:nvSpPr>
          <p:cNvPr id="4" name="Rectangle 3">
            <a:extLst>
              <a:ext uri="{FF2B5EF4-FFF2-40B4-BE49-F238E27FC236}">
                <a16:creationId xmlns:a16="http://schemas.microsoft.com/office/drawing/2014/main" id="{642C3D96-FA9F-F915-48E4-6FEE44C0168B}"/>
              </a:ext>
            </a:extLst>
          </p:cNvPr>
          <p:cNvSpPr/>
          <p:nvPr/>
        </p:nvSpPr>
        <p:spPr>
          <a:xfrm>
            <a:off x="-493486" y="-609600"/>
            <a:ext cx="1059543" cy="13643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D6CA0C9-0130-D810-91E5-E181217780AC}"/>
              </a:ext>
            </a:extLst>
          </p:cNvPr>
          <p:cNvSpPr/>
          <p:nvPr/>
        </p:nvSpPr>
        <p:spPr>
          <a:xfrm>
            <a:off x="1331843" y="477078"/>
            <a:ext cx="7633253" cy="556591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65581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8AF37-3B93-487D-63B9-FC286E51BC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2997D06-4982-52A5-D560-C319F9F8A967}"/>
              </a:ext>
            </a:extLst>
          </p:cNvPr>
          <p:cNvPicPr>
            <a:picLocks noChangeAspect="1"/>
          </p:cNvPicPr>
          <p:nvPr/>
        </p:nvPicPr>
        <p:blipFill>
          <a:blip r:embed="rId3"/>
          <a:stretch>
            <a:fillRect/>
          </a:stretch>
        </p:blipFill>
        <p:spPr>
          <a:xfrm>
            <a:off x="0" y="0"/>
            <a:ext cx="9240375" cy="6858000"/>
          </a:xfrm>
          <a:prstGeom prst="rect">
            <a:avLst/>
          </a:prstGeom>
        </p:spPr>
      </p:pic>
      <p:sp>
        <p:nvSpPr>
          <p:cNvPr id="4" name="Rectangle 3">
            <a:extLst>
              <a:ext uri="{FF2B5EF4-FFF2-40B4-BE49-F238E27FC236}">
                <a16:creationId xmlns:a16="http://schemas.microsoft.com/office/drawing/2014/main" id="{1E760819-11CB-F450-7A05-4609E750FE30}"/>
              </a:ext>
            </a:extLst>
          </p:cNvPr>
          <p:cNvSpPr/>
          <p:nvPr/>
        </p:nvSpPr>
        <p:spPr>
          <a:xfrm>
            <a:off x="-493486" y="-609600"/>
            <a:ext cx="1059543" cy="136434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3522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FBC83-71C2-C13B-28B5-755F17C7E0C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5B012B-3F3A-4883-427C-2EBE48D213C8}"/>
              </a:ext>
            </a:extLst>
          </p:cNvPr>
          <p:cNvPicPr>
            <a:picLocks noChangeAspect="1"/>
          </p:cNvPicPr>
          <p:nvPr/>
        </p:nvPicPr>
        <p:blipFill>
          <a:blip r:embed="rId3"/>
          <a:srcRect r="1498" b="2037"/>
          <a:stretch>
            <a:fillRect/>
          </a:stretch>
        </p:blipFill>
        <p:spPr>
          <a:xfrm>
            <a:off x="703153" y="69850"/>
            <a:ext cx="7737694" cy="6718300"/>
          </a:xfrm>
          <a:prstGeom prst="rect">
            <a:avLst/>
          </a:prstGeom>
        </p:spPr>
      </p:pic>
      <p:sp>
        <p:nvSpPr>
          <p:cNvPr id="4" name="Rectangle 3">
            <a:extLst>
              <a:ext uri="{FF2B5EF4-FFF2-40B4-BE49-F238E27FC236}">
                <a16:creationId xmlns:a16="http://schemas.microsoft.com/office/drawing/2014/main" id="{DE00D7ED-2CA6-1430-3583-7FE2ACF6F6E8}"/>
              </a:ext>
            </a:extLst>
          </p:cNvPr>
          <p:cNvSpPr/>
          <p:nvPr/>
        </p:nvSpPr>
        <p:spPr>
          <a:xfrm>
            <a:off x="7175500" y="0"/>
            <a:ext cx="419100" cy="406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6214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BE66E1-9226-1878-DE09-5D300A7FC17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E328298-C1EE-3576-5CE9-2FB3B8B1953D}"/>
              </a:ext>
            </a:extLst>
          </p:cNvPr>
          <p:cNvPicPr>
            <a:picLocks noChangeAspect="1"/>
          </p:cNvPicPr>
          <p:nvPr/>
        </p:nvPicPr>
        <p:blipFill>
          <a:blip r:embed="rId3"/>
          <a:srcRect l="3419"/>
          <a:stretch>
            <a:fillRect/>
          </a:stretch>
        </p:blipFill>
        <p:spPr>
          <a:xfrm>
            <a:off x="-42661" y="112516"/>
            <a:ext cx="9229322" cy="6632967"/>
          </a:xfrm>
          <a:prstGeom prst="rect">
            <a:avLst/>
          </a:prstGeom>
        </p:spPr>
      </p:pic>
      <p:sp>
        <p:nvSpPr>
          <p:cNvPr id="4" name="Rectangle 3">
            <a:extLst>
              <a:ext uri="{FF2B5EF4-FFF2-40B4-BE49-F238E27FC236}">
                <a16:creationId xmlns:a16="http://schemas.microsoft.com/office/drawing/2014/main" id="{9753C966-EAE6-88D5-D9ED-214A5552CFCD}"/>
              </a:ext>
            </a:extLst>
          </p:cNvPr>
          <p:cNvSpPr/>
          <p:nvPr/>
        </p:nvSpPr>
        <p:spPr>
          <a:xfrm>
            <a:off x="-571500" y="0"/>
            <a:ext cx="1079500" cy="546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5756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5B0CE47-CA7E-6111-BD18-206FC984611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EB68F1C-3DC6-A5EE-2085-DC9E8BAB6B7E}"/>
              </a:ext>
            </a:extLst>
          </p:cNvPr>
          <p:cNvPicPr>
            <a:picLocks noChangeAspect="1"/>
          </p:cNvPicPr>
          <p:nvPr/>
        </p:nvPicPr>
        <p:blipFill>
          <a:blip r:embed="rId3"/>
          <a:stretch>
            <a:fillRect/>
          </a:stretch>
        </p:blipFill>
        <p:spPr>
          <a:xfrm>
            <a:off x="0" y="0"/>
            <a:ext cx="9144000" cy="6777449"/>
          </a:xfrm>
          <a:prstGeom prst="rect">
            <a:avLst/>
          </a:prstGeom>
        </p:spPr>
      </p:pic>
      <p:sp>
        <p:nvSpPr>
          <p:cNvPr id="2" name="Rectangle 1">
            <a:extLst>
              <a:ext uri="{FF2B5EF4-FFF2-40B4-BE49-F238E27FC236}">
                <a16:creationId xmlns:a16="http://schemas.microsoft.com/office/drawing/2014/main" id="{B7CCF580-0784-5131-549D-BAF7E8E50693}"/>
              </a:ext>
            </a:extLst>
          </p:cNvPr>
          <p:cNvSpPr/>
          <p:nvPr/>
        </p:nvSpPr>
        <p:spPr>
          <a:xfrm>
            <a:off x="-571500" y="0"/>
            <a:ext cx="1079500" cy="5461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1803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722FF-1A10-56B1-0601-1D464AB00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EED2E-5F88-9C9B-9C80-3675169D3598}"/>
              </a:ext>
            </a:extLst>
          </p:cNvPr>
          <p:cNvSpPr>
            <a:spLocks noGrp="1"/>
          </p:cNvSpPr>
          <p:nvPr>
            <p:ph type="ctrTitle"/>
          </p:nvPr>
        </p:nvSpPr>
        <p:spPr>
          <a:xfrm>
            <a:off x="714376" y="2744660"/>
            <a:ext cx="7715249" cy="1827339"/>
          </a:xfrm>
        </p:spPr>
        <p:txBody>
          <a:bodyPr>
            <a:normAutofit/>
          </a:bodyPr>
          <a:lstStyle/>
          <a:p>
            <a:r>
              <a:rPr lang="en-US" dirty="0"/>
              <a:t>Lesion Profile Mapping Pipeline</a:t>
            </a:r>
          </a:p>
        </p:txBody>
      </p:sp>
    </p:spTree>
    <p:extLst>
      <p:ext uri="{BB962C8B-B14F-4D97-AF65-F5344CB8AC3E}">
        <p14:creationId xmlns:p14="http://schemas.microsoft.com/office/powerpoint/2010/main" val="2071148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D2374-C4AE-43FE-5F8F-C69D489E2E6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4F1964-6617-69DA-9CC8-263D71CC52CB}"/>
              </a:ext>
            </a:extLst>
          </p:cNvPr>
          <p:cNvSpPr txBox="1"/>
          <p:nvPr/>
        </p:nvSpPr>
        <p:spPr>
          <a:xfrm>
            <a:off x="139700" y="622300"/>
            <a:ext cx="8737600" cy="523220"/>
          </a:xfrm>
          <a:prstGeom prst="rect">
            <a:avLst/>
          </a:prstGeom>
          <a:noFill/>
        </p:spPr>
        <p:txBody>
          <a:bodyPr wrap="square" rtlCol="0">
            <a:spAutoFit/>
          </a:bodyPr>
          <a:lstStyle/>
          <a:p>
            <a:r>
              <a:rPr lang="en-US" sz="2800" dirty="0"/>
              <a:t>Example: WashU Dataset, subacute timepoint</a:t>
            </a:r>
          </a:p>
        </p:txBody>
      </p:sp>
      <p:graphicFrame>
        <p:nvGraphicFramePr>
          <p:cNvPr id="3" name="Table 2">
            <a:extLst>
              <a:ext uri="{FF2B5EF4-FFF2-40B4-BE49-F238E27FC236}">
                <a16:creationId xmlns:a16="http://schemas.microsoft.com/office/drawing/2014/main" id="{22AEB9D6-7BC3-7D69-599B-F5DAD57D8A0C}"/>
              </a:ext>
            </a:extLst>
          </p:cNvPr>
          <p:cNvGraphicFramePr>
            <a:graphicFrameLocks noGrp="1"/>
          </p:cNvGraphicFramePr>
          <p:nvPr>
            <p:extLst>
              <p:ext uri="{D42A27DB-BD31-4B8C-83A1-F6EECF244321}">
                <p14:modId xmlns:p14="http://schemas.microsoft.com/office/powerpoint/2010/main" val="1315462843"/>
              </p:ext>
            </p:extLst>
          </p:nvPr>
        </p:nvGraphicFramePr>
        <p:xfrm>
          <a:off x="0" y="1267461"/>
          <a:ext cx="9144000" cy="254952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808688989"/>
                    </a:ext>
                  </a:extLst>
                </a:gridCol>
                <a:gridCol w="1524000">
                  <a:extLst>
                    <a:ext uri="{9D8B030D-6E8A-4147-A177-3AD203B41FA5}">
                      <a16:colId xmlns:a16="http://schemas.microsoft.com/office/drawing/2014/main" val="2024515840"/>
                    </a:ext>
                  </a:extLst>
                </a:gridCol>
                <a:gridCol w="1498600">
                  <a:extLst>
                    <a:ext uri="{9D8B030D-6E8A-4147-A177-3AD203B41FA5}">
                      <a16:colId xmlns:a16="http://schemas.microsoft.com/office/drawing/2014/main" val="3481411310"/>
                    </a:ext>
                  </a:extLst>
                </a:gridCol>
                <a:gridCol w="1549400">
                  <a:extLst>
                    <a:ext uri="{9D8B030D-6E8A-4147-A177-3AD203B41FA5}">
                      <a16:colId xmlns:a16="http://schemas.microsoft.com/office/drawing/2014/main" val="70924272"/>
                    </a:ext>
                  </a:extLst>
                </a:gridCol>
                <a:gridCol w="1524000">
                  <a:extLst>
                    <a:ext uri="{9D8B030D-6E8A-4147-A177-3AD203B41FA5}">
                      <a16:colId xmlns:a16="http://schemas.microsoft.com/office/drawing/2014/main" val="2694952557"/>
                    </a:ext>
                  </a:extLst>
                </a:gridCol>
                <a:gridCol w="1524000">
                  <a:extLst>
                    <a:ext uri="{9D8B030D-6E8A-4147-A177-3AD203B41FA5}">
                      <a16:colId xmlns:a16="http://schemas.microsoft.com/office/drawing/2014/main" val="3091031687"/>
                    </a:ext>
                  </a:extLst>
                </a:gridCol>
              </a:tblGrid>
              <a:tr h="325752">
                <a:tc>
                  <a:txBody>
                    <a:bodyPr/>
                    <a:lstStyle/>
                    <a:p>
                      <a:pPr algn="ctr"/>
                      <a:r>
                        <a:rPr lang="en-US" sz="2000" dirty="0">
                          <a:solidFill>
                            <a:schemeClr val="tx1"/>
                          </a:solidFill>
                        </a:rPr>
                        <a:t>Patient ID</a:t>
                      </a:r>
                    </a:p>
                  </a:txBody>
                  <a:tcPr/>
                </a:tc>
                <a:tc>
                  <a:txBody>
                    <a:bodyPr/>
                    <a:lstStyle/>
                    <a:p>
                      <a:pPr algn="ctr"/>
                      <a:r>
                        <a:rPr lang="en-US" sz="2000" dirty="0">
                          <a:solidFill>
                            <a:schemeClr val="tx1"/>
                          </a:solidFill>
                        </a:rPr>
                        <a:t>BNT (T</a:t>
                      </a:r>
                      <a:r>
                        <a:rPr lang="en-US" sz="2000" baseline="-25000" dirty="0">
                          <a:solidFill>
                            <a:schemeClr val="tx1"/>
                          </a:solidFill>
                        </a:rPr>
                        <a:t>1</a:t>
                      </a:r>
                      <a:r>
                        <a:rPr lang="en-US" sz="2000" dirty="0">
                          <a:solidFill>
                            <a:schemeClr val="tx1"/>
                          </a:solidFill>
                        </a:rPr>
                        <a:t>)</a:t>
                      </a:r>
                    </a:p>
                  </a:txBody>
                  <a:tcPr/>
                </a:tc>
                <a:tc>
                  <a:txBody>
                    <a:bodyPr/>
                    <a:lstStyle/>
                    <a:p>
                      <a:pPr algn="ctr"/>
                      <a:r>
                        <a:rPr lang="en-US" sz="2000" dirty="0">
                          <a:solidFill>
                            <a:schemeClr val="tx1"/>
                          </a:solidFill>
                        </a:rPr>
                        <a:t>HVLT (T</a:t>
                      </a:r>
                      <a:r>
                        <a:rPr lang="en-US" sz="2000" baseline="-25000" dirty="0">
                          <a:solidFill>
                            <a:schemeClr val="tx1"/>
                          </a:solidFill>
                        </a:rPr>
                        <a:t>2</a:t>
                      </a:r>
                      <a:r>
                        <a:rPr lang="en-US" sz="2000" dirty="0">
                          <a:solidFill>
                            <a:schemeClr val="tx1"/>
                          </a:solidFill>
                        </a:rPr>
                        <a:t>)</a:t>
                      </a:r>
                    </a:p>
                  </a:txBody>
                  <a:tcPr/>
                </a:tc>
                <a:tc>
                  <a:txBody>
                    <a:bodyPr/>
                    <a:lstStyle/>
                    <a:p>
                      <a:pPr algn="ctr"/>
                      <a:r>
                        <a:rPr lang="en-US" sz="2000" dirty="0">
                          <a:solidFill>
                            <a:schemeClr val="tx1"/>
                          </a:solidFill>
                        </a:rPr>
                        <a:t>BVMT (T</a:t>
                      </a:r>
                      <a:r>
                        <a:rPr lang="en-US" sz="2000" baseline="-25000" dirty="0">
                          <a:solidFill>
                            <a:schemeClr val="tx1"/>
                          </a:solidFill>
                        </a:rPr>
                        <a:t>3</a:t>
                      </a:r>
                      <a:r>
                        <a:rPr lang="en-US" sz="2000" dirty="0">
                          <a:solidFill>
                            <a:schemeClr val="tx1"/>
                          </a:solidFill>
                        </a:rPr>
                        <a:t>)</a:t>
                      </a:r>
                    </a:p>
                  </a:txBody>
                  <a:tcPr/>
                </a:tc>
                <a:tc>
                  <a:txBody>
                    <a:bodyPr/>
                    <a:lstStyle/>
                    <a:p>
                      <a:pPr algn="ctr"/>
                      <a:r>
                        <a:rPr lang="en-US" sz="2000" dirty="0">
                          <a:solidFill>
                            <a:schemeClr val="tx1"/>
                          </a:solidFill>
                        </a:rPr>
                        <a:t>…</a:t>
                      </a:r>
                    </a:p>
                  </a:txBody>
                  <a:tcPr/>
                </a:tc>
                <a:tc>
                  <a:txBody>
                    <a:bodyPr/>
                    <a:lstStyle/>
                    <a:p>
                      <a:pPr algn="ctr"/>
                      <a:r>
                        <a:rPr lang="en-US" sz="2000" dirty="0">
                          <a:solidFill>
                            <a:schemeClr val="tx1"/>
                          </a:solidFill>
                        </a:rPr>
                        <a:t>T</a:t>
                      </a:r>
                      <a:r>
                        <a:rPr lang="en-US" sz="2000" baseline="-25000" dirty="0">
                          <a:solidFill>
                            <a:schemeClr val="tx1"/>
                          </a:solidFill>
                        </a:rPr>
                        <a:t>N</a:t>
                      </a:r>
                      <a:endParaRPr lang="en-US" sz="2000" dirty="0">
                        <a:solidFill>
                          <a:schemeClr val="tx1"/>
                        </a:solidFill>
                      </a:endParaRPr>
                    </a:p>
                  </a:txBody>
                  <a:tcPr/>
                </a:tc>
                <a:extLst>
                  <a:ext uri="{0D108BD9-81ED-4DB2-BD59-A6C34878D82A}">
                    <a16:rowId xmlns:a16="http://schemas.microsoft.com/office/drawing/2014/main" val="1939874380"/>
                  </a:ext>
                </a:extLst>
              </a:tr>
              <a:tr h="430657">
                <a:tc>
                  <a:txBody>
                    <a:bodyPr/>
                    <a:lstStyle/>
                    <a:p>
                      <a:pPr algn="r"/>
                      <a:r>
                        <a:rPr lang="en-US" sz="2000" dirty="0">
                          <a:solidFill>
                            <a:schemeClr val="tx1"/>
                          </a:solidFill>
                        </a:rPr>
                        <a:t>001</a:t>
                      </a: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432181462"/>
                  </a:ext>
                </a:extLst>
              </a:tr>
              <a:tr h="430657">
                <a:tc>
                  <a:txBody>
                    <a:bodyPr/>
                    <a:lstStyle/>
                    <a:p>
                      <a:pPr algn="r"/>
                      <a:r>
                        <a:rPr lang="en-US" sz="2000" dirty="0">
                          <a:solidFill>
                            <a:schemeClr val="tx1"/>
                          </a:solidFill>
                        </a:rPr>
                        <a:t>002</a:t>
                      </a: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597045525"/>
                  </a:ext>
                </a:extLst>
              </a:tr>
              <a:tr h="430657">
                <a:tc>
                  <a:txBody>
                    <a:bodyPr/>
                    <a:lstStyle/>
                    <a:p>
                      <a:pPr algn="r"/>
                      <a:r>
                        <a:rPr lang="en-US" sz="2000" dirty="0">
                          <a:solidFill>
                            <a:schemeClr val="tx1"/>
                          </a:solidFill>
                        </a:rPr>
                        <a:t>003</a:t>
                      </a: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2659926738"/>
                  </a:ext>
                </a:extLst>
              </a:tr>
              <a:tr h="430657">
                <a:tc>
                  <a:txBody>
                    <a:bodyPr/>
                    <a:lstStyle/>
                    <a:p>
                      <a:pPr algn="r"/>
                      <a:r>
                        <a:rPr lang="en-US" sz="2000" dirty="0">
                          <a:solidFill>
                            <a:schemeClr val="tx1"/>
                          </a:solidFill>
                        </a:rPr>
                        <a:t>…</a:t>
                      </a: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512498731"/>
                  </a:ext>
                </a:extLst>
              </a:tr>
              <a:tr h="430657">
                <a:tc>
                  <a:txBody>
                    <a:bodyPr/>
                    <a:lstStyle/>
                    <a:p>
                      <a:pPr algn="r"/>
                      <a:r>
                        <a:rPr lang="en-US" sz="2000" dirty="0">
                          <a:solidFill>
                            <a:schemeClr val="tx1"/>
                          </a:solidFill>
                        </a:rPr>
                        <a:t>P</a:t>
                      </a:r>
                      <a:r>
                        <a:rPr lang="en-US" sz="2000" baseline="-25000" dirty="0">
                          <a:solidFill>
                            <a:schemeClr val="tx1"/>
                          </a:solidFill>
                        </a:rPr>
                        <a:t>N</a:t>
                      </a: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690531563"/>
                  </a:ext>
                </a:extLst>
              </a:tr>
            </a:tbl>
          </a:graphicData>
        </a:graphic>
      </p:graphicFrame>
      <p:sp>
        <p:nvSpPr>
          <p:cNvPr id="5" name="Arrow: Down 4">
            <a:extLst>
              <a:ext uri="{FF2B5EF4-FFF2-40B4-BE49-F238E27FC236}">
                <a16:creationId xmlns:a16="http://schemas.microsoft.com/office/drawing/2014/main" id="{DED8DF0E-4C6B-AFAC-0EAF-EFD0D03AA7BA}"/>
              </a:ext>
            </a:extLst>
          </p:cNvPr>
          <p:cNvSpPr/>
          <p:nvPr/>
        </p:nvSpPr>
        <p:spPr>
          <a:xfrm>
            <a:off x="1600200" y="4340224"/>
            <a:ext cx="749300" cy="2240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1F5BE19-F075-FFB8-575C-3E55F2BE568B}"/>
              </a:ext>
            </a:extLst>
          </p:cNvPr>
          <p:cNvSpPr txBox="1"/>
          <p:nvPr/>
        </p:nvSpPr>
        <p:spPr>
          <a:xfrm>
            <a:off x="2654300" y="4755930"/>
            <a:ext cx="5956300" cy="1323439"/>
          </a:xfrm>
          <a:prstGeom prst="rect">
            <a:avLst/>
          </a:prstGeom>
          <a:noFill/>
        </p:spPr>
        <p:txBody>
          <a:bodyPr wrap="square" rtlCol="0">
            <a:spAutoFit/>
          </a:bodyPr>
          <a:lstStyle/>
          <a:p>
            <a:pPr algn="ctr"/>
            <a:r>
              <a:rPr lang="en-US" sz="4000" dirty="0"/>
              <a:t>UMAP dimensionality reduction on behavior</a:t>
            </a:r>
          </a:p>
        </p:txBody>
      </p:sp>
    </p:spTree>
    <p:extLst>
      <p:ext uri="{BB962C8B-B14F-4D97-AF65-F5344CB8AC3E}">
        <p14:creationId xmlns:p14="http://schemas.microsoft.com/office/powerpoint/2010/main" val="289001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E23BE-A8E5-B257-F589-731B0892AE60}"/>
            </a:ext>
          </a:extLst>
        </p:cNvPr>
        <p:cNvGrpSpPr/>
        <p:nvPr/>
      </p:nvGrpSpPr>
      <p:grpSpPr>
        <a:xfrm>
          <a:off x="0" y="0"/>
          <a:ext cx="0" cy="0"/>
          <a:chOff x="0" y="0"/>
          <a:chExt cx="0" cy="0"/>
        </a:xfrm>
      </p:grpSpPr>
      <p:sp>
        <p:nvSpPr>
          <p:cNvPr id="5" name="Arrow: Down 4">
            <a:extLst>
              <a:ext uri="{FF2B5EF4-FFF2-40B4-BE49-F238E27FC236}">
                <a16:creationId xmlns:a16="http://schemas.microsoft.com/office/drawing/2014/main" id="{EB5E3647-1BB3-ED66-8761-CB7B8EA972EE}"/>
              </a:ext>
            </a:extLst>
          </p:cNvPr>
          <p:cNvSpPr/>
          <p:nvPr/>
        </p:nvSpPr>
        <p:spPr>
          <a:xfrm>
            <a:off x="1600200" y="4340224"/>
            <a:ext cx="749300" cy="2240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AFDE652-04E5-5434-45AD-1C50582BE3F1}"/>
              </a:ext>
            </a:extLst>
          </p:cNvPr>
          <p:cNvSpPr txBox="1"/>
          <p:nvPr/>
        </p:nvSpPr>
        <p:spPr>
          <a:xfrm>
            <a:off x="2654300" y="4755930"/>
            <a:ext cx="5956300" cy="1323439"/>
          </a:xfrm>
          <a:prstGeom prst="rect">
            <a:avLst/>
          </a:prstGeom>
          <a:noFill/>
        </p:spPr>
        <p:txBody>
          <a:bodyPr wrap="square" rtlCol="0">
            <a:spAutoFit/>
          </a:bodyPr>
          <a:lstStyle/>
          <a:p>
            <a:pPr algn="ctr"/>
            <a:r>
              <a:rPr lang="en-US" sz="4000" dirty="0"/>
              <a:t>K-Means clustering on UMAP embedding </a:t>
            </a:r>
          </a:p>
        </p:txBody>
      </p:sp>
      <p:pic>
        <p:nvPicPr>
          <p:cNvPr id="7" name="Picture 6">
            <a:extLst>
              <a:ext uri="{FF2B5EF4-FFF2-40B4-BE49-F238E27FC236}">
                <a16:creationId xmlns:a16="http://schemas.microsoft.com/office/drawing/2014/main" id="{D3261223-A720-A0D9-545E-3E8F33383AF1}"/>
              </a:ext>
            </a:extLst>
          </p:cNvPr>
          <p:cNvPicPr>
            <a:picLocks noChangeAspect="1"/>
          </p:cNvPicPr>
          <p:nvPr/>
        </p:nvPicPr>
        <p:blipFill>
          <a:blip r:embed="rId3"/>
          <a:srcRect t="5943"/>
          <a:stretch>
            <a:fillRect/>
          </a:stretch>
        </p:blipFill>
        <p:spPr>
          <a:xfrm>
            <a:off x="3962401" y="86113"/>
            <a:ext cx="5283200" cy="4076850"/>
          </a:xfrm>
          <a:prstGeom prst="rect">
            <a:avLst/>
          </a:prstGeom>
        </p:spPr>
      </p:pic>
      <p:sp>
        <p:nvSpPr>
          <p:cNvPr id="8" name="TextBox 7">
            <a:extLst>
              <a:ext uri="{FF2B5EF4-FFF2-40B4-BE49-F238E27FC236}">
                <a16:creationId xmlns:a16="http://schemas.microsoft.com/office/drawing/2014/main" id="{21FBA841-6018-7F75-587F-DBCB364FE722}"/>
              </a:ext>
            </a:extLst>
          </p:cNvPr>
          <p:cNvSpPr txBox="1"/>
          <p:nvPr/>
        </p:nvSpPr>
        <p:spPr>
          <a:xfrm>
            <a:off x="0" y="1224907"/>
            <a:ext cx="4057650" cy="1569660"/>
          </a:xfrm>
          <a:prstGeom prst="rect">
            <a:avLst/>
          </a:prstGeom>
          <a:noFill/>
        </p:spPr>
        <p:txBody>
          <a:bodyPr wrap="square" rtlCol="0">
            <a:spAutoFit/>
          </a:bodyPr>
          <a:lstStyle/>
          <a:p>
            <a:pPr algn="ctr"/>
            <a:r>
              <a:rPr lang="en-US" sz="3200" dirty="0"/>
              <a:t>Patients plotted in 2D UMAP behavior space</a:t>
            </a:r>
          </a:p>
        </p:txBody>
      </p:sp>
    </p:spTree>
    <p:extLst>
      <p:ext uri="{BB962C8B-B14F-4D97-AF65-F5344CB8AC3E}">
        <p14:creationId xmlns:p14="http://schemas.microsoft.com/office/powerpoint/2010/main" val="3883950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3F5B-4127-FDFF-E844-31FF3970F455}"/>
            </a:ext>
          </a:extLst>
        </p:cNvPr>
        <p:cNvGrpSpPr/>
        <p:nvPr/>
      </p:nvGrpSpPr>
      <p:grpSpPr>
        <a:xfrm>
          <a:off x="0" y="0"/>
          <a:ext cx="0" cy="0"/>
          <a:chOff x="0" y="0"/>
          <a:chExt cx="0" cy="0"/>
        </a:xfrm>
      </p:grpSpPr>
      <p:sp>
        <p:nvSpPr>
          <p:cNvPr id="5" name="Arrow: Down 4">
            <a:extLst>
              <a:ext uri="{FF2B5EF4-FFF2-40B4-BE49-F238E27FC236}">
                <a16:creationId xmlns:a16="http://schemas.microsoft.com/office/drawing/2014/main" id="{A5506A62-7BF6-9302-640A-2E66DD2C0319}"/>
              </a:ext>
            </a:extLst>
          </p:cNvPr>
          <p:cNvSpPr/>
          <p:nvPr/>
        </p:nvSpPr>
        <p:spPr>
          <a:xfrm>
            <a:off x="1600200" y="4340224"/>
            <a:ext cx="749300" cy="2240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EDD14D3-5397-4778-586A-27CD25EBA9D9}"/>
              </a:ext>
            </a:extLst>
          </p:cNvPr>
          <p:cNvSpPr txBox="1"/>
          <p:nvPr/>
        </p:nvSpPr>
        <p:spPr>
          <a:xfrm>
            <a:off x="2654300" y="4755930"/>
            <a:ext cx="5956300" cy="1323439"/>
          </a:xfrm>
          <a:prstGeom prst="rect">
            <a:avLst/>
          </a:prstGeom>
          <a:noFill/>
        </p:spPr>
        <p:txBody>
          <a:bodyPr wrap="square" rtlCol="0">
            <a:spAutoFit/>
          </a:bodyPr>
          <a:lstStyle/>
          <a:p>
            <a:pPr algn="ctr"/>
            <a:r>
              <a:rPr lang="en-US" sz="4000" dirty="0"/>
              <a:t>Calculate cluster centroids</a:t>
            </a:r>
          </a:p>
        </p:txBody>
      </p:sp>
      <p:sp>
        <p:nvSpPr>
          <p:cNvPr id="8" name="TextBox 7">
            <a:extLst>
              <a:ext uri="{FF2B5EF4-FFF2-40B4-BE49-F238E27FC236}">
                <a16:creationId xmlns:a16="http://schemas.microsoft.com/office/drawing/2014/main" id="{AC5C3487-7094-8104-80DC-2205461B88BD}"/>
              </a:ext>
            </a:extLst>
          </p:cNvPr>
          <p:cNvSpPr txBox="1"/>
          <p:nvPr/>
        </p:nvSpPr>
        <p:spPr>
          <a:xfrm>
            <a:off x="0" y="1224907"/>
            <a:ext cx="4057650" cy="1569660"/>
          </a:xfrm>
          <a:prstGeom prst="rect">
            <a:avLst/>
          </a:prstGeom>
          <a:noFill/>
        </p:spPr>
        <p:txBody>
          <a:bodyPr wrap="square" rtlCol="0">
            <a:spAutoFit/>
          </a:bodyPr>
          <a:lstStyle/>
          <a:p>
            <a:pPr algn="ctr"/>
            <a:r>
              <a:rPr lang="en-US" sz="3200" dirty="0"/>
              <a:t>Clusters determined quantitatively or qualitatively</a:t>
            </a:r>
          </a:p>
        </p:txBody>
      </p:sp>
      <p:pic>
        <p:nvPicPr>
          <p:cNvPr id="2" name="Picture 1">
            <a:extLst>
              <a:ext uri="{FF2B5EF4-FFF2-40B4-BE49-F238E27FC236}">
                <a16:creationId xmlns:a16="http://schemas.microsoft.com/office/drawing/2014/main" id="{84B4FF9B-6357-39A6-0E42-C89E9924B6AD}"/>
              </a:ext>
            </a:extLst>
          </p:cNvPr>
          <p:cNvPicPr>
            <a:picLocks noChangeAspect="1"/>
          </p:cNvPicPr>
          <p:nvPr/>
        </p:nvPicPr>
        <p:blipFill>
          <a:blip r:embed="rId3"/>
          <a:stretch>
            <a:fillRect/>
          </a:stretch>
        </p:blipFill>
        <p:spPr>
          <a:xfrm>
            <a:off x="4102836" y="86113"/>
            <a:ext cx="4823824" cy="3977321"/>
          </a:xfrm>
          <a:prstGeom prst="rect">
            <a:avLst/>
          </a:prstGeom>
        </p:spPr>
      </p:pic>
      <p:pic>
        <p:nvPicPr>
          <p:cNvPr id="3" name="Picture 2">
            <a:extLst>
              <a:ext uri="{FF2B5EF4-FFF2-40B4-BE49-F238E27FC236}">
                <a16:creationId xmlns:a16="http://schemas.microsoft.com/office/drawing/2014/main" id="{ED7B9C5E-4C8C-9F67-644B-54D50C684350}"/>
              </a:ext>
            </a:extLst>
          </p:cNvPr>
          <p:cNvPicPr>
            <a:picLocks noChangeAspect="1"/>
          </p:cNvPicPr>
          <p:nvPr/>
        </p:nvPicPr>
        <p:blipFill>
          <a:blip r:embed="rId4"/>
          <a:srcRect t="4330"/>
          <a:stretch>
            <a:fillRect/>
          </a:stretch>
        </p:blipFill>
        <p:spPr>
          <a:xfrm>
            <a:off x="4141670" y="86113"/>
            <a:ext cx="4924661" cy="4076850"/>
          </a:xfrm>
          <a:prstGeom prst="rect">
            <a:avLst/>
          </a:prstGeom>
        </p:spPr>
      </p:pic>
    </p:spTree>
    <p:extLst>
      <p:ext uri="{BB962C8B-B14F-4D97-AF65-F5344CB8AC3E}">
        <p14:creationId xmlns:p14="http://schemas.microsoft.com/office/powerpoint/2010/main" val="71583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BE350-C78A-9745-17BD-F4F83DE1F438}"/>
            </a:ext>
          </a:extLst>
        </p:cNvPr>
        <p:cNvGrpSpPr/>
        <p:nvPr/>
      </p:nvGrpSpPr>
      <p:grpSpPr>
        <a:xfrm>
          <a:off x="0" y="0"/>
          <a:ext cx="0" cy="0"/>
          <a:chOff x="0" y="0"/>
          <a:chExt cx="0" cy="0"/>
        </a:xfrm>
      </p:grpSpPr>
      <p:sp>
        <p:nvSpPr>
          <p:cNvPr id="5" name="Arrow: Down 4">
            <a:extLst>
              <a:ext uri="{FF2B5EF4-FFF2-40B4-BE49-F238E27FC236}">
                <a16:creationId xmlns:a16="http://schemas.microsoft.com/office/drawing/2014/main" id="{556A915C-07E5-9D02-3A6D-401700ECA94D}"/>
              </a:ext>
            </a:extLst>
          </p:cNvPr>
          <p:cNvSpPr/>
          <p:nvPr/>
        </p:nvSpPr>
        <p:spPr>
          <a:xfrm>
            <a:off x="1600200" y="4340224"/>
            <a:ext cx="749300" cy="2240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92809CE-634F-B3A4-49A6-3ACC6CD48B2B}"/>
              </a:ext>
            </a:extLst>
          </p:cNvPr>
          <p:cNvSpPr txBox="1"/>
          <p:nvPr/>
        </p:nvSpPr>
        <p:spPr>
          <a:xfrm>
            <a:off x="2654300" y="4446029"/>
            <a:ext cx="6083300" cy="1938992"/>
          </a:xfrm>
          <a:prstGeom prst="rect">
            <a:avLst/>
          </a:prstGeom>
          <a:noFill/>
        </p:spPr>
        <p:txBody>
          <a:bodyPr wrap="square" rtlCol="0">
            <a:spAutoFit/>
          </a:bodyPr>
          <a:lstStyle/>
          <a:p>
            <a:pPr algn="ctr"/>
            <a:r>
              <a:rPr lang="en-US" sz="4000" dirty="0"/>
              <a:t>Calculate Euclidean distance from each patient to cluster centroid</a:t>
            </a:r>
          </a:p>
        </p:txBody>
      </p:sp>
      <p:sp>
        <p:nvSpPr>
          <p:cNvPr id="8" name="TextBox 7">
            <a:extLst>
              <a:ext uri="{FF2B5EF4-FFF2-40B4-BE49-F238E27FC236}">
                <a16:creationId xmlns:a16="http://schemas.microsoft.com/office/drawing/2014/main" id="{0D9FBEA8-D07D-3E7C-8B19-EFA69CA60784}"/>
              </a:ext>
            </a:extLst>
          </p:cNvPr>
          <p:cNvSpPr txBox="1"/>
          <p:nvPr/>
        </p:nvSpPr>
        <p:spPr>
          <a:xfrm>
            <a:off x="0" y="1043721"/>
            <a:ext cx="4057650" cy="2062103"/>
          </a:xfrm>
          <a:prstGeom prst="rect">
            <a:avLst/>
          </a:prstGeom>
          <a:noFill/>
        </p:spPr>
        <p:txBody>
          <a:bodyPr wrap="square" rtlCol="0">
            <a:spAutoFit/>
          </a:bodyPr>
          <a:lstStyle/>
          <a:p>
            <a:pPr algn="ctr"/>
            <a:r>
              <a:rPr lang="en-US" sz="3200" dirty="0"/>
              <a:t>Centroids represent location of a behavioral profile in behavior space</a:t>
            </a:r>
          </a:p>
        </p:txBody>
      </p:sp>
      <p:pic>
        <p:nvPicPr>
          <p:cNvPr id="7" name="Picture 6">
            <a:extLst>
              <a:ext uri="{FF2B5EF4-FFF2-40B4-BE49-F238E27FC236}">
                <a16:creationId xmlns:a16="http://schemas.microsoft.com/office/drawing/2014/main" id="{8488A928-A40A-DB57-61AC-1F1041464636}"/>
              </a:ext>
            </a:extLst>
          </p:cNvPr>
          <p:cNvPicPr>
            <a:picLocks noChangeAspect="1"/>
          </p:cNvPicPr>
          <p:nvPr/>
        </p:nvPicPr>
        <p:blipFill>
          <a:blip r:embed="rId3"/>
          <a:stretch>
            <a:fillRect/>
          </a:stretch>
        </p:blipFill>
        <p:spPr>
          <a:xfrm>
            <a:off x="4102836" y="86113"/>
            <a:ext cx="4823824" cy="3977321"/>
          </a:xfrm>
          <a:prstGeom prst="rect">
            <a:avLst/>
          </a:prstGeom>
        </p:spPr>
      </p:pic>
    </p:spTree>
    <p:extLst>
      <p:ext uri="{BB962C8B-B14F-4D97-AF65-F5344CB8AC3E}">
        <p14:creationId xmlns:p14="http://schemas.microsoft.com/office/powerpoint/2010/main" val="1124204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FCF01-B4BD-5280-0078-C94867EFEFB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71383FD-9E74-7CBB-BE9E-ADADF5241870}"/>
              </a:ext>
            </a:extLst>
          </p:cNvPr>
          <p:cNvPicPr>
            <a:picLocks noChangeAspect="1"/>
          </p:cNvPicPr>
          <p:nvPr/>
        </p:nvPicPr>
        <p:blipFill>
          <a:blip r:embed="rId3"/>
          <a:stretch>
            <a:fillRect/>
          </a:stretch>
        </p:blipFill>
        <p:spPr>
          <a:xfrm>
            <a:off x="417689" y="86113"/>
            <a:ext cx="8204171" cy="6764472"/>
          </a:xfrm>
          <a:prstGeom prst="rect">
            <a:avLst/>
          </a:prstGeom>
        </p:spPr>
      </p:pic>
      <p:sp>
        <p:nvSpPr>
          <p:cNvPr id="2" name="Oval 1">
            <a:extLst>
              <a:ext uri="{FF2B5EF4-FFF2-40B4-BE49-F238E27FC236}">
                <a16:creationId xmlns:a16="http://schemas.microsoft.com/office/drawing/2014/main" id="{7746B626-25DF-591E-7D23-FE418018261E}"/>
              </a:ext>
            </a:extLst>
          </p:cNvPr>
          <p:cNvSpPr/>
          <p:nvPr/>
        </p:nvSpPr>
        <p:spPr>
          <a:xfrm>
            <a:off x="7443611" y="3246120"/>
            <a:ext cx="365760" cy="365760"/>
          </a:xfrm>
          <a:prstGeom prst="ellipse">
            <a:avLst/>
          </a:prstGeom>
          <a:noFill/>
          <a:ln w="762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174414B4-AEB2-4208-DFE5-B60477D59908}"/>
              </a:ext>
            </a:extLst>
          </p:cNvPr>
          <p:cNvCxnSpPr>
            <a:cxnSpLocks/>
          </p:cNvCxnSpPr>
          <p:nvPr/>
        </p:nvCxnSpPr>
        <p:spPr>
          <a:xfrm flipH="1">
            <a:off x="7300913" y="3611880"/>
            <a:ext cx="204787" cy="361244"/>
          </a:xfrm>
          <a:prstGeom prst="line">
            <a:avLst/>
          </a:prstGeom>
          <a:ln w="28575" cap="flat" cmpd="sng" algn="ctr">
            <a:solidFill>
              <a:srgbClr val="00206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63DB40A1-692D-70BC-DBA4-F65F99EA074F}"/>
              </a:ext>
            </a:extLst>
          </p:cNvPr>
          <p:cNvCxnSpPr>
            <a:cxnSpLocks/>
            <a:stCxn id="2" idx="2"/>
          </p:cNvCxnSpPr>
          <p:nvPr/>
        </p:nvCxnSpPr>
        <p:spPr>
          <a:xfrm flipH="1" flipV="1">
            <a:off x="3708400" y="1636889"/>
            <a:ext cx="3735211" cy="1792111"/>
          </a:xfrm>
          <a:prstGeom prst="line">
            <a:avLst/>
          </a:prstGeom>
          <a:ln w="28575" cap="flat" cmpd="sng" algn="ctr">
            <a:solidFill>
              <a:srgbClr val="00206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4" name="Star: 5 Points 13">
            <a:extLst>
              <a:ext uri="{FF2B5EF4-FFF2-40B4-BE49-F238E27FC236}">
                <a16:creationId xmlns:a16="http://schemas.microsoft.com/office/drawing/2014/main" id="{9035E455-DD48-BE54-B328-BD7C89007F8C}"/>
              </a:ext>
            </a:extLst>
          </p:cNvPr>
          <p:cNvSpPr/>
          <p:nvPr/>
        </p:nvSpPr>
        <p:spPr>
          <a:xfrm>
            <a:off x="7009836" y="3790244"/>
            <a:ext cx="457200" cy="457200"/>
          </a:xfrm>
          <a:prstGeom prst="star5">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tar: 5 Points 14">
            <a:extLst>
              <a:ext uri="{FF2B5EF4-FFF2-40B4-BE49-F238E27FC236}">
                <a16:creationId xmlns:a16="http://schemas.microsoft.com/office/drawing/2014/main" id="{1A00A445-43C3-5826-1A7E-E1C514514335}"/>
              </a:ext>
            </a:extLst>
          </p:cNvPr>
          <p:cNvSpPr/>
          <p:nvPr/>
        </p:nvSpPr>
        <p:spPr>
          <a:xfrm>
            <a:off x="3379047" y="1364545"/>
            <a:ext cx="457200" cy="457200"/>
          </a:xfrm>
          <a:prstGeom prst="star5">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69DB52F-0CD5-3223-3EE2-BD53457F6033}"/>
              </a:ext>
            </a:extLst>
          </p:cNvPr>
          <p:cNvSpPr txBox="1"/>
          <p:nvPr/>
        </p:nvSpPr>
        <p:spPr>
          <a:xfrm>
            <a:off x="7505700" y="3667618"/>
            <a:ext cx="490220" cy="461665"/>
          </a:xfrm>
          <a:prstGeom prst="rect">
            <a:avLst/>
          </a:prstGeom>
          <a:noFill/>
        </p:spPr>
        <p:txBody>
          <a:bodyPr wrap="square" rtlCol="0">
            <a:spAutoFit/>
          </a:bodyPr>
          <a:lstStyle/>
          <a:p>
            <a:r>
              <a:rPr lang="en-US" sz="2400" b="1" dirty="0"/>
              <a:t>1.</a:t>
            </a:r>
          </a:p>
        </p:txBody>
      </p:sp>
      <p:sp>
        <p:nvSpPr>
          <p:cNvPr id="19" name="TextBox 18">
            <a:extLst>
              <a:ext uri="{FF2B5EF4-FFF2-40B4-BE49-F238E27FC236}">
                <a16:creationId xmlns:a16="http://schemas.microsoft.com/office/drawing/2014/main" id="{30A94DB8-81A0-4F81-DC76-C7E137DAD646}"/>
              </a:ext>
            </a:extLst>
          </p:cNvPr>
          <p:cNvSpPr txBox="1"/>
          <p:nvPr/>
        </p:nvSpPr>
        <p:spPr>
          <a:xfrm>
            <a:off x="5257800" y="2499802"/>
            <a:ext cx="490220" cy="461665"/>
          </a:xfrm>
          <a:prstGeom prst="rect">
            <a:avLst/>
          </a:prstGeom>
          <a:noFill/>
        </p:spPr>
        <p:txBody>
          <a:bodyPr wrap="square" rtlCol="0">
            <a:spAutoFit/>
          </a:bodyPr>
          <a:lstStyle/>
          <a:p>
            <a:r>
              <a:rPr lang="en-US" sz="2400" b="1" dirty="0"/>
              <a:t>2.</a:t>
            </a:r>
          </a:p>
        </p:txBody>
      </p:sp>
    </p:spTree>
    <p:extLst>
      <p:ext uri="{BB962C8B-B14F-4D97-AF65-F5344CB8AC3E}">
        <p14:creationId xmlns:p14="http://schemas.microsoft.com/office/powerpoint/2010/main" val="148989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80">
                                          <p:stCondLst>
                                            <p:cond delay="0"/>
                                          </p:stCondLst>
                                        </p:cTn>
                                        <p:tgtEl>
                                          <p:spTgt spid="14"/>
                                        </p:tgtEl>
                                      </p:cBhvr>
                                    </p:animEffect>
                                    <p:anim calcmode="lin" valueType="num">
                                      <p:cBhvr>
                                        <p:cTn id="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1" dur="26">
                                          <p:stCondLst>
                                            <p:cond delay="650"/>
                                          </p:stCondLst>
                                        </p:cTn>
                                        <p:tgtEl>
                                          <p:spTgt spid="14"/>
                                        </p:tgtEl>
                                      </p:cBhvr>
                                      <p:to x="100000" y="60000"/>
                                    </p:animScale>
                                    <p:animScale>
                                      <p:cBhvr>
                                        <p:cTn id="32" dur="166" decel="50000">
                                          <p:stCondLst>
                                            <p:cond delay="676"/>
                                          </p:stCondLst>
                                        </p:cTn>
                                        <p:tgtEl>
                                          <p:spTgt spid="14"/>
                                        </p:tgtEl>
                                      </p:cBhvr>
                                      <p:to x="100000" y="100000"/>
                                    </p:animScale>
                                    <p:animScale>
                                      <p:cBhvr>
                                        <p:cTn id="33" dur="26">
                                          <p:stCondLst>
                                            <p:cond delay="1312"/>
                                          </p:stCondLst>
                                        </p:cTn>
                                        <p:tgtEl>
                                          <p:spTgt spid="14"/>
                                        </p:tgtEl>
                                      </p:cBhvr>
                                      <p:to x="100000" y="80000"/>
                                    </p:animScale>
                                    <p:animScale>
                                      <p:cBhvr>
                                        <p:cTn id="34" dur="166" decel="50000">
                                          <p:stCondLst>
                                            <p:cond delay="1338"/>
                                          </p:stCondLst>
                                        </p:cTn>
                                        <p:tgtEl>
                                          <p:spTgt spid="14"/>
                                        </p:tgtEl>
                                      </p:cBhvr>
                                      <p:to x="100000" y="100000"/>
                                    </p:animScale>
                                    <p:animScale>
                                      <p:cBhvr>
                                        <p:cTn id="35" dur="26">
                                          <p:stCondLst>
                                            <p:cond delay="1642"/>
                                          </p:stCondLst>
                                        </p:cTn>
                                        <p:tgtEl>
                                          <p:spTgt spid="14"/>
                                        </p:tgtEl>
                                      </p:cBhvr>
                                      <p:to x="100000" y="90000"/>
                                    </p:animScale>
                                    <p:animScale>
                                      <p:cBhvr>
                                        <p:cTn id="36" dur="166" decel="50000">
                                          <p:stCondLst>
                                            <p:cond delay="1668"/>
                                          </p:stCondLst>
                                        </p:cTn>
                                        <p:tgtEl>
                                          <p:spTgt spid="14"/>
                                        </p:tgtEl>
                                      </p:cBhvr>
                                      <p:to x="100000" y="100000"/>
                                    </p:animScale>
                                    <p:animScale>
                                      <p:cBhvr>
                                        <p:cTn id="37" dur="26">
                                          <p:stCondLst>
                                            <p:cond delay="1808"/>
                                          </p:stCondLst>
                                        </p:cTn>
                                        <p:tgtEl>
                                          <p:spTgt spid="14"/>
                                        </p:tgtEl>
                                      </p:cBhvr>
                                      <p:to x="100000" y="95000"/>
                                    </p:animScale>
                                    <p:animScale>
                                      <p:cBhvr>
                                        <p:cTn id="38" dur="166" decel="50000">
                                          <p:stCondLst>
                                            <p:cond delay="1834"/>
                                          </p:stCondLst>
                                        </p:cTn>
                                        <p:tgtEl>
                                          <p:spTgt spid="14"/>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wipe(down)">
                                      <p:cBhvr>
                                        <p:cTn id="49" dur="580">
                                          <p:stCondLst>
                                            <p:cond delay="0"/>
                                          </p:stCondLst>
                                        </p:cTn>
                                        <p:tgtEl>
                                          <p:spTgt spid="15"/>
                                        </p:tgtEl>
                                      </p:cBhvr>
                                    </p:animEffect>
                                    <p:anim calcmode="lin" valueType="num">
                                      <p:cBhvr>
                                        <p:cTn id="5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55" dur="26">
                                          <p:stCondLst>
                                            <p:cond delay="650"/>
                                          </p:stCondLst>
                                        </p:cTn>
                                        <p:tgtEl>
                                          <p:spTgt spid="15"/>
                                        </p:tgtEl>
                                      </p:cBhvr>
                                      <p:to x="100000" y="60000"/>
                                    </p:animScale>
                                    <p:animScale>
                                      <p:cBhvr>
                                        <p:cTn id="56" dur="166" decel="50000">
                                          <p:stCondLst>
                                            <p:cond delay="676"/>
                                          </p:stCondLst>
                                        </p:cTn>
                                        <p:tgtEl>
                                          <p:spTgt spid="15"/>
                                        </p:tgtEl>
                                      </p:cBhvr>
                                      <p:to x="100000" y="100000"/>
                                    </p:animScale>
                                    <p:animScale>
                                      <p:cBhvr>
                                        <p:cTn id="57" dur="26">
                                          <p:stCondLst>
                                            <p:cond delay="1312"/>
                                          </p:stCondLst>
                                        </p:cTn>
                                        <p:tgtEl>
                                          <p:spTgt spid="15"/>
                                        </p:tgtEl>
                                      </p:cBhvr>
                                      <p:to x="100000" y="80000"/>
                                    </p:animScale>
                                    <p:animScale>
                                      <p:cBhvr>
                                        <p:cTn id="58" dur="166" decel="50000">
                                          <p:stCondLst>
                                            <p:cond delay="1338"/>
                                          </p:stCondLst>
                                        </p:cTn>
                                        <p:tgtEl>
                                          <p:spTgt spid="15"/>
                                        </p:tgtEl>
                                      </p:cBhvr>
                                      <p:to x="100000" y="100000"/>
                                    </p:animScale>
                                    <p:animScale>
                                      <p:cBhvr>
                                        <p:cTn id="59" dur="26">
                                          <p:stCondLst>
                                            <p:cond delay="1642"/>
                                          </p:stCondLst>
                                        </p:cTn>
                                        <p:tgtEl>
                                          <p:spTgt spid="15"/>
                                        </p:tgtEl>
                                      </p:cBhvr>
                                      <p:to x="100000" y="90000"/>
                                    </p:animScale>
                                    <p:animScale>
                                      <p:cBhvr>
                                        <p:cTn id="60" dur="166" decel="50000">
                                          <p:stCondLst>
                                            <p:cond delay="1668"/>
                                          </p:stCondLst>
                                        </p:cTn>
                                        <p:tgtEl>
                                          <p:spTgt spid="15"/>
                                        </p:tgtEl>
                                      </p:cBhvr>
                                      <p:to x="100000" y="100000"/>
                                    </p:animScale>
                                    <p:animScale>
                                      <p:cBhvr>
                                        <p:cTn id="61" dur="26">
                                          <p:stCondLst>
                                            <p:cond delay="1808"/>
                                          </p:stCondLst>
                                        </p:cTn>
                                        <p:tgtEl>
                                          <p:spTgt spid="15"/>
                                        </p:tgtEl>
                                      </p:cBhvr>
                                      <p:to x="100000" y="95000"/>
                                    </p:animScale>
                                    <p:animScale>
                                      <p:cBhvr>
                                        <p:cTn id="62" dur="166" decel="50000">
                                          <p:stCondLst>
                                            <p:cond delay="1834"/>
                                          </p:stCondLst>
                                        </p:cTn>
                                        <p:tgtEl>
                                          <p:spTgt spid="15"/>
                                        </p:tgtEl>
                                      </p:cBhvr>
                                      <p:to x="100000" y="100000"/>
                                    </p:animScale>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animBg="1"/>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68CDA-6F6C-7291-7E59-3C3C49CAEA3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58DE1E7-68F9-B1B8-E679-8BE10B96F355}"/>
              </a:ext>
            </a:extLst>
          </p:cNvPr>
          <p:cNvGraphicFramePr>
            <a:graphicFrameLocks noGrp="1"/>
          </p:cNvGraphicFramePr>
          <p:nvPr>
            <p:extLst>
              <p:ext uri="{D42A27DB-BD31-4B8C-83A1-F6EECF244321}">
                <p14:modId xmlns:p14="http://schemas.microsoft.com/office/powerpoint/2010/main" val="4207794830"/>
              </p:ext>
            </p:extLst>
          </p:nvPr>
        </p:nvGraphicFramePr>
        <p:xfrm>
          <a:off x="0" y="2202197"/>
          <a:ext cx="9144000" cy="2854325"/>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1808688989"/>
                    </a:ext>
                  </a:extLst>
                </a:gridCol>
                <a:gridCol w="1524000">
                  <a:extLst>
                    <a:ext uri="{9D8B030D-6E8A-4147-A177-3AD203B41FA5}">
                      <a16:colId xmlns:a16="http://schemas.microsoft.com/office/drawing/2014/main" val="2024515840"/>
                    </a:ext>
                  </a:extLst>
                </a:gridCol>
                <a:gridCol w="1498600">
                  <a:extLst>
                    <a:ext uri="{9D8B030D-6E8A-4147-A177-3AD203B41FA5}">
                      <a16:colId xmlns:a16="http://schemas.microsoft.com/office/drawing/2014/main" val="3481411310"/>
                    </a:ext>
                  </a:extLst>
                </a:gridCol>
                <a:gridCol w="1549400">
                  <a:extLst>
                    <a:ext uri="{9D8B030D-6E8A-4147-A177-3AD203B41FA5}">
                      <a16:colId xmlns:a16="http://schemas.microsoft.com/office/drawing/2014/main" val="70924272"/>
                    </a:ext>
                  </a:extLst>
                </a:gridCol>
                <a:gridCol w="1524000">
                  <a:extLst>
                    <a:ext uri="{9D8B030D-6E8A-4147-A177-3AD203B41FA5}">
                      <a16:colId xmlns:a16="http://schemas.microsoft.com/office/drawing/2014/main" val="2694952557"/>
                    </a:ext>
                  </a:extLst>
                </a:gridCol>
                <a:gridCol w="1524000">
                  <a:extLst>
                    <a:ext uri="{9D8B030D-6E8A-4147-A177-3AD203B41FA5}">
                      <a16:colId xmlns:a16="http://schemas.microsoft.com/office/drawing/2014/main" val="3091031687"/>
                    </a:ext>
                  </a:extLst>
                </a:gridCol>
              </a:tblGrid>
              <a:tr h="325752">
                <a:tc>
                  <a:txBody>
                    <a:bodyPr/>
                    <a:lstStyle/>
                    <a:p>
                      <a:pPr algn="ctr"/>
                      <a:r>
                        <a:rPr lang="en-US" sz="2000" dirty="0">
                          <a:solidFill>
                            <a:schemeClr val="tx1"/>
                          </a:solidFill>
                        </a:rPr>
                        <a:t>Patient ID</a:t>
                      </a:r>
                    </a:p>
                  </a:txBody>
                  <a:tcPr/>
                </a:tc>
                <a:tc>
                  <a:txBody>
                    <a:bodyPr/>
                    <a:lstStyle/>
                    <a:p>
                      <a:pPr algn="ctr"/>
                      <a:r>
                        <a:rPr lang="en-US" sz="2000" dirty="0">
                          <a:solidFill>
                            <a:schemeClr val="tx1"/>
                          </a:solidFill>
                        </a:rPr>
                        <a:t>Distance to Cluster 0</a:t>
                      </a:r>
                    </a:p>
                  </a:txBody>
                  <a:tcPr/>
                </a:tc>
                <a:tc>
                  <a:txBody>
                    <a:bodyPr/>
                    <a:lstStyle/>
                    <a:p>
                      <a:pPr algn="ctr"/>
                      <a:r>
                        <a:rPr lang="en-US" sz="2000" dirty="0">
                          <a:solidFill>
                            <a:schemeClr val="tx1"/>
                          </a:solidFill>
                        </a:rPr>
                        <a:t>Distance to Cluster 1</a:t>
                      </a:r>
                    </a:p>
                  </a:txBody>
                  <a:tcPr/>
                </a:tc>
                <a:tc>
                  <a:txBody>
                    <a:bodyPr/>
                    <a:lstStyle/>
                    <a:p>
                      <a:pPr algn="ctr"/>
                      <a:r>
                        <a:rPr lang="en-US" sz="2000" dirty="0">
                          <a:solidFill>
                            <a:schemeClr val="tx1"/>
                          </a:solidFill>
                        </a:rPr>
                        <a:t>Distance to Cluster 2</a:t>
                      </a:r>
                    </a:p>
                  </a:txBody>
                  <a:tcPr/>
                </a:tc>
                <a:tc>
                  <a:txBody>
                    <a:bodyPr/>
                    <a:lstStyle/>
                    <a:p>
                      <a:pPr algn="ctr"/>
                      <a:r>
                        <a:rPr lang="en-US" sz="2000" dirty="0">
                          <a:solidFill>
                            <a:schemeClr val="tx1"/>
                          </a:solidFill>
                        </a:rPr>
                        <a:t>…</a:t>
                      </a:r>
                    </a:p>
                  </a:txBody>
                  <a:tcPr/>
                </a:tc>
                <a:tc>
                  <a:txBody>
                    <a:bodyPr/>
                    <a:lstStyle/>
                    <a:p>
                      <a:pPr algn="ctr"/>
                      <a:r>
                        <a:rPr lang="en-US" sz="2000" dirty="0">
                          <a:solidFill>
                            <a:schemeClr val="tx1"/>
                          </a:solidFill>
                        </a:rPr>
                        <a:t>Distance to Cluster </a:t>
                      </a:r>
                      <a:r>
                        <a:rPr lang="en-US" sz="2000" i="1" dirty="0">
                          <a:solidFill>
                            <a:schemeClr val="tx1"/>
                          </a:solidFill>
                        </a:rPr>
                        <a:t>N</a:t>
                      </a:r>
                    </a:p>
                  </a:txBody>
                  <a:tcPr/>
                </a:tc>
                <a:extLst>
                  <a:ext uri="{0D108BD9-81ED-4DB2-BD59-A6C34878D82A}">
                    <a16:rowId xmlns:a16="http://schemas.microsoft.com/office/drawing/2014/main" val="1939874380"/>
                  </a:ext>
                </a:extLst>
              </a:tr>
              <a:tr h="430657">
                <a:tc>
                  <a:txBody>
                    <a:bodyPr/>
                    <a:lstStyle/>
                    <a:p>
                      <a:pPr algn="r"/>
                      <a:r>
                        <a:rPr lang="en-US" sz="2000" dirty="0">
                          <a:solidFill>
                            <a:schemeClr val="tx1"/>
                          </a:solidFill>
                        </a:rPr>
                        <a:t>001</a:t>
                      </a: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432181462"/>
                  </a:ext>
                </a:extLst>
              </a:tr>
              <a:tr h="430657">
                <a:tc>
                  <a:txBody>
                    <a:bodyPr/>
                    <a:lstStyle/>
                    <a:p>
                      <a:pPr algn="r"/>
                      <a:r>
                        <a:rPr lang="en-US" sz="2000" dirty="0">
                          <a:solidFill>
                            <a:schemeClr val="tx1"/>
                          </a:solidFill>
                        </a:rPr>
                        <a:t>002</a:t>
                      </a: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597045525"/>
                  </a:ext>
                </a:extLst>
              </a:tr>
              <a:tr h="430657">
                <a:tc>
                  <a:txBody>
                    <a:bodyPr/>
                    <a:lstStyle/>
                    <a:p>
                      <a:pPr algn="r"/>
                      <a:r>
                        <a:rPr lang="en-US" sz="2000" dirty="0">
                          <a:solidFill>
                            <a:schemeClr val="tx1"/>
                          </a:solidFill>
                        </a:rPr>
                        <a:t>003</a:t>
                      </a: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2659926738"/>
                  </a:ext>
                </a:extLst>
              </a:tr>
              <a:tr h="430657">
                <a:tc>
                  <a:txBody>
                    <a:bodyPr/>
                    <a:lstStyle/>
                    <a:p>
                      <a:pPr algn="r"/>
                      <a:r>
                        <a:rPr lang="en-US" sz="2000" dirty="0">
                          <a:solidFill>
                            <a:schemeClr val="tx1"/>
                          </a:solidFill>
                        </a:rPr>
                        <a:t>…</a:t>
                      </a: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512498731"/>
                  </a:ext>
                </a:extLst>
              </a:tr>
              <a:tr h="430657">
                <a:tc>
                  <a:txBody>
                    <a:bodyPr/>
                    <a:lstStyle/>
                    <a:p>
                      <a:pPr algn="r"/>
                      <a:r>
                        <a:rPr lang="en-US" sz="2000" dirty="0">
                          <a:solidFill>
                            <a:schemeClr val="tx1"/>
                          </a:solidFill>
                        </a:rPr>
                        <a:t>P</a:t>
                      </a:r>
                      <a:r>
                        <a:rPr lang="en-US" sz="2000" baseline="-25000" dirty="0">
                          <a:solidFill>
                            <a:schemeClr val="tx1"/>
                          </a:solidFill>
                        </a:rPr>
                        <a:t>N</a:t>
                      </a: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690531563"/>
                  </a:ext>
                </a:extLst>
              </a:tr>
            </a:tbl>
          </a:graphicData>
        </a:graphic>
      </p:graphicFrame>
      <p:sp>
        <p:nvSpPr>
          <p:cNvPr id="6" name="TextBox 5">
            <a:extLst>
              <a:ext uri="{FF2B5EF4-FFF2-40B4-BE49-F238E27FC236}">
                <a16:creationId xmlns:a16="http://schemas.microsoft.com/office/drawing/2014/main" id="{5233B742-9170-9B4C-3D0C-1042D466E87A}"/>
              </a:ext>
            </a:extLst>
          </p:cNvPr>
          <p:cNvSpPr txBox="1"/>
          <p:nvPr/>
        </p:nvSpPr>
        <p:spPr>
          <a:xfrm>
            <a:off x="12700" y="505948"/>
            <a:ext cx="8826500" cy="1323439"/>
          </a:xfrm>
          <a:prstGeom prst="rect">
            <a:avLst/>
          </a:prstGeom>
          <a:noFill/>
        </p:spPr>
        <p:txBody>
          <a:bodyPr wrap="square" rtlCol="0">
            <a:spAutoFit/>
          </a:bodyPr>
          <a:lstStyle/>
          <a:p>
            <a:pPr algn="ctr"/>
            <a:r>
              <a:rPr lang="en-US" sz="4000" dirty="0"/>
              <a:t>Output is New Lesion-Symptom Mapping Input</a:t>
            </a:r>
          </a:p>
        </p:txBody>
      </p:sp>
      <p:sp>
        <p:nvSpPr>
          <p:cNvPr id="4" name="TextBox 3">
            <a:extLst>
              <a:ext uri="{FF2B5EF4-FFF2-40B4-BE49-F238E27FC236}">
                <a16:creationId xmlns:a16="http://schemas.microsoft.com/office/drawing/2014/main" id="{C8DD9B27-51DA-3401-25E3-E2311E781691}"/>
              </a:ext>
            </a:extLst>
          </p:cNvPr>
          <p:cNvSpPr txBox="1"/>
          <p:nvPr/>
        </p:nvSpPr>
        <p:spPr>
          <a:xfrm>
            <a:off x="813505" y="5427863"/>
            <a:ext cx="7224890" cy="1077218"/>
          </a:xfrm>
          <a:prstGeom prst="rect">
            <a:avLst/>
          </a:prstGeom>
          <a:noFill/>
        </p:spPr>
        <p:txBody>
          <a:bodyPr wrap="square" rtlCol="0">
            <a:spAutoFit/>
          </a:bodyPr>
          <a:lstStyle/>
          <a:p>
            <a:pPr algn="ctr"/>
            <a:r>
              <a:rPr lang="en-US" sz="3200" dirty="0"/>
              <a:t>Can use Iowa Brain-Behavior Toolkit to perform lesion mapping analyses</a:t>
            </a:r>
          </a:p>
        </p:txBody>
      </p:sp>
    </p:spTree>
    <p:extLst>
      <p:ext uri="{BB962C8B-B14F-4D97-AF65-F5344CB8AC3E}">
        <p14:creationId xmlns:p14="http://schemas.microsoft.com/office/powerpoint/2010/main" val="1632229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6FE0A-AFAC-FF0A-DD64-701665F4513A}"/>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AF99766C-4270-6F41-3BC8-C5A0FDA296A6}"/>
              </a:ext>
            </a:extLst>
          </p:cNvPr>
          <p:cNvGrpSpPr/>
          <p:nvPr/>
        </p:nvGrpSpPr>
        <p:grpSpPr>
          <a:xfrm>
            <a:off x="-120222" y="3941761"/>
            <a:ext cx="9264222" cy="2916239"/>
            <a:chOff x="-112889" y="1226782"/>
            <a:chExt cx="9264222" cy="2916239"/>
          </a:xfrm>
        </p:grpSpPr>
        <p:pic>
          <p:nvPicPr>
            <p:cNvPr id="3" name="Picture 2">
              <a:extLst>
                <a:ext uri="{FF2B5EF4-FFF2-40B4-BE49-F238E27FC236}">
                  <a16:creationId xmlns:a16="http://schemas.microsoft.com/office/drawing/2014/main" id="{4E79E24A-FB76-44F2-F22A-05BE7550A6D9}"/>
                </a:ext>
              </a:extLst>
            </p:cNvPr>
            <p:cNvPicPr>
              <a:picLocks noChangeAspect="1"/>
            </p:cNvPicPr>
            <p:nvPr/>
          </p:nvPicPr>
          <p:blipFill>
            <a:blip r:embed="rId3"/>
            <a:stretch>
              <a:fillRect/>
            </a:stretch>
          </p:blipFill>
          <p:spPr>
            <a:xfrm>
              <a:off x="0" y="1226782"/>
              <a:ext cx="9151333" cy="2916239"/>
            </a:xfrm>
            <a:prstGeom prst="rect">
              <a:avLst/>
            </a:prstGeom>
          </p:spPr>
        </p:pic>
        <p:sp>
          <p:nvSpPr>
            <p:cNvPr id="4" name="Rectangle 3">
              <a:extLst>
                <a:ext uri="{FF2B5EF4-FFF2-40B4-BE49-F238E27FC236}">
                  <a16:creationId xmlns:a16="http://schemas.microsoft.com/office/drawing/2014/main" id="{CE433D74-D183-033E-E6D5-7DFAF502670D}"/>
                </a:ext>
              </a:extLst>
            </p:cNvPr>
            <p:cNvSpPr/>
            <p:nvPr/>
          </p:nvSpPr>
          <p:spPr>
            <a:xfrm>
              <a:off x="-112889" y="1226782"/>
              <a:ext cx="666045" cy="4101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2260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83572-904E-A6B8-9DF2-6A100D98CF9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9119E4D-FCC6-29F2-CAD7-3D7A516DFFE1}"/>
              </a:ext>
            </a:extLst>
          </p:cNvPr>
          <p:cNvPicPr>
            <a:picLocks noChangeAspect="1"/>
          </p:cNvPicPr>
          <p:nvPr/>
        </p:nvPicPr>
        <p:blipFill>
          <a:blip r:embed="rId3"/>
          <a:stretch>
            <a:fillRect/>
          </a:stretch>
        </p:blipFill>
        <p:spPr>
          <a:xfrm>
            <a:off x="588099" y="0"/>
            <a:ext cx="7967801" cy="6858000"/>
          </a:xfrm>
          <a:prstGeom prst="rect">
            <a:avLst/>
          </a:prstGeom>
        </p:spPr>
      </p:pic>
      <p:sp>
        <p:nvSpPr>
          <p:cNvPr id="4" name="Rectangle 3">
            <a:extLst>
              <a:ext uri="{FF2B5EF4-FFF2-40B4-BE49-F238E27FC236}">
                <a16:creationId xmlns:a16="http://schemas.microsoft.com/office/drawing/2014/main" id="{F1025B63-8BB9-AB63-8431-852A62B0CCA7}"/>
              </a:ext>
            </a:extLst>
          </p:cNvPr>
          <p:cNvSpPr/>
          <p:nvPr/>
        </p:nvSpPr>
        <p:spPr>
          <a:xfrm>
            <a:off x="373380" y="-213360"/>
            <a:ext cx="762000" cy="406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B0FB74-BBC4-7CD4-623B-5FF891EA0FF7}"/>
              </a:ext>
            </a:extLst>
          </p:cNvPr>
          <p:cNvSpPr/>
          <p:nvPr/>
        </p:nvSpPr>
        <p:spPr>
          <a:xfrm>
            <a:off x="6723379" y="2343572"/>
            <a:ext cx="2047239" cy="29396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83A6928E-9BEB-2C16-F3DA-5A811B552413}"/>
              </a:ext>
            </a:extLst>
          </p:cNvPr>
          <p:cNvPicPr>
            <a:picLocks noChangeAspect="1"/>
          </p:cNvPicPr>
          <p:nvPr/>
        </p:nvPicPr>
        <p:blipFill>
          <a:blip r:embed="rId4"/>
          <a:srcRect r="5882"/>
          <a:stretch>
            <a:fillRect/>
          </a:stretch>
        </p:blipFill>
        <p:spPr>
          <a:xfrm>
            <a:off x="6906028" y="2343572"/>
            <a:ext cx="1926821" cy="2729654"/>
          </a:xfrm>
          <a:prstGeom prst="rect">
            <a:avLst/>
          </a:prstGeom>
        </p:spPr>
      </p:pic>
    </p:spTree>
    <p:extLst>
      <p:ext uri="{BB962C8B-B14F-4D97-AF65-F5344CB8AC3E}">
        <p14:creationId xmlns:p14="http://schemas.microsoft.com/office/powerpoint/2010/main" val="20272787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C9F09-E0CE-630F-7EB3-29F5DCA65DC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7D5E51C7-3475-AFCF-84EA-A52F4B11485C}"/>
              </a:ext>
            </a:extLst>
          </p:cNvPr>
          <p:cNvGrpSpPr/>
          <p:nvPr/>
        </p:nvGrpSpPr>
        <p:grpSpPr>
          <a:xfrm>
            <a:off x="-120222" y="3941761"/>
            <a:ext cx="9264222" cy="2916239"/>
            <a:chOff x="-112889" y="1226782"/>
            <a:chExt cx="9264222" cy="2916239"/>
          </a:xfrm>
        </p:grpSpPr>
        <p:pic>
          <p:nvPicPr>
            <p:cNvPr id="3" name="Picture 2">
              <a:extLst>
                <a:ext uri="{FF2B5EF4-FFF2-40B4-BE49-F238E27FC236}">
                  <a16:creationId xmlns:a16="http://schemas.microsoft.com/office/drawing/2014/main" id="{9A48DFB2-C9E2-A415-C207-FD0CD43A9F26}"/>
                </a:ext>
              </a:extLst>
            </p:cNvPr>
            <p:cNvPicPr>
              <a:picLocks noChangeAspect="1"/>
            </p:cNvPicPr>
            <p:nvPr/>
          </p:nvPicPr>
          <p:blipFill>
            <a:blip r:embed="rId3"/>
            <a:stretch>
              <a:fillRect/>
            </a:stretch>
          </p:blipFill>
          <p:spPr>
            <a:xfrm>
              <a:off x="0" y="1226782"/>
              <a:ext cx="9151333" cy="2916239"/>
            </a:xfrm>
            <a:prstGeom prst="rect">
              <a:avLst/>
            </a:prstGeom>
          </p:spPr>
        </p:pic>
        <p:sp>
          <p:nvSpPr>
            <p:cNvPr id="4" name="Rectangle 3">
              <a:extLst>
                <a:ext uri="{FF2B5EF4-FFF2-40B4-BE49-F238E27FC236}">
                  <a16:creationId xmlns:a16="http://schemas.microsoft.com/office/drawing/2014/main" id="{82E1B54B-9BE4-354B-53C3-89AC176E61D6}"/>
                </a:ext>
              </a:extLst>
            </p:cNvPr>
            <p:cNvSpPr/>
            <p:nvPr/>
          </p:nvSpPr>
          <p:spPr>
            <a:xfrm>
              <a:off x="-112889" y="1226782"/>
              <a:ext cx="666045" cy="4101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51F6A223-2560-E77F-BEE2-4D9482619E2A}"/>
              </a:ext>
            </a:extLst>
          </p:cNvPr>
          <p:cNvGrpSpPr/>
          <p:nvPr/>
        </p:nvGrpSpPr>
        <p:grpSpPr>
          <a:xfrm>
            <a:off x="4320740" y="-57151"/>
            <a:ext cx="4721661" cy="4121151"/>
            <a:chOff x="4422340" y="-57151"/>
            <a:chExt cx="4721661" cy="4121151"/>
          </a:xfrm>
        </p:grpSpPr>
        <p:pic>
          <p:nvPicPr>
            <p:cNvPr id="6" name="Picture 5">
              <a:extLst>
                <a:ext uri="{FF2B5EF4-FFF2-40B4-BE49-F238E27FC236}">
                  <a16:creationId xmlns:a16="http://schemas.microsoft.com/office/drawing/2014/main" id="{6204F2C3-6D24-A97B-DFCE-ED0340B92B10}"/>
                </a:ext>
              </a:extLst>
            </p:cNvPr>
            <p:cNvPicPr>
              <a:picLocks noChangeAspect="1"/>
            </p:cNvPicPr>
            <p:nvPr/>
          </p:nvPicPr>
          <p:blipFill>
            <a:blip r:embed="rId4"/>
            <a:stretch>
              <a:fillRect/>
            </a:stretch>
          </p:blipFill>
          <p:spPr>
            <a:xfrm>
              <a:off x="4422340" y="0"/>
              <a:ext cx="4721660" cy="4064000"/>
            </a:xfrm>
            <a:prstGeom prst="rect">
              <a:avLst/>
            </a:prstGeom>
          </p:spPr>
        </p:pic>
        <p:sp>
          <p:nvSpPr>
            <p:cNvPr id="7" name="Rectangle 6">
              <a:extLst>
                <a:ext uri="{FF2B5EF4-FFF2-40B4-BE49-F238E27FC236}">
                  <a16:creationId xmlns:a16="http://schemas.microsoft.com/office/drawing/2014/main" id="{BB2A4CB7-F22A-2B12-833D-490C2A4E5721}"/>
                </a:ext>
              </a:extLst>
            </p:cNvPr>
            <p:cNvSpPr/>
            <p:nvPr/>
          </p:nvSpPr>
          <p:spPr>
            <a:xfrm>
              <a:off x="8082281" y="1326485"/>
              <a:ext cx="1061720" cy="16834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0335F30-6FDA-D594-1200-AF72E3B8C40A}"/>
                </a:ext>
              </a:extLst>
            </p:cNvPr>
            <p:cNvSpPr/>
            <p:nvPr/>
          </p:nvSpPr>
          <p:spPr>
            <a:xfrm>
              <a:off x="4476749" y="-57151"/>
              <a:ext cx="250389" cy="221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3D1D2556-B5B6-BAC6-5DDD-5C1B899A60B0}"/>
              </a:ext>
            </a:extLst>
          </p:cNvPr>
          <p:cNvPicPr>
            <a:picLocks noChangeAspect="1"/>
          </p:cNvPicPr>
          <p:nvPr/>
        </p:nvPicPr>
        <p:blipFill>
          <a:blip r:embed="rId5"/>
          <a:srcRect r="5882"/>
          <a:stretch>
            <a:fillRect/>
          </a:stretch>
        </p:blipFill>
        <p:spPr>
          <a:xfrm>
            <a:off x="8015490" y="1328633"/>
            <a:ext cx="1138596" cy="1613006"/>
          </a:xfrm>
          <a:prstGeom prst="rect">
            <a:avLst/>
          </a:prstGeom>
        </p:spPr>
      </p:pic>
    </p:spTree>
    <p:extLst>
      <p:ext uri="{BB962C8B-B14F-4D97-AF65-F5344CB8AC3E}">
        <p14:creationId xmlns:p14="http://schemas.microsoft.com/office/powerpoint/2010/main" val="3431481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6960-F46F-6859-3B6E-10DB8F91A988}"/>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E5D37022-FD87-4923-7C12-30565B79016B}"/>
              </a:ext>
            </a:extLst>
          </p:cNvPr>
          <p:cNvGrpSpPr/>
          <p:nvPr/>
        </p:nvGrpSpPr>
        <p:grpSpPr>
          <a:xfrm>
            <a:off x="-120222" y="3941761"/>
            <a:ext cx="9264222" cy="2916239"/>
            <a:chOff x="-112889" y="1226782"/>
            <a:chExt cx="9264222" cy="2916239"/>
          </a:xfrm>
        </p:grpSpPr>
        <p:pic>
          <p:nvPicPr>
            <p:cNvPr id="3" name="Picture 2">
              <a:extLst>
                <a:ext uri="{FF2B5EF4-FFF2-40B4-BE49-F238E27FC236}">
                  <a16:creationId xmlns:a16="http://schemas.microsoft.com/office/drawing/2014/main" id="{6EF800DF-EC43-D313-7785-122CE938DE48}"/>
                </a:ext>
              </a:extLst>
            </p:cNvPr>
            <p:cNvPicPr>
              <a:picLocks noChangeAspect="1"/>
            </p:cNvPicPr>
            <p:nvPr/>
          </p:nvPicPr>
          <p:blipFill>
            <a:blip r:embed="rId3"/>
            <a:stretch>
              <a:fillRect/>
            </a:stretch>
          </p:blipFill>
          <p:spPr>
            <a:xfrm>
              <a:off x="0" y="1226782"/>
              <a:ext cx="9151333" cy="2916239"/>
            </a:xfrm>
            <a:prstGeom prst="rect">
              <a:avLst/>
            </a:prstGeom>
          </p:spPr>
        </p:pic>
        <p:sp>
          <p:nvSpPr>
            <p:cNvPr id="4" name="Rectangle 3">
              <a:extLst>
                <a:ext uri="{FF2B5EF4-FFF2-40B4-BE49-F238E27FC236}">
                  <a16:creationId xmlns:a16="http://schemas.microsoft.com/office/drawing/2014/main" id="{9E61ACB4-77A6-A307-479C-0FBE9D7202A1}"/>
                </a:ext>
              </a:extLst>
            </p:cNvPr>
            <p:cNvSpPr/>
            <p:nvPr/>
          </p:nvSpPr>
          <p:spPr>
            <a:xfrm>
              <a:off x="-112889" y="1226782"/>
              <a:ext cx="666045" cy="4101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3F1BA1FD-1271-327B-3B29-3654EC91FD13}"/>
              </a:ext>
            </a:extLst>
          </p:cNvPr>
          <p:cNvGrpSpPr/>
          <p:nvPr/>
        </p:nvGrpSpPr>
        <p:grpSpPr>
          <a:xfrm>
            <a:off x="60277" y="1256347"/>
            <a:ext cx="9016112" cy="2212764"/>
            <a:chOff x="0" y="0"/>
            <a:chExt cx="7636291" cy="1874123"/>
          </a:xfrm>
        </p:grpSpPr>
        <p:pic>
          <p:nvPicPr>
            <p:cNvPr id="11" name="Picture 10">
              <a:extLst>
                <a:ext uri="{FF2B5EF4-FFF2-40B4-BE49-F238E27FC236}">
                  <a16:creationId xmlns:a16="http://schemas.microsoft.com/office/drawing/2014/main" id="{5181EE63-F476-78D6-DF9E-525C336BF8E1}"/>
                </a:ext>
              </a:extLst>
            </p:cNvPr>
            <p:cNvPicPr>
              <a:picLocks noChangeAspect="1"/>
            </p:cNvPicPr>
            <p:nvPr/>
          </p:nvPicPr>
          <p:blipFill>
            <a:blip r:embed="rId4"/>
            <a:stretch>
              <a:fillRect/>
            </a:stretch>
          </p:blipFill>
          <p:spPr>
            <a:xfrm>
              <a:off x="0" y="0"/>
              <a:ext cx="1955128" cy="1871930"/>
            </a:xfrm>
            <a:prstGeom prst="rect">
              <a:avLst/>
            </a:prstGeom>
          </p:spPr>
        </p:pic>
        <p:pic>
          <p:nvPicPr>
            <p:cNvPr id="13" name="Picture 12">
              <a:extLst>
                <a:ext uri="{FF2B5EF4-FFF2-40B4-BE49-F238E27FC236}">
                  <a16:creationId xmlns:a16="http://schemas.microsoft.com/office/drawing/2014/main" id="{AD9B9350-9C60-2E1F-10B8-B8F4E519DED5}"/>
                </a:ext>
              </a:extLst>
            </p:cNvPr>
            <p:cNvPicPr>
              <a:picLocks noChangeAspect="1"/>
            </p:cNvPicPr>
            <p:nvPr/>
          </p:nvPicPr>
          <p:blipFill>
            <a:blip r:embed="rId5"/>
            <a:srcRect l="12963"/>
            <a:stretch>
              <a:fillRect/>
            </a:stretch>
          </p:blipFill>
          <p:spPr>
            <a:xfrm>
              <a:off x="1955128" y="8136"/>
              <a:ext cx="1955128" cy="1533200"/>
            </a:xfrm>
            <a:prstGeom prst="rect">
              <a:avLst/>
            </a:prstGeom>
          </p:spPr>
        </p:pic>
        <p:pic>
          <p:nvPicPr>
            <p:cNvPr id="15" name="Picture 14">
              <a:extLst>
                <a:ext uri="{FF2B5EF4-FFF2-40B4-BE49-F238E27FC236}">
                  <a16:creationId xmlns:a16="http://schemas.microsoft.com/office/drawing/2014/main" id="{E15266CE-C8A6-AEEB-8E92-AE70B670C6E8}"/>
                </a:ext>
              </a:extLst>
            </p:cNvPr>
            <p:cNvPicPr>
              <a:picLocks noChangeAspect="1"/>
            </p:cNvPicPr>
            <p:nvPr/>
          </p:nvPicPr>
          <p:blipFill>
            <a:blip r:embed="rId6"/>
            <a:stretch>
              <a:fillRect/>
            </a:stretch>
          </p:blipFill>
          <p:spPr>
            <a:xfrm>
              <a:off x="3910256" y="8136"/>
              <a:ext cx="1895702" cy="1865987"/>
            </a:xfrm>
            <a:prstGeom prst="rect">
              <a:avLst/>
            </a:prstGeom>
          </p:spPr>
        </p:pic>
        <p:pic>
          <p:nvPicPr>
            <p:cNvPr id="17" name="Picture 16">
              <a:extLst>
                <a:ext uri="{FF2B5EF4-FFF2-40B4-BE49-F238E27FC236}">
                  <a16:creationId xmlns:a16="http://schemas.microsoft.com/office/drawing/2014/main" id="{52414115-C650-4AE1-E010-D9B67E24FA2F}"/>
                </a:ext>
              </a:extLst>
            </p:cNvPr>
            <p:cNvPicPr>
              <a:picLocks noChangeAspect="1"/>
            </p:cNvPicPr>
            <p:nvPr/>
          </p:nvPicPr>
          <p:blipFill>
            <a:blip r:embed="rId7"/>
            <a:stretch>
              <a:fillRect/>
            </a:stretch>
          </p:blipFill>
          <p:spPr>
            <a:xfrm>
              <a:off x="5805958" y="142623"/>
              <a:ext cx="1830333" cy="1586684"/>
            </a:xfrm>
            <a:prstGeom prst="rect">
              <a:avLst/>
            </a:prstGeom>
          </p:spPr>
        </p:pic>
      </p:grpSp>
    </p:spTree>
    <p:extLst>
      <p:ext uri="{BB962C8B-B14F-4D97-AF65-F5344CB8AC3E}">
        <p14:creationId xmlns:p14="http://schemas.microsoft.com/office/powerpoint/2010/main" val="537924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4559B-BE24-5CF5-9F7C-908ED7053FE0}"/>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52BFE788-FCFE-79F5-CFDC-9970582A05BB}"/>
              </a:ext>
            </a:extLst>
          </p:cNvPr>
          <p:cNvGrpSpPr/>
          <p:nvPr/>
        </p:nvGrpSpPr>
        <p:grpSpPr>
          <a:xfrm>
            <a:off x="-120222" y="3941761"/>
            <a:ext cx="9264222" cy="2916239"/>
            <a:chOff x="-112889" y="1226782"/>
            <a:chExt cx="9264222" cy="2916239"/>
          </a:xfrm>
        </p:grpSpPr>
        <p:pic>
          <p:nvPicPr>
            <p:cNvPr id="3" name="Picture 2">
              <a:extLst>
                <a:ext uri="{FF2B5EF4-FFF2-40B4-BE49-F238E27FC236}">
                  <a16:creationId xmlns:a16="http://schemas.microsoft.com/office/drawing/2014/main" id="{8EAF5BFC-DAB9-8AAB-D4A7-6B269AE87412}"/>
                </a:ext>
              </a:extLst>
            </p:cNvPr>
            <p:cNvPicPr>
              <a:picLocks noChangeAspect="1"/>
            </p:cNvPicPr>
            <p:nvPr/>
          </p:nvPicPr>
          <p:blipFill>
            <a:blip r:embed="rId3"/>
            <a:stretch>
              <a:fillRect/>
            </a:stretch>
          </p:blipFill>
          <p:spPr>
            <a:xfrm>
              <a:off x="0" y="1226782"/>
              <a:ext cx="9151333" cy="2916239"/>
            </a:xfrm>
            <a:prstGeom prst="rect">
              <a:avLst/>
            </a:prstGeom>
          </p:spPr>
        </p:pic>
        <p:sp>
          <p:nvSpPr>
            <p:cNvPr id="4" name="Rectangle 3">
              <a:extLst>
                <a:ext uri="{FF2B5EF4-FFF2-40B4-BE49-F238E27FC236}">
                  <a16:creationId xmlns:a16="http://schemas.microsoft.com/office/drawing/2014/main" id="{252E380A-8489-2EFD-0D30-62EFBF9617B3}"/>
                </a:ext>
              </a:extLst>
            </p:cNvPr>
            <p:cNvSpPr/>
            <p:nvPr/>
          </p:nvSpPr>
          <p:spPr>
            <a:xfrm>
              <a:off x="-112889" y="1226782"/>
              <a:ext cx="666045" cy="4101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243E1CA7-8E19-A04D-4F49-C12AD2DBECF9}"/>
              </a:ext>
            </a:extLst>
          </p:cNvPr>
          <p:cNvGrpSpPr/>
          <p:nvPr/>
        </p:nvGrpSpPr>
        <p:grpSpPr>
          <a:xfrm>
            <a:off x="4320740" y="-57151"/>
            <a:ext cx="4721661" cy="4121151"/>
            <a:chOff x="4422340" y="-57151"/>
            <a:chExt cx="4721661" cy="4121151"/>
          </a:xfrm>
        </p:grpSpPr>
        <p:pic>
          <p:nvPicPr>
            <p:cNvPr id="6" name="Picture 5">
              <a:extLst>
                <a:ext uri="{FF2B5EF4-FFF2-40B4-BE49-F238E27FC236}">
                  <a16:creationId xmlns:a16="http://schemas.microsoft.com/office/drawing/2014/main" id="{E958D477-5789-0703-9009-6A26EA73B940}"/>
                </a:ext>
              </a:extLst>
            </p:cNvPr>
            <p:cNvPicPr>
              <a:picLocks noChangeAspect="1"/>
            </p:cNvPicPr>
            <p:nvPr/>
          </p:nvPicPr>
          <p:blipFill>
            <a:blip r:embed="rId4"/>
            <a:stretch>
              <a:fillRect/>
            </a:stretch>
          </p:blipFill>
          <p:spPr>
            <a:xfrm>
              <a:off x="4422340" y="0"/>
              <a:ext cx="4721660" cy="4064000"/>
            </a:xfrm>
            <a:prstGeom prst="rect">
              <a:avLst/>
            </a:prstGeom>
          </p:spPr>
        </p:pic>
        <p:sp>
          <p:nvSpPr>
            <p:cNvPr id="7" name="Rectangle 6">
              <a:extLst>
                <a:ext uri="{FF2B5EF4-FFF2-40B4-BE49-F238E27FC236}">
                  <a16:creationId xmlns:a16="http://schemas.microsoft.com/office/drawing/2014/main" id="{B0CCBE65-D65F-3DB9-5854-B4D21E276797}"/>
                </a:ext>
              </a:extLst>
            </p:cNvPr>
            <p:cNvSpPr/>
            <p:nvPr/>
          </p:nvSpPr>
          <p:spPr>
            <a:xfrm>
              <a:off x="8082281" y="1326485"/>
              <a:ext cx="1061720" cy="168341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F21626F-62A6-1BDA-94E5-1D4EE318633E}"/>
                </a:ext>
              </a:extLst>
            </p:cNvPr>
            <p:cNvSpPr/>
            <p:nvPr/>
          </p:nvSpPr>
          <p:spPr>
            <a:xfrm>
              <a:off x="4476749" y="-57151"/>
              <a:ext cx="250389" cy="221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5704B05-A59D-7D4E-5FC1-9006DC8A10D5}"/>
              </a:ext>
            </a:extLst>
          </p:cNvPr>
          <p:cNvGrpSpPr/>
          <p:nvPr/>
        </p:nvGrpSpPr>
        <p:grpSpPr>
          <a:xfrm>
            <a:off x="376076" y="37326"/>
            <a:ext cx="3809612" cy="3897420"/>
            <a:chOff x="0" y="-175955"/>
            <a:chExt cx="6106987" cy="6247751"/>
          </a:xfrm>
        </p:grpSpPr>
        <p:pic>
          <p:nvPicPr>
            <p:cNvPr id="11" name="Picture 10">
              <a:extLst>
                <a:ext uri="{FF2B5EF4-FFF2-40B4-BE49-F238E27FC236}">
                  <a16:creationId xmlns:a16="http://schemas.microsoft.com/office/drawing/2014/main" id="{F103E40E-4B21-E16C-8B16-A24A16AA900B}"/>
                </a:ext>
              </a:extLst>
            </p:cNvPr>
            <p:cNvPicPr>
              <a:picLocks noChangeAspect="1"/>
            </p:cNvPicPr>
            <p:nvPr/>
          </p:nvPicPr>
          <p:blipFill>
            <a:blip r:embed="rId5"/>
            <a:stretch>
              <a:fillRect/>
            </a:stretch>
          </p:blipFill>
          <p:spPr>
            <a:xfrm>
              <a:off x="0" y="78914"/>
              <a:ext cx="3134162" cy="3000794"/>
            </a:xfrm>
            <a:prstGeom prst="rect">
              <a:avLst/>
            </a:prstGeom>
          </p:spPr>
        </p:pic>
        <p:pic>
          <p:nvPicPr>
            <p:cNvPr id="13" name="Picture 12">
              <a:extLst>
                <a:ext uri="{FF2B5EF4-FFF2-40B4-BE49-F238E27FC236}">
                  <a16:creationId xmlns:a16="http://schemas.microsoft.com/office/drawing/2014/main" id="{911C0A8C-65FD-0A16-9E0A-B585D42A9CEE}"/>
                </a:ext>
              </a:extLst>
            </p:cNvPr>
            <p:cNvPicPr>
              <a:picLocks noChangeAspect="1"/>
            </p:cNvPicPr>
            <p:nvPr/>
          </p:nvPicPr>
          <p:blipFill>
            <a:blip r:embed="rId6"/>
            <a:srcRect l="12963"/>
            <a:stretch>
              <a:fillRect/>
            </a:stretch>
          </p:blipFill>
          <p:spPr>
            <a:xfrm>
              <a:off x="2972825" y="-175955"/>
              <a:ext cx="3134162" cy="2457793"/>
            </a:xfrm>
            <a:prstGeom prst="rect">
              <a:avLst/>
            </a:prstGeom>
          </p:spPr>
        </p:pic>
        <p:pic>
          <p:nvPicPr>
            <p:cNvPr id="15" name="Picture 14">
              <a:extLst>
                <a:ext uri="{FF2B5EF4-FFF2-40B4-BE49-F238E27FC236}">
                  <a16:creationId xmlns:a16="http://schemas.microsoft.com/office/drawing/2014/main" id="{A678B26A-57E3-3A85-9F0D-1ED3D89F3EE1}"/>
                </a:ext>
              </a:extLst>
            </p:cNvPr>
            <p:cNvPicPr>
              <a:picLocks noChangeAspect="1"/>
            </p:cNvPicPr>
            <p:nvPr/>
          </p:nvPicPr>
          <p:blipFill>
            <a:blip r:embed="rId7"/>
            <a:stretch>
              <a:fillRect/>
            </a:stretch>
          </p:blipFill>
          <p:spPr>
            <a:xfrm>
              <a:off x="47631" y="3080529"/>
              <a:ext cx="3038899" cy="2991267"/>
            </a:xfrm>
            <a:prstGeom prst="rect">
              <a:avLst/>
            </a:prstGeom>
          </p:spPr>
        </p:pic>
        <p:pic>
          <p:nvPicPr>
            <p:cNvPr id="17" name="Picture 16">
              <a:extLst>
                <a:ext uri="{FF2B5EF4-FFF2-40B4-BE49-F238E27FC236}">
                  <a16:creationId xmlns:a16="http://schemas.microsoft.com/office/drawing/2014/main" id="{B33D1BBE-2E4E-5778-2C2A-F91AD044762C}"/>
                </a:ext>
              </a:extLst>
            </p:cNvPr>
            <p:cNvPicPr>
              <a:picLocks noChangeAspect="1"/>
            </p:cNvPicPr>
            <p:nvPr/>
          </p:nvPicPr>
          <p:blipFill>
            <a:blip r:embed="rId8"/>
            <a:stretch>
              <a:fillRect/>
            </a:stretch>
          </p:blipFill>
          <p:spPr>
            <a:xfrm>
              <a:off x="2994459" y="2338989"/>
              <a:ext cx="2934109" cy="2543530"/>
            </a:xfrm>
            <a:prstGeom prst="rect">
              <a:avLst/>
            </a:prstGeom>
          </p:spPr>
        </p:pic>
      </p:grpSp>
      <p:sp>
        <p:nvSpPr>
          <p:cNvPr id="2" name="Rectangle 1">
            <a:extLst>
              <a:ext uri="{FF2B5EF4-FFF2-40B4-BE49-F238E27FC236}">
                <a16:creationId xmlns:a16="http://schemas.microsoft.com/office/drawing/2014/main" id="{EA594698-DE4C-CE5E-5BD8-CCC64F7C5478}"/>
              </a:ext>
            </a:extLst>
          </p:cNvPr>
          <p:cNvSpPr/>
          <p:nvPr/>
        </p:nvSpPr>
        <p:spPr>
          <a:xfrm>
            <a:off x="4275047" y="-241300"/>
            <a:ext cx="56891" cy="43053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8CEA72F2-B609-E320-ABB5-B1F409921DE7}"/>
              </a:ext>
            </a:extLst>
          </p:cNvPr>
          <p:cNvPicPr>
            <a:picLocks noChangeAspect="1"/>
          </p:cNvPicPr>
          <p:nvPr/>
        </p:nvPicPr>
        <p:blipFill>
          <a:blip r:embed="rId9"/>
          <a:srcRect r="5882"/>
          <a:stretch>
            <a:fillRect/>
          </a:stretch>
        </p:blipFill>
        <p:spPr>
          <a:xfrm>
            <a:off x="7988319" y="1326485"/>
            <a:ext cx="1122183" cy="1589754"/>
          </a:xfrm>
          <a:prstGeom prst="rect">
            <a:avLst/>
          </a:prstGeom>
        </p:spPr>
      </p:pic>
    </p:spTree>
    <p:extLst>
      <p:ext uri="{BB962C8B-B14F-4D97-AF65-F5344CB8AC3E}">
        <p14:creationId xmlns:p14="http://schemas.microsoft.com/office/powerpoint/2010/main" val="1418076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C0354-E845-3791-BCB1-69F993B8FF33}"/>
              </a:ext>
            </a:extLst>
          </p:cNvPr>
          <p:cNvSpPr>
            <a:spLocks noGrp="1"/>
          </p:cNvSpPr>
          <p:nvPr>
            <p:ph type="title"/>
          </p:nvPr>
        </p:nvSpPr>
        <p:spPr>
          <a:xfrm>
            <a:off x="257175" y="539478"/>
            <a:ext cx="7715251" cy="869089"/>
          </a:xfrm>
        </p:spPr>
        <p:txBody>
          <a:bodyPr/>
          <a:lstStyle/>
          <a:p>
            <a:r>
              <a:rPr lang="en-US" dirty="0"/>
              <a:t>Processing Steps</a:t>
            </a:r>
          </a:p>
        </p:txBody>
      </p:sp>
      <p:sp>
        <p:nvSpPr>
          <p:cNvPr id="3" name="Content Placeholder 2">
            <a:extLst>
              <a:ext uri="{FF2B5EF4-FFF2-40B4-BE49-F238E27FC236}">
                <a16:creationId xmlns:a16="http://schemas.microsoft.com/office/drawing/2014/main" id="{918500DE-B48A-865C-7D80-579950FAB759}"/>
              </a:ext>
            </a:extLst>
          </p:cNvPr>
          <p:cNvSpPr>
            <a:spLocks noGrp="1"/>
          </p:cNvSpPr>
          <p:nvPr>
            <p:ph idx="10"/>
          </p:nvPr>
        </p:nvSpPr>
        <p:spPr>
          <a:xfrm>
            <a:off x="140247" y="2004257"/>
            <a:ext cx="4511674" cy="4256843"/>
          </a:xfrm>
        </p:spPr>
        <p:txBody>
          <a:bodyPr/>
          <a:lstStyle/>
          <a:p>
            <a:pPr marL="457200" indent="-457200">
              <a:buAutoNum type="arabicPeriod"/>
            </a:pPr>
            <a:r>
              <a:rPr lang="en-US" dirty="0"/>
              <a:t>Reduce test dimensionality with UMAP</a:t>
            </a:r>
          </a:p>
          <a:p>
            <a:pPr marL="457200" indent="-457200">
              <a:buAutoNum type="arabicPeriod"/>
            </a:pPr>
            <a:r>
              <a:rPr lang="en-US" dirty="0"/>
              <a:t>Clustering on UMAP embedding</a:t>
            </a:r>
          </a:p>
          <a:p>
            <a:pPr marL="457200" indent="-457200">
              <a:buAutoNum type="arabicPeriod"/>
            </a:pPr>
            <a:r>
              <a:rPr lang="en-US" dirty="0"/>
              <a:t>Calculate cluster centroids</a:t>
            </a:r>
          </a:p>
          <a:p>
            <a:pPr marL="457200" indent="-457200">
              <a:buAutoNum type="arabicPeriod"/>
            </a:pPr>
            <a:r>
              <a:rPr lang="en-US" dirty="0"/>
              <a:t>Calculate patient distance to centroids</a:t>
            </a:r>
          </a:p>
          <a:p>
            <a:pPr marL="457200" indent="-457200">
              <a:buAutoNum type="arabicPeriod"/>
            </a:pPr>
            <a:r>
              <a:rPr lang="en-US" dirty="0"/>
              <a:t>Perform lesion mapping with user’s choice of toolkit</a:t>
            </a:r>
          </a:p>
          <a:p>
            <a:pPr marL="457200" indent="-457200">
              <a:buAutoNum type="arabicPeriod"/>
            </a:pPr>
            <a:endParaRPr lang="en-US" dirty="0"/>
          </a:p>
        </p:txBody>
      </p:sp>
      <p:sp>
        <p:nvSpPr>
          <p:cNvPr id="4" name="Footer Placeholder 3">
            <a:extLst>
              <a:ext uri="{FF2B5EF4-FFF2-40B4-BE49-F238E27FC236}">
                <a16:creationId xmlns:a16="http://schemas.microsoft.com/office/drawing/2014/main" id="{A771FA3E-951E-DA51-DF8E-C542EC21D078}"/>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b="0" dirty="0"/>
          </a:p>
        </p:txBody>
      </p:sp>
      <p:graphicFrame>
        <p:nvGraphicFramePr>
          <p:cNvPr id="5" name="Table 4">
            <a:extLst>
              <a:ext uri="{FF2B5EF4-FFF2-40B4-BE49-F238E27FC236}">
                <a16:creationId xmlns:a16="http://schemas.microsoft.com/office/drawing/2014/main" id="{253E26C6-A0B3-05DA-DE85-A5CFD8DAEF02}"/>
              </a:ext>
            </a:extLst>
          </p:cNvPr>
          <p:cNvGraphicFramePr>
            <a:graphicFrameLocks noGrp="1"/>
          </p:cNvGraphicFramePr>
          <p:nvPr>
            <p:extLst>
              <p:ext uri="{D42A27DB-BD31-4B8C-83A1-F6EECF244321}">
                <p14:modId xmlns:p14="http://schemas.microsoft.com/office/powerpoint/2010/main" val="44559245"/>
              </p:ext>
            </p:extLst>
          </p:nvPr>
        </p:nvGraphicFramePr>
        <p:xfrm>
          <a:off x="3642994" y="-3149"/>
          <a:ext cx="3149600" cy="1889760"/>
        </p:xfrm>
        <a:graphic>
          <a:graphicData uri="http://schemas.openxmlformats.org/drawingml/2006/table">
            <a:tbl>
              <a:tblPr firstRow="1" bandRow="1">
                <a:tableStyleId>{5C22544A-7EE6-4342-B048-85BDC9FD1C3A}</a:tableStyleId>
              </a:tblPr>
              <a:tblGrid>
                <a:gridCol w="1015999">
                  <a:extLst>
                    <a:ext uri="{9D8B030D-6E8A-4147-A177-3AD203B41FA5}">
                      <a16:colId xmlns:a16="http://schemas.microsoft.com/office/drawing/2014/main" val="1808688989"/>
                    </a:ext>
                  </a:extLst>
                </a:gridCol>
                <a:gridCol w="1181100">
                  <a:extLst>
                    <a:ext uri="{9D8B030D-6E8A-4147-A177-3AD203B41FA5}">
                      <a16:colId xmlns:a16="http://schemas.microsoft.com/office/drawing/2014/main" val="2024515840"/>
                    </a:ext>
                  </a:extLst>
                </a:gridCol>
                <a:gridCol w="482600">
                  <a:extLst>
                    <a:ext uri="{9D8B030D-6E8A-4147-A177-3AD203B41FA5}">
                      <a16:colId xmlns:a16="http://schemas.microsoft.com/office/drawing/2014/main" val="2694952557"/>
                    </a:ext>
                  </a:extLst>
                </a:gridCol>
                <a:gridCol w="469901">
                  <a:extLst>
                    <a:ext uri="{9D8B030D-6E8A-4147-A177-3AD203B41FA5}">
                      <a16:colId xmlns:a16="http://schemas.microsoft.com/office/drawing/2014/main" val="3091031687"/>
                    </a:ext>
                  </a:extLst>
                </a:gridCol>
              </a:tblGrid>
              <a:tr h="199924">
                <a:tc>
                  <a:txBody>
                    <a:bodyPr/>
                    <a:lstStyle/>
                    <a:p>
                      <a:pPr algn="ctr"/>
                      <a:r>
                        <a:rPr lang="en-US" sz="2000" dirty="0">
                          <a:solidFill>
                            <a:schemeClr val="tx1"/>
                          </a:solidFill>
                        </a:rPr>
                        <a:t>Patient ID</a:t>
                      </a:r>
                    </a:p>
                  </a:txBody>
                  <a:tcPr/>
                </a:tc>
                <a:tc>
                  <a:txBody>
                    <a:bodyPr/>
                    <a:lstStyle/>
                    <a:p>
                      <a:pPr algn="ctr"/>
                      <a:r>
                        <a:rPr lang="en-US" sz="2000" dirty="0">
                          <a:solidFill>
                            <a:schemeClr val="tx1"/>
                          </a:solidFill>
                        </a:rPr>
                        <a:t>BNT (T</a:t>
                      </a:r>
                      <a:r>
                        <a:rPr lang="en-US" sz="2000" baseline="-25000" dirty="0">
                          <a:solidFill>
                            <a:schemeClr val="tx1"/>
                          </a:solidFill>
                        </a:rPr>
                        <a:t>1</a:t>
                      </a:r>
                      <a:r>
                        <a:rPr lang="en-US" sz="2000" dirty="0">
                          <a:solidFill>
                            <a:schemeClr val="tx1"/>
                          </a:solidFill>
                        </a:rPr>
                        <a:t>)</a:t>
                      </a:r>
                    </a:p>
                  </a:txBody>
                  <a:tcPr/>
                </a:tc>
                <a:tc>
                  <a:txBody>
                    <a:bodyPr/>
                    <a:lstStyle/>
                    <a:p>
                      <a:pPr algn="ctr"/>
                      <a:r>
                        <a:rPr lang="en-US" sz="2000" dirty="0">
                          <a:solidFill>
                            <a:schemeClr val="tx1"/>
                          </a:solidFill>
                        </a:rPr>
                        <a:t>…</a:t>
                      </a:r>
                    </a:p>
                  </a:txBody>
                  <a:tcPr/>
                </a:tc>
                <a:tc>
                  <a:txBody>
                    <a:bodyPr/>
                    <a:lstStyle/>
                    <a:p>
                      <a:pPr algn="ctr"/>
                      <a:r>
                        <a:rPr lang="en-US" sz="2000" dirty="0">
                          <a:solidFill>
                            <a:schemeClr val="tx1"/>
                          </a:solidFill>
                        </a:rPr>
                        <a:t>T</a:t>
                      </a:r>
                      <a:r>
                        <a:rPr lang="en-US" sz="2000" baseline="-25000" dirty="0">
                          <a:solidFill>
                            <a:schemeClr val="tx1"/>
                          </a:solidFill>
                        </a:rPr>
                        <a:t>N</a:t>
                      </a:r>
                      <a:endParaRPr lang="en-US" sz="2000" dirty="0">
                        <a:solidFill>
                          <a:schemeClr val="tx1"/>
                        </a:solidFill>
                      </a:endParaRPr>
                    </a:p>
                  </a:txBody>
                  <a:tcPr/>
                </a:tc>
                <a:extLst>
                  <a:ext uri="{0D108BD9-81ED-4DB2-BD59-A6C34878D82A}">
                    <a16:rowId xmlns:a16="http://schemas.microsoft.com/office/drawing/2014/main" val="1939874380"/>
                  </a:ext>
                </a:extLst>
              </a:tr>
              <a:tr h="217290">
                <a:tc>
                  <a:txBody>
                    <a:bodyPr/>
                    <a:lstStyle/>
                    <a:p>
                      <a:pPr algn="r"/>
                      <a:r>
                        <a:rPr lang="en-US" sz="2000" dirty="0">
                          <a:solidFill>
                            <a:schemeClr val="tx1"/>
                          </a:solidFill>
                        </a:rPr>
                        <a:t>001</a:t>
                      </a: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432181462"/>
                  </a:ext>
                </a:extLst>
              </a:tr>
              <a:tr h="217290">
                <a:tc>
                  <a:txBody>
                    <a:bodyPr/>
                    <a:lstStyle/>
                    <a:p>
                      <a:pPr algn="r"/>
                      <a:r>
                        <a:rPr lang="en-US" sz="2000" dirty="0">
                          <a:solidFill>
                            <a:schemeClr val="tx1"/>
                          </a:solidFill>
                        </a:rPr>
                        <a:t>…</a:t>
                      </a: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512498731"/>
                  </a:ext>
                </a:extLst>
              </a:tr>
              <a:tr h="217290">
                <a:tc>
                  <a:txBody>
                    <a:bodyPr/>
                    <a:lstStyle/>
                    <a:p>
                      <a:pPr algn="r"/>
                      <a:r>
                        <a:rPr lang="en-US" sz="2000" dirty="0">
                          <a:solidFill>
                            <a:schemeClr val="tx1"/>
                          </a:solidFill>
                        </a:rPr>
                        <a:t>P</a:t>
                      </a:r>
                      <a:r>
                        <a:rPr lang="en-US" sz="2000" baseline="-25000" dirty="0">
                          <a:solidFill>
                            <a:schemeClr val="tx1"/>
                          </a:solidFill>
                        </a:rPr>
                        <a:t>N</a:t>
                      </a: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690531563"/>
                  </a:ext>
                </a:extLst>
              </a:tr>
            </a:tbl>
          </a:graphicData>
        </a:graphic>
      </p:graphicFrame>
      <p:pic>
        <p:nvPicPr>
          <p:cNvPr id="6" name="Picture 5">
            <a:extLst>
              <a:ext uri="{FF2B5EF4-FFF2-40B4-BE49-F238E27FC236}">
                <a16:creationId xmlns:a16="http://schemas.microsoft.com/office/drawing/2014/main" id="{1DFA68C8-EB5A-13FA-9FEE-5F59D27EFDED}"/>
              </a:ext>
            </a:extLst>
          </p:cNvPr>
          <p:cNvPicPr>
            <a:picLocks noChangeAspect="1"/>
          </p:cNvPicPr>
          <p:nvPr/>
        </p:nvPicPr>
        <p:blipFill>
          <a:blip r:embed="rId2"/>
          <a:srcRect t="4330"/>
          <a:stretch>
            <a:fillRect/>
          </a:stretch>
        </p:blipFill>
        <p:spPr>
          <a:xfrm>
            <a:off x="4420522" y="1951194"/>
            <a:ext cx="2246978" cy="1860146"/>
          </a:xfrm>
          <a:prstGeom prst="rect">
            <a:avLst/>
          </a:prstGeom>
        </p:spPr>
      </p:pic>
      <p:pic>
        <p:nvPicPr>
          <p:cNvPr id="7" name="Picture 6">
            <a:extLst>
              <a:ext uri="{FF2B5EF4-FFF2-40B4-BE49-F238E27FC236}">
                <a16:creationId xmlns:a16="http://schemas.microsoft.com/office/drawing/2014/main" id="{DA0F94F9-B960-4E2F-BB65-D15D7F5C0F61}"/>
              </a:ext>
            </a:extLst>
          </p:cNvPr>
          <p:cNvPicPr>
            <a:picLocks noChangeAspect="1"/>
          </p:cNvPicPr>
          <p:nvPr/>
        </p:nvPicPr>
        <p:blipFill>
          <a:blip r:embed="rId3"/>
          <a:srcRect t="5943"/>
          <a:stretch>
            <a:fillRect/>
          </a:stretch>
        </p:blipFill>
        <p:spPr>
          <a:xfrm>
            <a:off x="6809632" y="24358"/>
            <a:ext cx="2410568" cy="1860146"/>
          </a:xfrm>
          <a:prstGeom prst="rect">
            <a:avLst/>
          </a:prstGeom>
        </p:spPr>
      </p:pic>
      <p:pic>
        <p:nvPicPr>
          <p:cNvPr id="8" name="Picture 7">
            <a:extLst>
              <a:ext uri="{FF2B5EF4-FFF2-40B4-BE49-F238E27FC236}">
                <a16:creationId xmlns:a16="http://schemas.microsoft.com/office/drawing/2014/main" id="{C3B96AA6-B914-4781-624F-AAE9DA048F56}"/>
              </a:ext>
            </a:extLst>
          </p:cNvPr>
          <p:cNvPicPr>
            <a:picLocks noChangeAspect="1"/>
          </p:cNvPicPr>
          <p:nvPr/>
        </p:nvPicPr>
        <p:blipFill>
          <a:blip r:embed="rId4"/>
          <a:stretch>
            <a:fillRect/>
          </a:stretch>
        </p:blipFill>
        <p:spPr>
          <a:xfrm>
            <a:off x="6789144" y="1951194"/>
            <a:ext cx="2214609" cy="1825981"/>
          </a:xfrm>
          <a:prstGeom prst="rect">
            <a:avLst/>
          </a:prstGeom>
        </p:spPr>
      </p:pic>
      <p:pic>
        <p:nvPicPr>
          <p:cNvPr id="12" name="Picture 11">
            <a:extLst>
              <a:ext uri="{FF2B5EF4-FFF2-40B4-BE49-F238E27FC236}">
                <a16:creationId xmlns:a16="http://schemas.microsoft.com/office/drawing/2014/main" id="{3334F77C-9BCF-E3E1-1D87-959703F211B2}"/>
              </a:ext>
            </a:extLst>
          </p:cNvPr>
          <p:cNvPicPr>
            <a:picLocks noChangeAspect="1"/>
          </p:cNvPicPr>
          <p:nvPr/>
        </p:nvPicPr>
        <p:blipFill>
          <a:blip r:embed="rId5"/>
          <a:stretch>
            <a:fillRect/>
          </a:stretch>
        </p:blipFill>
        <p:spPr>
          <a:xfrm>
            <a:off x="4572000" y="3957268"/>
            <a:ext cx="2368622" cy="1772325"/>
          </a:xfrm>
          <a:prstGeom prst="rect">
            <a:avLst/>
          </a:prstGeom>
        </p:spPr>
      </p:pic>
      <p:graphicFrame>
        <p:nvGraphicFramePr>
          <p:cNvPr id="13" name="Table 12">
            <a:extLst>
              <a:ext uri="{FF2B5EF4-FFF2-40B4-BE49-F238E27FC236}">
                <a16:creationId xmlns:a16="http://schemas.microsoft.com/office/drawing/2014/main" id="{079C86DC-3E14-DE38-8EE2-9045D564A295}"/>
              </a:ext>
            </a:extLst>
          </p:cNvPr>
          <p:cNvGraphicFramePr>
            <a:graphicFrameLocks noGrp="1"/>
          </p:cNvGraphicFramePr>
          <p:nvPr>
            <p:extLst>
              <p:ext uri="{D42A27DB-BD31-4B8C-83A1-F6EECF244321}">
                <p14:modId xmlns:p14="http://schemas.microsoft.com/office/powerpoint/2010/main" val="812632887"/>
              </p:ext>
            </p:extLst>
          </p:nvPr>
        </p:nvGraphicFramePr>
        <p:xfrm>
          <a:off x="6940622" y="4019926"/>
          <a:ext cx="2197099" cy="1889760"/>
        </p:xfrm>
        <a:graphic>
          <a:graphicData uri="http://schemas.openxmlformats.org/drawingml/2006/table">
            <a:tbl>
              <a:tblPr firstRow="1" bandRow="1">
                <a:tableStyleId>{5C22544A-7EE6-4342-B048-85BDC9FD1C3A}</a:tableStyleId>
              </a:tblPr>
              <a:tblGrid>
                <a:gridCol w="1015999">
                  <a:extLst>
                    <a:ext uri="{9D8B030D-6E8A-4147-A177-3AD203B41FA5}">
                      <a16:colId xmlns:a16="http://schemas.microsoft.com/office/drawing/2014/main" val="1808688989"/>
                    </a:ext>
                  </a:extLst>
                </a:gridCol>
                <a:gridCol w="1181100">
                  <a:extLst>
                    <a:ext uri="{9D8B030D-6E8A-4147-A177-3AD203B41FA5}">
                      <a16:colId xmlns:a16="http://schemas.microsoft.com/office/drawing/2014/main" val="2024515840"/>
                    </a:ext>
                  </a:extLst>
                </a:gridCol>
              </a:tblGrid>
              <a:tr h="199924">
                <a:tc>
                  <a:txBody>
                    <a:bodyPr/>
                    <a:lstStyle/>
                    <a:p>
                      <a:pPr algn="ctr"/>
                      <a:r>
                        <a:rPr lang="en-US" sz="2000" dirty="0">
                          <a:solidFill>
                            <a:schemeClr val="tx1"/>
                          </a:solidFill>
                        </a:rPr>
                        <a:t>Patient ID</a:t>
                      </a:r>
                    </a:p>
                  </a:txBody>
                  <a:tcPr/>
                </a:tc>
                <a:tc>
                  <a:txBody>
                    <a:bodyPr/>
                    <a:lstStyle/>
                    <a:p>
                      <a:pPr algn="ctr"/>
                      <a:r>
                        <a:rPr lang="en-US" sz="2000" dirty="0">
                          <a:solidFill>
                            <a:schemeClr val="tx1"/>
                          </a:solidFill>
                        </a:rPr>
                        <a:t>Dist. To </a:t>
                      </a:r>
                      <a:r>
                        <a:rPr lang="en-US" sz="2000" dirty="0" err="1">
                          <a:solidFill>
                            <a:schemeClr val="tx1"/>
                          </a:solidFill>
                        </a:rPr>
                        <a:t>Clu</a:t>
                      </a:r>
                      <a:r>
                        <a:rPr lang="en-US" sz="2000" dirty="0">
                          <a:solidFill>
                            <a:schemeClr val="tx1"/>
                          </a:solidFill>
                        </a:rPr>
                        <a:t>. </a:t>
                      </a:r>
                      <a:r>
                        <a:rPr lang="en-US" sz="2000" i="1" dirty="0">
                          <a:solidFill>
                            <a:schemeClr val="tx1"/>
                          </a:solidFill>
                        </a:rPr>
                        <a:t>k</a:t>
                      </a:r>
                    </a:p>
                  </a:txBody>
                  <a:tcPr/>
                </a:tc>
                <a:extLst>
                  <a:ext uri="{0D108BD9-81ED-4DB2-BD59-A6C34878D82A}">
                    <a16:rowId xmlns:a16="http://schemas.microsoft.com/office/drawing/2014/main" val="1939874380"/>
                  </a:ext>
                </a:extLst>
              </a:tr>
              <a:tr h="217290">
                <a:tc>
                  <a:txBody>
                    <a:bodyPr/>
                    <a:lstStyle/>
                    <a:p>
                      <a:pPr algn="r"/>
                      <a:r>
                        <a:rPr lang="en-US" sz="2000" dirty="0">
                          <a:solidFill>
                            <a:schemeClr val="tx1"/>
                          </a:solidFill>
                        </a:rPr>
                        <a:t>001</a:t>
                      </a:r>
                    </a:p>
                  </a:txBody>
                  <a:tcPr/>
                </a:tc>
                <a:tc>
                  <a:txBody>
                    <a:bodyPr/>
                    <a:lstStyle/>
                    <a:p>
                      <a:endParaRPr lang="en-US" dirty="0">
                        <a:solidFill>
                          <a:schemeClr val="tx1"/>
                        </a:solidFill>
                      </a:endParaRPr>
                    </a:p>
                  </a:txBody>
                  <a:tcPr/>
                </a:tc>
                <a:extLst>
                  <a:ext uri="{0D108BD9-81ED-4DB2-BD59-A6C34878D82A}">
                    <a16:rowId xmlns:a16="http://schemas.microsoft.com/office/drawing/2014/main" val="3432181462"/>
                  </a:ext>
                </a:extLst>
              </a:tr>
              <a:tr h="217290">
                <a:tc>
                  <a:txBody>
                    <a:bodyPr/>
                    <a:lstStyle/>
                    <a:p>
                      <a:pPr algn="r"/>
                      <a:r>
                        <a:rPr lang="en-US" sz="2000" dirty="0">
                          <a:solidFill>
                            <a:schemeClr val="tx1"/>
                          </a:solidFill>
                        </a:rPr>
                        <a:t>…</a:t>
                      </a:r>
                    </a:p>
                  </a:txBody>
                  <a:tcPr/>
                </a:tc>
                <a:tc>
                  <a:txBody>
                    <a:bodyPr/>
                    <a:lstStyle/>
                    <a:p>
                      <a:endParaRPr lang="en-US" dirty="0">
                        <a:solidFill>
                          <a:schemeClr val="tx1"/>
                        </a:solidFill>
                      </a:endParaRPr>
                    </a:p>
                  </a:txBody>
                  <a:tcPr/>
                </a:tc>
                <a:extLst>
                  <a:ext uri="{0D108BD9-81ED-4DB2-BD59-A6C34878D82A}">
                    <a16:rowId xmlns:a16="http://schemas.microsoft.com/office/drawing/2014/main" val="512498731"/>
                  </a:ext>
                </a:extLst>
              </a:tr>
              <a:tr h="217290">
                <a:tc>
                  <a:txBody>
                    <a:bodyPr/>
                    <a:lstStyle/>
                    <a:p>
                      <a:pPr algn="r"/>
                      <a:r>
                        <a:rPr lang="en-US" sz="2000" dirty="0">
                          <a:solidFill>
                            <a:schemeClr val="tx1"/>
                          </a:solidFill>
                        </a:rPr>
                        <a:t>P</a:t>
                      </a:r>
                      <a:r>
                        <a:rPr lang="en-US" sz="2000" baseline="-25000" dirty="0">
                          <a:solidFill>
                            <a:schemeClr val="tx1"/>
                          </a:solidFill>
                        </a:rPr>
                        <a:t>N</a:t>
                      </a:r>
                    </a:p>
                  </a:txBody>
                  <a:tcPr/>
                </a:tc>
                <a:tc>
                  <a:txBody>
                    <a:bodyPr/>
                    <a:lstStyle/>
                    <a:p>
                      <a:endParaRPr lang="en-US" dirty="0">
                        <a:solidFill>
                          <a:schemeClr val="tx1"/>
                        </a:solidFill>
                      </a:endParaRPr>
                    </a:p>
                  </a:txBody>
                  <a:tcPr/>
                </a:tc>
                <a:extLst>
                  <a:ext uri="{0D108BD9-81ED-4DB2-BD59-A6C34878D82A}">
                    <a16:rowId xmlns:a16="http://schemas.microsoft.com/office/drawing/2014/main" val="3690531563"/>
                  </a:ext>
                </a:extLst>
              </a:tr>
            </a:tbl>
          </a:graphicData>
        </a:graphic>
      </p:graphicFrame>
    </p:spTree>
    <p:extLst>
      <p:ext uri="{BB962C8B-B14F-4D97-AF65-F5344CB8AC3E}">
        <p14:creationId xmlns:p14="http://schemas.microsoft.com/office/powerpoint/2010/main" val="152566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3E05-7B67-4AF4-1C33-B71E266AD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2AACBD-038B-D7DD-7E82-A5166B7A4AC6}"/>
              </a:ext>
            </a:extLst>
          </p:cNvPr>
          <p:cNvSpPr>
            <a:spLocks noGrp="1"/>
          </p:cNvSpPr>
          <p:nvPr>
            <p:ph type="ctrTitle"/>
          </p:nvPr>
        </p:nvSpPr>
        <p:spPr>
          <a:xfrm>
            <a:off x="714376" y="2744662"/>
            <a:ext cx="7715249" cy="759907"/>
          </a:xfrm>
        </p:spPr>
        <p:txBody>
          <a:bodyPr>
            <a:normAutofit/>
          </a:bodyPr>
          <a:lstStyle/>
          <a:p>
            <a:r>
              <a:rPr lang="en-US" dirty="0"/>
              <a:t>What we have done:</a:t>
            </a:r>
          </a:p>
        </p:txBody>
      </p:sp>
      <p:sp>
        <p:nvSpPr>
          <p:cNvPr id="3" name="Subtitle 2">
            <a:extLst>
              <a:ext uri="{FF2B5EF4-FFF2-40B4-BE49-F238E27FC236}">
                <a16:creationId xmlns:a16="http://schemas.microsoft.com/office/drawing/2014/main" id="{0153EE45-BDF7-03CB-E4BC-8BAD83EB2A2E}"/>
              </a:ext>
            </a:extLst>
          </p:cNvPr>
          <p:cNvSpPr>
            <a:spLocks noGrp="1"/>
          </p:cNvSpPr>
          <p:nvPr>
            <p:ph type="subTitle" idx="1"/>
          </p:nvPr>
        </p:nvSpPr>
        <p:spPr>
          <a:xfrm>
            <a:off x="714376" y="3694740"/>
            <a:ext cx="7715249" cy="1979550"/>
          </a:xfrm>
        </p:spPr>
        <p:txBody>
          <a:bodyPr>
            <a:normAutofit/>
          </a:bodyPr>
          <a:lstStyle/>
          <a:p>
            <a:r>
              <a:rPr lang="en-US" dirty="0"/>
              <a:t>Outlined pipeline that could identify associations between a behavioral profile and lesion location</a:t>
            </a:r>
          </a:p>
        </p:txBody>
      </p:sp>
    </p:spTree>
    <p:extLst>
      <p:ext uri="{BB962C8B-B14F-4D97-AF65-F5344CB8AC3E}">
        <p14:creationId xmlns:p14="http://schemas.microsoft.com/office/powerpoint/2010/main" val="3341561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273D4-1326-58E5-E21C-3A4CDE236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DEE5EA-E252-2B00-7889-5555B7E94579}"/>
              </a:ext>
            </a:extLst>
          </p:cNvPr>
          <p:cNvSpPr>
            <a:spLocks noGrp="1"/>
          </p:cNvSpPr>
          <p:nvPr>
            <p:ph type="ctrTitle"/>
          </p:nvPr>
        </p:nvSpPr>
        <p:spPr>
          <a:xfrm>
            <a:off x="714376" y="2744660"/>
            <a:ext cx="7715249" cy="1128839"/>
          </a:xfrm>
        </p:spPr>
        <p:txBody>
          <a:bodyPr>
            <a:normAutofit fontScale="90000"/>
          </a:bodyPr>
          <a:lstStyle/>
          <a:p>
            <a:r>
              <a:rPr lang="en-US" dirty="0"/>
              <a:t>Using Behavioral Profiles for Prediction</a:t>
            </a:r>
          </a:p>
        </p:txBody>
      </p:sp>
      <p:sp>
        <p:nvSpPr>
          <p:cNvPr id="3" name="Subtitle 2">
            <a:extLst>
              <a:ext uri="{FF2B5EF4-FFF2-40B4-BE49-F238E27FC236}">
                <a16:creationId xmlns:a16="http://schemas.microsoft.com/office/drawing/2014/main" id="{448EFE78-348F-FAEC-5DD5-EFBD5EA6AB03}"/>
              </a:ext>
            </a:extLst>
          </p:cNvPr>
          <p:cNvSpPr>
            <a:spLocks noGrp="1"/>
          </p:cNvSpPr>
          <p:nvPr>
            <p:ph type="subTitle" idx="1"/>
          </p:nvPr>
        </p:nvSpPr>
        <p:spPr>
          <a:xfrm>
            <a:off x="714376" y="4025900"/>
            <a:ext cx="7715249" cy="1648390"/>
          </a:xfrm>
        </p:spPr>
        <p:txBody>
          <a:bodyPr>
            <a:normAutofit/>
          </a:bodyPr>
          <a:lstStyle/>
          <a:p>
            <a:r>
              <a:rPr lang="en-US" dirty="0"/>
              <a:t>Future directions</a:t>
            </a:r>
          </a:p>
        </p:txBody>
      </p:sp>
    </p:spTree>
    <p:extLst>
      <p:ext uri="{BB962C8B-B14F-4D97-AF65-F5344CB8AC3E}">
        <p14:creationId xmlns:p14="http://schemas.microsoft.com/office/powerpoint/2010/main" val="30744574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7D3A7-8648-8F5E-895D-D2E9FE90845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A7B1739-417A-B2AE-D819-1D5F94387A3D}"/>
              </a:ext>
            </a:extLst>
          </p:cNvPr>
          <p:cNvSpPr>
            <a:spLocks noGrp="1"/>
          </p:cNvSpPr>
          <p:nvPr>
            <p:ph type="ctrTitle"/>
          </p:nvPr>
        </p:nvSpPr>
        <p:spPr>
          <a:xfrm>
            <a:off x="711994" y="3593427"/>
            <a:ext cx="5372488" cy="1160369"/>
          </a:xfrm>
        </p:spPr>
        <p:txBody>
          <a:bodyPr>
            <a:normAutofit/>
          </a:bodyPr>
          <a:lstStyle/>
          <a:p>
            <a:r>
              <a:rPr lang="en-US" dirty="0"/>
              <a:t>Thank you!</a:t>
            </a:r>
          </a:p>
        </p:txBody>
      </p:sp>
      <p:sp>
        <p:nvSpPr>
          <p:cNvPr id="3" name="TextBox 2">
            <a:extLst>
              <a:ext uri="{FF2B5EF4-FFF2-40B4-BE49-F238E27FC236}">
                <a16:creationId xmlns:a16="http://schemas.microsoft.com/office/drawing/2014/main" id="{47512CD8-144A-E45B-F94E-0C533E6CF40D}"/>
              </a:ext>
            </a:extLst>
          </p:cNvPr>
          <p:cNvSpPr txBox="1"/>
          <p:nvPr/>
        </p:nvSpPr>
        <p:spPr>
          <a:xfrm>
            <a:off x="5071858" y="4383908"/>
            <a:ext cx="3651295" cy="1938992"/>
          </a:xfrm>
          <a:prstGeom prst="rect">
            <a:avLst/>
          </a:prstGeom>
          <a:noFill/>
        </p:spPr>
        <p:txBody>
          <a:bodyPr wrap="square">
            <a:spAutoFit/>
          </a:bodyPr>
          <a:lstStyle/>
          <a:p>
            <a:pPr algn="ctr" rtl="0" fontAlgn="base"/>
            <a:r>
              <a:rPr lang="en-US" sz="2400" b="1" dirty="0">
                <a:solidFill>
                  <a:schemeClr val="bg1"/>
                </a:solidFill>
                <a:latin typeface="Roboto" panose="02000000000000000000" pitchFamily="2" charset="0"/>
              </a:rPr>
              <a:t>FUNDED BY:</a:t>
            </a:r>
          </a:p>
          <a:p>
            <a:pPr algn="ctr" rtl="0" fontAlgn="base"/>
            <a:endParaRPr lang="en-US" sz="2400" dirty="0">
              <a:solidFill>
                <a:schemeClr val="bg1"/>
              </a:solidFill>
              <a:latin typeface="Roboto" panose="02000000000000000000" pitchFamily="2" charset="0"/>
            </a:endParaRPr>
          </a:p>
          <a:p>
            <a:pPr algn="ctr" rtl="0" fontAlgn="base"/>
            <a:r>
              <a:rPr lang="en-US" sz="2400" dirty="0">
                <a:solidFill>
                  <a:schemeClr val="bg1"/>
                </a:solidFill>
                <a:latin typeface="Roboto" panose="02000000000000000000" pitchFamily="2" charset="0"/>
              </a:rPr>
              <a:t>Iowa Neuroscience Specialty Program in Research Education</a:t>
            </a:r>
            <a:endParaRPr lang="en-US" sz="2400" dirty="0">
              <a:solidFill>
                <a:schemeClr val="bg1"/>
              </a:solidFill>
              <a:latin typeface="Arial" panose="020B0604020202020204" pitchFamily="34" charset="0"/>
            </a:endParaRPr>
          </a:p>
        </p:txBody>
      </p:sp>
      <p:grpSp>
        <p:nvGrpSpPr>
          <p:cNvPr id="11" name="Group 10">
            <a:extLst>
              <a:ext uri="{FF2B5EF4-FFF2-40B4-BE49-F238E27FC236}">
                <a16:creationId xmlns:a16="http://schemas.microsoft.com/office/drawing/2014/main" id="{25F0408A-8310-2396-66C0-798339E4B4D6}"/>
              </a:ext>
            </a:extLst>
          </p:cNvPr>
          <p:cNvGrpSpPr/>
          <p:nvPr/>
        </p:nvGrpSpPr>
        <p:grpSpPr>
          <a:xfrm>
            <a:off x="631536" y="284370"/>
            <a:ext cx="5452946" cy="2726474"/>
            <a:chOff x="7044430" y="150077"/>
            <a:chExt cx="5452946" cy="2726474"/>
          </a:xfrm>
        </p:grpSpPr>
        <p:pic>
          <p:nvPicPr>
            <p:cNvPr id="6" name="Picture 5" descr="Dorit Kliemann | Psychological and Brain Sciences - The University of Iowa">
              <a:extLst>
                <a:ext uri="{FF2B5EF4-FFF2-40B4-BE49-F238E27FC236}">
                  <a16:creationId xmlns:a16="http://schemas.microsoft.com/office/drawing/2014/main" id="{34175850-3BAD-9D94-0750-C829630BD84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770903" y="150078"/>
              <a:ext cx="2726473" cy="272647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James Traer | Psychological and Brain Sciences - The University of Iowa">
              <a:extLst>
                <a:ext uri="{FF2B5EF4-FFF2-40B4-BE49-F238E27FC236}">
                  <a16:creationId xmlns:a16="http://schemas.microsoft.com/office/drawing/2014/main" id="{0304D1BE-4359-0471-922E-976C19D7417F}"/>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044430" y="150077"/>
              <a:ext cx="2726473" cy="2726473"/>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Text Placeholder 12">
            <a:extLst>
              <a:ext uri="{FF2B5EF4-FFF2-40B4-BE49-F238E27FC236}">
                <a16:creationId xmlns:a16="http://schemas.microsoft.com/office/drawing/2014/main" id="{9BF5CD5E-14E9-A571-CBA5-6AF04F72A602}"/>
              </a:ext>
            </a:extLst>
          </p:cNvPr>
          <p:cNvSpPr>
            <a:spLocks noGrp="1"/>
          </p:cNvSpPr>
          <p:nvPr>
            <p:ph type="body" sz="quarter" idx="10"/>
          </p:nvPr>
        </p:nvSpPr>
        <p:spPr/>
        <p:txBody>
          <a:bodyPr/>
          <a:lstStyle/>
          <a:p>
            <a:endParaRPr lang="en-US"/>
          </a:p>
        </p:txBody>
      </p:sp>
      <p:sp>
        <p:nvSpPr>
          <p:cNvPr id="14" name="Rectangle 13">
            <a:extLst>
              <a:ext uri="{FF2B5EF4-FFF2-40B4-BE49-F238E27FC236}">
                <a16:creationId xmlns:a16="http://schemas.microsoft.com/office/drawing/2014/main" id="{48525DF7-4558-DB43-B16D-9C3A66E24D4D}"/>
              </a:ext>
            </a:extLst>
          </p:cNvPr>
          <p:cNvSpPr/>
          <p:nvPr/>
        </p:nvSpPr>
        <p:spPr>
          <a:xfrm>
            <a:off x="711994" y="4644670"/>
            <a:ext cx="2726473" cy="112154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28941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D2CE9-0E00-0BD2-301F-1FC66C65D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5BDB3-6EC6-48A7-7723-5D91DCC882E3}"/>
              </a:ext>
            </a:extLst>
          </p:cNvPr>
          <p:cNvSpPr>
            <a:spLocks noGrp="1"/>
          </p:cNvSpPr>
          <p:nvPr>
            <p:ph type="title"/>
          </p:nvPr>
        </p:nvSpPr>
        <p:spPr>
          <a:xfrm>
            <a:off x="257175" y="539478"/>
            <a:ext cx="7715251" cy="869089"/>
          </a:xfrm>
        </p:spPr>
        <p:txBody>
          <a:bodyPr/>
          <a:lstStyle/>
          <a:p>
            <a:r>
              <a:rPr lang="en-US" dirty="0"/>
              <a:t>Processing Steps</a:t>
            </a:r>
          </a:p>
        </p:txBody>
      </p:sp>
      <p:sp>
        <p:nvSpPr>
          <p:cNvPr id="3" name="Content Placeholder 2">
            <a:extLst>
              <a:ext uri="{FF2B5EF4-FFF2-40B4-BE49-F238E27FC236}">
                <a16:creationId xmlns:a16="http://schemas.microsoft.com/office/drawing/2014/main" id="{81DC5366-0194-B7D8-4722-F2339BFBD400}"/>
              </a:ext>
            </a:extLst>
          </p:cNvPr>
          <p:cNvSpPr>
            <a:spLocks noGrp="1"/>
          </p:cNvSpPr>
          <p:nvPr>
            <p:ph idx="10"/>
          </p:nvPr>
        </p:nvSpPr>
        <p:spPr>
          <a:xfrm>
            <a:off x="140247" y="2004257"/>
            <a:ext cx="4511674" cy="4256843"/>
          </a:xfrm>
        </p:spPr>
        <p:txBody>
          <a:bodyPr/>
          <a:lstStyle/>
          <a:p>
            <a:pPr marL="457200" indent="-457200">
              <a:buAutoNum type="arabicPeriod"/>
            </a:pPr>
            <a:r>
              <a:rPr lang="en-US" dirty="0"/>
              <a:t>Reduce test dimensionality with UMAP</a:t>
            </a:r>
          </a:p>
          <a:p>
            <a:pPr marL="457200" indent="-457200">
              <a:buAutoNum type="arabicPeriod"/>
            </a:pPr>
            <a:r>
              <a:rPr lang="en-US" dirty="0"/>
              <a:t>Clustering on UMAP embedding</a:t>
            </a:r>
          </a:p>
          <a:p>
            <a:pPr marL="457200" indent="-457200">
              <a:buAutoNum type="arabicPeriod"/>
            </a:pPr>
            <a:r>
              <a:rPr lang="en-US" dirty="0"/>
              <a:t>Calculate cluster centroids</a:t>
            </a:r>
          </a:p>
          <a:p>
            <a:pPr marL="457200" indent="-457200">
              <a:buAutoNum type="arabicPeriod"/>
            </a:pPr>
            <a:r>
              <a:rPr lang="en-US" dirty="0"/>
              <a:t>Calculate patient distance to centroids</a:t>
            </a:r>
          </a:p>
          <a:p>
            <a:pPr marL="457200" indent="-457200">
              <a:buAutoNum type="arabicPeriod"/>
            </a:pPr>
            <a:r>
              <a:rPr lang="en-US" dirty="0"/>
              <a:t>Perform lesion mapping with user’s choice of toolkit</a:t>
            </a:r>
          </a:p>
          <a:p>
            <a:pPr marL="457200" indent="-457200">
              <a:buAutoNum type="arabicPeriod"/>
            </a:pPr>
            <a:endParaRPr lang="en-US" dirty="0"/>
          </a:p>
        </p:txBody>
      </p:sp>
      <p:sp>
        <p:nvSpPr>
          <p:cNvPr id="4" name="Footer Placeholder 3">
            <a:extLst>
              <a:ext uri="{FF2B5EF4-FFF2-40B4-BE49-F238E27FC236}">
                <a16:creationId xmlns:a16="http://schemas.microsoft.com/office/drawing/2014/main" id="{CC50F844-25F8-5ECD-E747-E8709620435F}"/>
              </a:ext>
            </a:extLst>
          </p:cNvPr>
          <p:cNvSpPr>
            <a:spLocks noGrp="1"/>
          </p:cNvSpPr>
          <p:nvPr>
            <p:ph type="ftr" sz="quarter" idx="4294967295"/>
          </p:nvPr>
        </p:nvSpPr>
        <p:spPr>
          <a:xfrm>
            <a:off x="2073821" y="6441193"/>
            <a:ext cx="6513130" cy="365125"/>
          </a:xfrm>
          <a:prstGeom prst="rect">
            <a:avLst/>
          </a:prstGeom>
        </p:spPr>
        <p:txBody>
          <a:bodyPr/>
          <a:lstStyle/>
          <a:p>
            <a:r>
              <a:rPr lang="en-US"/>
              <a:t>View &gt;&gt; Header and Footer &gt;&gt; Add Unit Name</a:t>
            </a:r>
            <a:endParaRPr lang="en-US" b="0" dirty="0"/>
          </a:p>
        </p:txBody>
      </p:sp>
      <p:graphicFrame>
        <p:nvGraphicFramePr>
          <p:cNvPr id="5" name="Table 4">
            <a:extLst>
              <a:ext uri="{FF2B5EF4-FFF2-40B4-BE49-F238E27FC236}">
                <a16:creationId xmlns:a16="http://schemas.microsoft.com/office/drawing/2014/main" id="{D6A0E047-19AD-2CDA-F023-A05706CB550A}"/>
              </a:ext>
            </a:extLst>
          </p:cNvPr>
          <p:cNvGraphicFramePr>
            <a:graphicFrameLocks noGrp="1"/>
          </p:cNvGraphicFramePr>
          <p:nvPr/>
        </p:nvGraphicFramePr>
        <p:xfrm>
          <a:off x="3642994" y="-3149"/>
          <a:ext cx="3149600" cy="1889760"/>
        </p:xfrm>
        <a:graphic>
          <a:graphicData uri="http://schemas.openxmlformats.org/drawingml/2006/table">
            <a:tbl>
              <a:tblPr firstRow="1" bandRow="1">
                <a:tableStyleId>{5C22544A-7EE6-4342-B048-85BDC9FD1C3A}</a:tableStyleId>
              </a:tblPr>
              <a:tblGrid>
                <a:gridCol w="1015999">
                  <a:extLst>
                    <a:ext uri="{9D8B030D-6E8A-4147-A177-3AD203B41FA5}">
                      <a16:colId xmlns:a16="http://schemas.microsoft.com/office/drawing/2014/main" val="1808688989"/>
                    </a:ext>
                  </a:extLst>
                </a:gridCol>
                <a:gridCol w="1181100">
                  <a:extLst>
                    <a:ext uri="{9D8B030D-6E8A-4147-A177-3AD203B41FA5}">
                      <a16:colId xmlns:a16="http://schemas.microsoft.com/office/drawing/2014/main" val="2024515840"/>
                    </a:ext>
                  </a:extLst>
                </a:gridCol>
                <a:gridCol w="482600">
                  <a:extLst>
                    <a:ext uri="{9D8B030D-6E8A-4147-A177-3AD203B41FA5}">
                      <a16:colId xmlns:a16="http://schemas.microsoft.com/office/drawing/2014/main" val="2694952557"/>
                    </a:ext>
                  </a:extLst>
                </a:gridCol>
                <a:gridCol w="469901">
                  <a:extLst>
                    <a:ext uri="{9D8B030D-6E8A-4147-A177-3AD203B41FA5}">
                      <a16:colId xmlns:a16="http://schemas.microsoft.com/office/drawing/2014/main" val="3091031687"/>
                    </a:ext>
                  </a:extLst>
                </a:gridCol>
              </a:tblGrid>
              <a:tr h="199924">
                <a:tc>
                  <a:txBody>
                    <a:bodyPr/>
                    <a:lstStyle/>
                    <a:p>
                      <a:pPr algn="ctr"/>
                      <a:r>
                        <a:rPr lang="en-US" sz="2000" dirty="0">
                          <a:solidFill>
                            <a:schemeClr val="tx1"/>
                          </a:solidFill>
                        </a:rPr>
                        <a:t>Patient ID</a:t>
                      </a:r>
                    </a:p>
                  </a:txBody>
                  <a:tcPr/>
                </a:tc>
                <a:tc>
                  <a:txBody>
                    <a:bodyPr/>
                    <a:lstStyle/>
                    <a:p>
                      <a:pPr algn="ctr"/>
                      <a:r>
                        <a:rPr lang="en-US" sz="2000" dirty="0">
                          <a:solidFill>
                            <a:schemeClr val="tx1"/>
                          </a:solidFill>
                        </a:rPr>
                        <a:t>BNT (T</a:t>
                      </a:r>
                      <a:r>
                        <a:rPr lang="en-US" sz="2000" baseline="-25000" dirty="0">
                          <a:solidFill>
                            <a:schemeClr val="tx1"/>
                          </a:solidFill>
                        </a:rPr>
                        <a:t>1</a:t>
                      </a:r>
                      <a:r>
                        <a:rPr lang="en-US" sz="2000" dirty="0">
                          <a:solidFill>
                            <a:schemeClr val="tx1"/>
                          </a:solidFill>
                        </a:rPr>
                        <a:t>)</a:t>
                      </a:r>
                    </a:p>
                  </a:txBody>
                  <a:tcPr/>
                </a:tc>
                <a:tc>
                  <a:txBody>
                    <a:bodyPr/>
                    <a:lstStyle/>
                    <a:p>
                      <a:pPr algn="ctr"/>
                      <a:r>
                        <a:rPr lang="en-US" sz="2000" dirty="0">
                          <a:solidFill>
                            <a:schemeClr val="tx1"/>
                          </a:solidFill>
                        </a:rPr>
                        <a:t>…</a:t>
                      </a:r>
                    </a:p>
                  </a:txBody>
                  <a:tcPr/>
                </a:tc>
                <a:tc>
                  <a:txBody>
                    <a:bodyPr/>
                    <a:lstStyle/>
                    <a:p>
                      <a:pPr algn="ctr"/>
                      <a:r>
                        <a:rPr lang="en-US" sz="2000" dirty="0">
                          <a:solidFill>
                            <a:schemeClr val="tx1"/>
                          </a:solidFill>
                        </a:rPr>
                        <a:t>T</a:t>
                      </a:r>
                      <a:r>
                        <a:rPr lang="en-US" sz="2000" baseline="-25000" dirty="0">
                          <a:solidFill>
                            <a:schemeClr val="tx1"/>
                          </a:solidFill>
                        </a:rPr>
                        <a:t>N</a:t>
                      </a:r>
                      <a:endParaRPr lang="en-US" sz="2000" dirty="0">
                        <a:solidFill>
                          <a:schemeClr val="tx1"/>
                        </a:solidFill>
                      </a:endParaRPr>
                    </a:p>
                  </a:txBody>
                  <a:tcPr/>
                </a:tc>
                <a:extLst>
                  <a:ext uri="{0D108BD9-81ED-4DB2-BD59-A6C34878D82A}">
                    <a16:rowId xmlns:a16="http://schemas.microsoft.com/office/drawing/2014/main" val="1939874380"/>
                  </a:ext>
                </a:extLst>
              </a:tr>
              <a:tr h="217290">
                <a:tc>
                  <a:txBody>
                    <a:bodyPr/>
                    <a:lstStyle/>
                    <a:p>
                      <a:pPr algn="r"/>
                      <a:r>
                        <a:rPr lang="en-US" sz="2000" dirty="0">
                          <a:solidFill>
                            <a:schemeClr val="tx1"/>
                          </a:solidFill>
                        </a:rPr>
                        <a:t>001</a:t>
                      </a: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432181462"/>
                  </a:ext>
                </a:extLst>
              </a:tr>
              <a:tr h="217290">
                <a:tc>
                  <a:txBody>
                    <a:bodyPr/>
                    <a:lstStyle/>
                    <a:p>
                      <a:pPr algn="r"/>
                      <a:r>
                        <a:rPr lang="en-US" sz="2000" dirty="0">
                          <a:solidFill>
                            <a:schemeClr val="tx1"/>
                          </a:solidFill>
                        </a:rPr>
                        <a:t>…</a:t>
                      </a: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512498731"/>
                  </a:ext>
                </a:extLst>
              </a:tr>
              <a:tr h="217290">
                <a:tc>
                  <a:txBody>
                    <a:bodyPr/>
                    <a:lstStyle/>
                    <a:p>
                      <a:pPr algn="r"/>
                      <a:r>
                        <a:rPr lang="en-US" sz="2000" dirty="0">
                          <a:solidFill>
                            <a:schemeClr val="tx1"/>
                          </a:solidFill>
                        </a:rPr>
                        <a:t>P</a:t>
                      </a:r>
                      <a:r>
                        <a:rPr lang="en-US" sz="2000" baseline="-25000" dirty="0">
                          <a:solidFill>
                            <a:schemeClr val="tx1"/>
                          </a:solidFill>
                        </a:rPr>
                        <a:t>N</a:t>
                      </a:r>
                    </a:p>
                  </a:txBody>
                  <a:tcPr/>
                </a:tc>
                <a:tc>
                  <a:txBody>
                    <a:bodyPr/>
                    <a:lstStyle/>
                    <a:p>
                      <a:endParaRPr lang="en-US">
                        <a:solidFill>
                          <a:schemeClr val="tx1"/>
                        </a:solidFill>
                      </a:endParaRPr>
                    </a:p>
                  </a:txBody>
                  <a:tcPr/>
                </a:tc>
                <a:tc>
                  <a:txBody>
                    <a:bodyPr/>
                    <a:lstStyle/>
                    <a:p>
                      <a:endParaRPr lang="en-US" dirty="0">
                        <a:solidFill>
                          <a:schemeClr val="tx1"/>
                        </a:solidFill>
                      </a:endParaRPr>
                    </a:p>
                  </a:txBody>
                  <a:tcPr/>
                </a:tc>
                <a:tc>
                  <a:txBody>
                    <a:bodyPr/>
                    <a:lstStyle/>
                    <a:p>
                      <a:endParaRPr lang="en-US" dirty="0">
                        <a:solidFill>
                          <a:schemeClr val="tx1"/>
                        </a:solidFill>
                      </a:endParaRPr>
                    </a:p>
                  </a:txBody>
                  <a:tcPr/>
                </a:tc>
                <a:extLst>
                  <a:ext uri="{0D108BD9-81ED-4DB2-BD59-A6C34878D82A}">
                    <a16:rowId xmlns:a16="http://schemas.microsoft.com/office/drawing/2014/main" val="3690531563"/>
                  </a:ext>
                </a:extLst>
              </a:tr>
            </a:tbl>
          </a:graphicData>
        </a:graphic>
      </p:graphicFrame>
      <p:pic>
        <p:nvPicPr>
          <p:cNvPr id="6" name="Picture 5">
            <a:extLst>
              <a:ext uri="{FF2B5EF4-FFF2-40B4-BE49-F238E27FC236}">
                <a16:creationId xmlns:a16="http://schemas.microsoft.com/office/drawing/2014/main" id="{AF624319-7AE4-C9A3-A319-A623782C66C0}"/>
              </a:ext>
            </a:extLst>
          </p:cNvPr>
          <p:cNvPicPr>
            <a:picLocks noChangeAspect="1"/>
          </p:cNvPicPr>
          <p:nvPr/>
        </p:nvPicPr>
        <p:blipFill>
          <a:blip r:embed="rId2"/>
          <a:srcRect t="4330"/>
          <a:stretch>
            <a:fillRect/>
          </a:stretch>
        </p:blipFill>
        <p:spPr>
          <a:xfrm>
            <a:off x="4420522" y="1951194"/>
            <a:ext cx="2246978" cy="1860146"/>
          </a:xfrm>
          <a:prstGeom prst="rect">
            <a:avLst/>
          </a:prstGeom>
        </p:spPr>
      </p:pic>
      <p:pic>
        <p:nvPicPr>
          <p:cNvPr id="7" name="Picture 6">
            <a:extLst>
              <a:ext uri="{FF2B5EF4-FFF2-40B4-BE49-F238E27FC236}">
                <a16:creationId xmlns:a16="http://schemas.microsoft.com/office/drawing/2014/main" id="{560DD76C-B049-79CC-204A-093DD0537A18}"/>
              </a:ext>
            </a:extLst>
          </p:cNvPr>
          <p:cNvPicPr>
            <a:picLocks noChangeAspect="1"/>
          </p:cNvPicPr>
          <p:nvPr/>
        </p:nvPicPr>
        <p:blipFill>
          <a:blip r:embed="rId3"/>
          <a:srcRect t="5943"/>
          <a:stretch>
            <a:fillRect/>
          </a:stretch>
        </p:blipFill>
        <p:spPr>
          <a:xfrm>
            <a:off x="6809632" y="24358"/>
            <a:ext cx="2410568" cy="1860146"/>
          </a:xfrm>
          <a:prstGeom prst="rect">
            <a:avLst/>
          </a:prstGeom>
        </p:spPr>
      </p:pic>
      <p:pic>
        <p:nvPicPr>
          <p:cNvPr id="8" name="Picture 7">
            <a:extLst>
              <a:ext uri="{FF2B5EF4-FFF2-40B4-BE49-F238E27FC236}">
                <a16:creationId xmlns:a16="http://schemas.microsoft.com/office/drawing/2014/main" id="{2F69E085-24F5-8E7C-00CA-C43DDF2E9816}"/>
              </a:ext>
            </a:extLst>
          </p:cNvPr>
          <p:cNvPicPr>
            <a:picLocks noChangeAspect="1"/>
          </p:cNvPicPr>
          <p:nvPr/>
        </p:nvPicPr>
        <p:blipFill>
          <a:blip r:embed="rId4"/>
          <a:stretch>
            <a:fillRect/>
          </a:stretch>
        </p:blipFill>
        <p:spPr>
          <a:xfrm>
            <a:off x="6789144" y="1951194"/>
            <a:ext cx="2214609" cy="1825981"/>
          </a:xfrm>
          <a:prstGeom prst="rect">
            <a:avLst/>
          </a:prstGeom>
        </p:spPr>
      </p:pic>
      <p:pic>
        <p:nvPicPr>
          <p:cNvPr id="12" name="Picture 11">
            <a:extLst>
              <a:ext uri="{FF2B5EF4-FFF2-40B4-BE49-F238E27FC236}">
                <a16:creationId xmlns:a16="http://schemas.microsoft.com/office/drawing/2014/main" id="{0E2E63C2-4CC5-5AAE-B30D-4999878BDA90}"/>
              </a:ext>
            </a:extLst>
          </p:cNvPr>
          <p:cNvPicPr>
            <a:picLocks noChangeAspect="1"/>
          </p:cNvPicPr>
          <p:nvPr/>
        </p:nvPicPr>
        <p:blipFill>
          <a:blip r:embed="rId5"/>
          <a:stretch>
            <a:fillRect/>
          </a:stretch>
        </p:blipFill>
        <p:spPr>
          <a:xfrm>
            <a:off x="4572000" y="3957268"/>
            <a:ext cx="2368622" cy="1772325"/>
          </a:xfrm>
          <a:prstGeom prst="rect">
            <a:avLst/>
          </a:prstGeom>
        </p:spPr>
      </p:pic>
      <p:graphicFrame>
        <p:nvGraphicFramePr>
          <p:cNvPr id="13" name="Table 12">
            <a:extLst>
              <a:ext uri="{FF2B5EF4-FFF2-40B4-BE49-F238E27FC236}">
                <a16:creationId xmlns:a16="http://schemas.microsoft.com/office/drawing/2014/main" id="{59FC70A7-56AA-A3D2-E2FD-9A997C7F2BFE}"/>
              </a:ext>
            </a:extLst>
          </p:cNvPr>
          <p:cNvGraphicFramePr>
            <a:graphicFrameLocks noGrp="1"/>
          </p:cNvGraphicFramePr>
          <p:nvPr/>
        </p:nvGraphicFramePr>
        <p:xfrm>
          <a:off x="6940622" y="4019926"/>
          <a:ext cx="2197099" cy="1889760"/>
        </p:xfrm>
        <a:graphic>
          <a:graphicData uri="http://schemas.openxmlformats.org/drawingml/2006/table">
            <a:tbl>
              <a:tblPr firstRow="1" bandRow="1">
                <a:tableStyleId>{5C22544A-7EE6-4342-B048-85BDC9FD1C3A}</a:tableStyleId>
              </a:tblPr>
              <a:tblGrid>
                <a:gridCol w="1015999">
                  <a:extLst>
                    <a:ext uri="{9D8B030D-6E8A-4147-A177-3AD203B41FA5}">
                      <a16:colId xmlns:a16="http://schemas.microsoft.com/office/drawing/2014/main" val="1808688989"/>
                    </a:ext>
                  </a:extLst>
                </a:gridCol>
                <a:gridCol w="1181100">
                  <a:extLst>
                    <a:ext uri="{9D8B030D-6E8A-4147-A177-3AD203B41FA5}">
                      <a16:colId xmlns:a16="http://schemas.microsoft.com/office/drawing/2014/main" val="2024515840"/>
                    </a:ext>
                  </a:extLst>
                </a:gridCol>
              </a:tblGrid>
              <a:tr h="199924">
                <a:tc>
                  <a:txBody>
                    <a:bodyPr/>
                    <a:lstStyle/>
                    <a:p>
                      <a:pPr algn="ctr"/>
                      <a:r>
                        <a:rPr lang="en-US" sz="2000" dirty="0">
                          <a:solidFill>
                            <a:schemeClr val="tx1"/>
                          </a:solidFill>
                        </a:rPr>
                        <a:t>Patient ID</a:t>
                      </a:r>
                    </a:p>
                  </a:txBody>
                  <a:tcPr/>
                </a:tc>
                <a:tc>
                  <a:txBody>
                    <a:bodyPr/>
                    <a:lstStyle/>
                    <a:p>
                      <a:pPr algn="ctr"/>
                      <a:r>
                        <a:rPr lang="en-US" sz="2000" dirty="0">
                          <a:solidFill>
                            <a:schemeClr val="tx1"/>
                          </a:solidFill>
                        </a:rPr>
                        <a:t>Dist. To </a:t>
                      </a:r>
                      <a:r>
                        <a:rPr lang="en-US" sz="2000" dirty="0" err="1">
                          <a:solidFill>
                            <a:schemeClr val="tx1"/>
                          </a:solidFill>
                        </a:rPr>
                        <a:t>Clu</a:t>
                      </a:r>
                      <a:r>
                        <a:rPr lang="en-US" sz="2000" dirty="0">
                          <a:solidFill>
                            <a:schemeClr val="tx1"/>
                          </a:solidFill>
                        </a:rPr>
                        <a:t>. </a:t>
                      </a:r>
                      <a:r>
                        <a:rPr lang="en-US" sz="2000" i="1" dirty="0">
                          <a:solidFill>
                            <a:schemeClr val="tx1"/>
                          </a:solidFill>
                        </a:rPr>
                        <a:t>k</a:t>
                      </a:r>
                    </a:p>
                  </a:txBody>
                  <a:tcPr/>
                </a:tc>
                <a:extLst>
                  <a:ext uri="{0D108BD9-81ED-4DB2-BD59-A6C34878D82A}">
                    <a16:rowId xmlns:a16="http://schemas.microsoft.com/office/drawing/2014/main" val="1939874380"/>
                  </a:ext>
                </a:extLst>
              </a:tr>
              <a:tr h="217290">
                <a:tc>
                  <a:txBody>
                    <a:bodyPr/>
                    <a:lstStyle/>
                    <a:p>
                      <a:pPr algn="r"/>
                      <a:r>
                        <a:rPr lang="en-US" sz="2000" dirty="0">
                          <a:solidFill>
                            <a:schemeClr val="tx1"/>
                          </a:solidFill>
                        </a:rPr>
                        <a:t>001</a:t>
                      </a:r>
                    </a:p>
                  </a:txBody>
                  <a:tcPr/>
                </a:tc>
                <a:tc>
                  <a:txBody>
                    <a:bodyPr/>
                    <a:lstStyle/>
                    <a:p>
                      <a:endParaRPr lang="en-US" dirty="0">
                        <a:solidFill>
                          <a:schemeClr val="tx1"/>
                        </a:solidFill>
                      </a:endParaRPr>
                    </a:p>
                  </a:txBody>
                  <a:tcPr/>
                </a:tc>
                <a:extLst>
                  <a:ext uri="{0D108BD9-81ED-4DB2-BD59-A6C34878D82A}">
                    <a16:rowId xmlns:a16="http://schemas.microsoft.com/office/drawing/2014/main" val="3432181462"/>
                  </a:ext>
                </a:extLst>
              </a:tr>
              <a:tr h="217290">
                <a:tc>
                  <a:txBody>
                    <a:bodyPr/>
                    <a:lstStyle/>
                    <a:p>
                      <a:pPr algn="r"/>
                      <a:r>
                        <a:rPr lang="en-US" sz="2000" dirty="0">
                          <a:solidFill>
                            <a:schemeClr val="tx1"/>
                          </a:solidFill>
                        </a:rPr>
                        <a:t>…</a:t>
                      </a:r>
                    </a:p>
                  </a:txBody>
                  <a:tcPr/>
                </a:tc>
                <a:tc>
                  <a:txBody>
                    <a:bodyPr/>
                    <a:lstStyle/>
                    <a:p>
                      <a:endParaRPr lang="en-US" dirty="0">
                        <a:solidFill>
                          <a:schemeClr val="tx1"/>
                        </a:solidFill>
                      </a:endParaRPr>
                    </a:p>
                  </a:txBody>
                  <a:tcPr/>
                </a:tc>
                <a:extLst>
                  <a:ext uri="{0D108BD9-81ED-4DB2-BD59-A6C34878D82A}">
                    <a16:rowId xmlns:a16="http://schemas.microsoft.com/office/drawing/2014/main" val="512498731"/>
                  </a:ext>
                </a:extLst>
              </a:tr>
              <a:tr h="217290">
                <a:tc>
                  <a:txBody>
                    <a:bodyPr/>
                    <a:lstStyle/>
                    <a:p>
                      <a:pPr algn="r"/>
                      <a:r>
                        <a:rPr lang="en-US" sz="2000" dirty="0">
                          <a:solidFill>
                            <a:schemeClr val="tx1"/>
                          </a:solidFill>
                        </a:rPr>
                        <a:t>P</a:t>
                      </a:r>
                      <a:r>
                        <a:rPr lang="en-US" sz="2000" baseline="-25000" dirty="0">
                          <a:solidFill>
                            <a:schemeClr val="tx1"/>
                          </a:solidFill>
                        </a:rPr>
                        <a:t>N</a:t>
                      </a:r>
                    </a:p>
                  </a:txBody>
                  <a:tcPr/>
                </a:tc>
                <a:tc>
                  <a:txBody>
                    <a:bodyPr/>
                    <a:lstStyle/>
                    <a:p>
                      <a:endParaRPr lang="en-US" dirty="0">
                        <a:solidFill>
                          <a:schemeClr val="tx1"/>
                        </a:solidFill>
                      </a:endParaRPr>
                    </a:p>
                  </a:txBody>
                  <a:tcPr/>
                </a:tc>
                <a:extLst>
                  <a:ext uri="{0D108BD9-81ED-4DB2-BD59-A6C34878D82A}">
                    <a16:rowId xmlns:a16="http://schemas.microsoft.com/office/drawing/2014/main" val="3690531563"/>
                  </a:ext>
                </a:extLst>
              </a:tr>
            </a:tbl>
          </a:graphicData>
        </a:graphic>
      </p:graphicFrame>
    </p:spTree>
    <p:extLst>
      <p:ext uri="{BB962C8B-B14F-4D97-AF65-F5344CB8AC3E}">
        <p14:creationId xmlns:p14="http://schemas.microsoft.com/office/powerpoint/2010/main" val="3771973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3B452-D199-B7B8-808D-1AFC9683FBF5}"/>
            </a:ext>
          </a:extLst>
        </p:cNvPr>
        <p:cNvGrpSpPr/>
        <p:nvPr/>
      </p:nvGrpSpPr>
      <p:grpSpPr>
        <a:xfrm>
          <a:off x="0" y="0"/>
          <a:ext cx="0" cy="0"/>
          <a:chOff x="0" y="0"/>
          <a:chExt cx="0" cy="0"/>
        </a:xfrm>
      </p:grpSpPr>
      <p:sp>
        <p:nvSpPr>
          <p:cNvPr id="5" name="Arrow: Down 4">
            <a:extLst>
              <a:ext uri="{FF2B5EF4-FFF2-40B4-BE49-F238E27FC236}">
                <a16:creationId xmlns:a16="http://schemas.microsoft.com/office/drawing/2014/main" id="{68873B7C-E685-DCC6-A571-662416C9350A}"/>
              </a:ext>
            </a:extLst>
          </p:cNvPr>
          <p:cNvSpPr/>
          <p:nvPr/>
        </p:nvSpPr>
        <p:spPr>
          <a:xfrm>
            <a:off x="1600200" y="4340224"/>
            <a:ext cx="749300" cy="2240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C50CCDF-AC31-84E7-0F6E-384C6376C758}"/>
              </a:ext>
            </a:extLst>
          </p:cNvPr>
          <p:cNvSpPr txBox="1"/>
          <p:nvPr/>
        </p:nvSpPr>
        <p:spPr>
          <a:xfrm>
            <a:off x="2654300" y="4755930"/>
            <a:ext cx="5956300" cy="1938992"/>
          </a:xfrm>
          <a:prstGeom prst="rect">
            <a:avLst/>
          </a:prstGeom>
          <a:noFill/>
        </p:spPr>
        <p:txBody>
          <a:bodyPr wrap="square" rtlCol="0">
            <a:spAutoFit/>
          </a:bodyPr>
          <a:lstStyle/>
          <a:p>
            <a:pPr algn="ctr"/>
            <a:r>
              <a:rPr lang="en-US" sz="4000" dirty="0"/>
              <a:t>Average within-cluster performance on each test</a:t>
            </a:r>
          </a:p>
        </p:txBody>
      </p:sp>
      <p:sp>
        <p:nvSpPr>
          <p:cNvPr id="8" name="TextBox 7">
            <a:extLst>
              <a:ext uri="{FF2B5EF4-FFF2-40B4-BE49-F238E27FC236}">
                <a16:creationId xmlns:a16="http://schemas.microsoft.com/office/drawing/2014/main" id="{DF62DA46-17A3-C08A-0D2A-B47C3ADCCF30}"/>
              </a:ext>
            </a:extLst>
          </p:cNvPr>
          <p:cNvSpPr txBox="1"/>
          <p:nvPr/>
        </p:nvSpPr>
        <p:spPr>
          <a:xfrm>
            <a:off x="0" y="1224907"/>
            <a:ext cx="4057650" cy="1569660"/>
          </a:xfrm>
          <a:prstGeom prst="rect">
            <a:avLst/>
          </a:prstGeom>
          <a:noFill/>
        </p:spPr>
        <p:txBody>
          <a:bodyPr wrap="square" rtlCol="0">
            <a:spAutoFit/>
          </a:bodyPr>
          <a:lstStyle/>
          <a:p>
            <a:pPr algn="ctr"/>
            <a:r>
              <a:rPr lang="en-US" sz="3200" dirty="0"/>
              <a:t>Clusters determined quantitatively or qualitatively</a:t>
            </a:r>
          </a:p>
        </p:txBody>
      </p:sp>
      <p:pic>
        <p:nvPicPr>
          <p:cNvPr id="9" name="Picture 8">
            <a:extLst>
              <a:ext uri="{FF2B5EF4-FFF2-40B4-BE49-F238E27FC236}">
                <a16:creationId xmlns:a16="http://schemas.microsoft.com/office/drawing/2014/main" id="{4D32293B-3D95-9C59-704D-94890256894D}"/>
              </a:ext>
            </a:extLst>
          </p:cNvPr>
          <p:cNvPicPr>
            <a:picLocks noChangeAspect="1"/>
          </p:cNvPicPr>
          <p:nvPr/>
        </p:nvPicPr>
        <p:blipFill>
          <a:blip r:embed="rId3"/>
          <a:srcRect t="4330"/>
          <a:stretch>
            <a:fillRect/>
          </a:stretch>
        </p:blipFill>
        <p:spPr>
          <a:xfrm>
            <a:off x="4141670" y="86113"/>
            <a:ext cx="4924661" cy="4076850"/>
          </a:xfrm>
          <a:prstGeom prst="rect">
            <a:avLst/>
          </a:prstGeom>
        </p:spPr>
      </p:pic>
    </p:spTree>
    <p:extLst>
      <p:ext uri="{BB962C8B-B14F-4D97-AF65-F5344CB8AC3E}">
        <p14:creationId xmlns:p14="http://schemas.microsoft.com/office/powerpoint/2010/main" val="219981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B8090-BB15-615D-7DBF-73AA76BC2B4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45B75F2-5C06-0964-ED9B-B213F7792E1B}"/>
              </a:ext>
            </a:extLst>
          </p:cNvPr>
          <p:cNvPicPr>
            <a:picLocks noChangeAspect="1"/>
          </p:cNvPicPr>
          <p:nvPr/>
        </p:nvPicPr>
        <p:blipFill>
          <a:blip r:embed="rId3"/>
          <a:stretch>
            <a:fillRect/>
          </a:stretch>
        </p:blipFill>
        <p:spPr>
          <a:xfrm>
            <a:off x="588099" y="0"/>
            <a:ext cx="7967801" cy="6858000"/>
          </a:xfrm>
          <a:prstGeom prst="rect">
            <a:avLst/>
          </a:prstGeom>
        </p:spPr>
      </p:pic>
      <p:sp>
        <p:nvSpPr>
          <p:cNvPr id="4" name="Rectangle 3">
            <a:extLst>
              <a:ext uri="{FF2B5EF4-FFF2-40B4-BE49-F238E27FC236}">
                <a16:creationId xmlns:a16="http://schemas.microsoft.com/office/drawing/2014/main" id="{FE317BCE-2371-F0A3-20F8-B56B55D55608}"/>
              </a:ext>
            </a:extLst>
          </p:cNvPr>
          <p:cNvSpPr/>
          <p:nvPr/>
        </p:nvSpPr>
        <p:spPr>
          <a:xfrm>
            <a:off x="373380" y="-213360"/>
            <a:ext cx="762000" cy="406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664FA03-614C-3846-773E-AAEA9BC1758E}"/>
              </a:ext>
            </a:extLst>
          </p:cNvPr>
          <p:cNvSpPr/>
          <p:nvPr/>
        </p:nvSpPr>
        <p:spPr>
          <a:xfrm>
            <a:off x="6723379" y="2343572"/>
            <a:ext cx="2047239" cy="293962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3831027"/>
      </p:ext>
    </p:extLst>
  </p:cSld>
  <p:clrMapOvr>
    <a:masterClrMapping/>
  </p:clrMapOvr>
</p:sld>
</file>

<file path=ppt/theme/theme1.xml><?xml version="1.0" encoding="utf-8"?>
<a:theme xmlns:a="http://schemas.openxmlformats.org/drawingml/2006/main" name="Office Theme">
  <a:themeElements>
    <a:clrScheme name="IOWA BRAND COLORS">
      <a:dk1>
        <a:srgbClr val="000000"/>
      </a:dk1>
      <a:lt1>
        <a:srgbClr val="FFFFFF"/>
      </a:lt1>
      <a:dk2>
        <a:srgbClr val="62666A"/>
      </a:dk2>
      <a:lt2>
        <a:srgbClr val="BBBCBC"/>
      </a:lt2>
      <a:accent1>
        <a:srgbClr val="FFCD00"/>
      </a:accent1>
      <a:accent2>
        <a:srgbClr val="616669"/>
      </a:accent2>
      <a:accent3>
        <a:srgbClr val="BBBCBC"/>
      </a:accent3>
      <a:accent4>
        <a:srgbClr val="00A9E0"/>
      </a:accent4>
      <a:accent5>
        <a:srgbClr val="00AF66"/>
      </a:accent5>
      <a:accent6>
        <a:srgbClr val="FF8200"/>
      </a:accent6>
      <a:hlink>
        <a:srgbClr val="00558C"/>
      </a:hlink>
      <a:folHlink>
        <a:srgbClr val="636669"/>
      </a:folHlink>
    </a:clrScheme>
    <a:fontScheme name="University of Iow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ECE431C49C641835331F8F155C927" ma:contentTypeVersion="17" ma:contentTypeDescription="Create a new document." ma:contentTypeScope="" ma:versionID="a4aa44d1c7be93b7b33e74f0d35330d2">
  <xsd:schema xmlns:xsd="http://www.w3.org/2001/XMLSchema" xmlns:xs="http://www.w3.org/2001/XMLSchema" xmlns:p="http://schemas.microsoft.com/office/2006/metadata/properties" xmlns:ns3="126773f3-138a-4932-9430-374550db2cb2" xmlns:ns4="3f22499f-c798-421c-afe5-20f39e819821" targetNamespace="http://schemas.microsoft.com/office/2006/metadata/properties" ma:root="true" ma:fieldsID="da32261815a5e5f5bfbb81baeeb2e4e1" ns3:_="" ns4:_="">
    <xsd:import namespace="126773f3-138a-4932-9430-374550db2cb2"/>
    <xsd:import namespace="3f22499f-c798-421c-afe5-20f39e81982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6773f3-138a-4932-9430-374550db2c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f22499f-c798-421c-afe5-20f39e81982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26773f3-138a-4932-9430-374550db2cb2"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CB0526-6B39-44D0-A762-82D3D25CD7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6773f3-138a-4932-9430-374550db2cb2"/>
    <ds:schemaRef ds:uri="3f22499f-c798-421c-afe5-20f39e8198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97FFD54-27B0-415C-8654-D843242BD071}">
  <ds:schemaRefs>
    <ds:schemaRef ds:uri="126773f3-138a-4932-9430-374550db2cb2"/>
    <ds:schemaRef ds:uri="http://schemas.openxmlformats.org/package/2006/metadata/core-properties"/>
    <ds:schemaRef ds:uri="http://schemas.microsoft.com/office/2006/documentManagement/types"/>
    <ds:schemaRef ds:uri="3f22499f-c798-421c-afe5-20f39e819821"/>
    <ds:schemaRef ds:uri="http://purl.org/dc/elements/1.1/"/>
    <ds:schemaRef ds:uri="http://www.w3.org/XML/1998/namespace"/>
    <ds:schemaRef ds:uri="http://purl.org/dc/terms/"/>
    <ds:schemaRef ds:uri="http://schemas.microsoft.com/office/2006/metadata/properties"/>
    <ds:schemaRef ds:uri="http://purl.org/dc/dcmitype/"/>
    <ds:schemaRef ds:uri="http://schemas.microsoft.com/office/infopath/2007/PartnerControls"/>
  </ds:schemaRefs>
</ds:datastoreItem>
</file>

<file path=customXml/itemProps3.xml><?xml version="1.0" encoding="utf-8"?>
<ds:datastoreItem xmlns:ds="http://schemas.openxmlformats.org/officeDocument/2006/customXml" ds:itemID="{A14B8143-C3D6-460D-830C-A8DBEE85511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7162</TotalTime>
  <Words>2573</Words>
  <Application>Microsoft Office PowerPoint</Application>
  <PresentationFormat>On-screen Show (4:3)</PresentationFormat>
  <Paragraphs>309</Paragraphs>
  <Slides>47</Slides>
  <Notes>41</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Aptos</vt:lpstr>
      <vt:lpstr>Arial</vt:lpstr>
      <vt:lpstr>Calibri</vt:lpstr>
      <vt:lpstr>Roboto</vt:lpstr>
      <vt:lpstr>Roboto Black</vt:lpstr>
      <vt:lpstr>Office Theme</vt:lpstr>
      <vt:lpstr>Introducing Lesion Profile Mapping</vt:lpstr>
      <vt:lpstr>Outline</vt:lpstr>
      <vt:lpstr>Background</vt:lpstr>
      <vt:lpstr>Lesion-Symptom Mapping</vt:lpstr>
      <vt:lpstr>Lesion-Symptom Mapping</vt:lpstr>
      <vt:lpstr>Lesion-Symptom Mapping</vt:lpstr>
      <vt:lpstr>PowerPoint Presentation</vt:lpstr>
      <vt:lpstr>PowerPoint Presentation</vt:lpstr>
      <vt:lpstr>Current Approach 1: Mapping Test Performance</vt:lpstr>
      <vt:lpstr>PowerPoint Presentation</vt:lpstr>
      <vt:lpstr>PowerPoint Presentation</vt:lpstr>
      <vt:lpstr>PowerPoint Presentation</vt:lpstr>
      <vt:lpstr>PowerPoint Presentation</vt:lpstr>
      <vt:lpstr>Methodological Gap</vt:lpstr>
      <vt:lpstr>Approach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Lesion Profile Mapping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Processing Steps</vt:lpstr>
      <vt:lpstr>What we have done:</vt:lpstr>
      <vt:lpstr>Using Behavioral Profiles for Prediction</vt:lpstr>
      <vt:lpstr>Thank you!</vt:lpstr>
      <vt:lpstr>Processing Steps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ryan-potter@uiowa.edu</dc:creator>
  <cp:lastModifiedBy>Skye, Jax D</cp:lastModifiedBy>
  <cp:revision>291</cp:revision>
  <dcterms:created xsi:type="dcterms:W3CDTF">2020-01-21T18:13:39Z</dcterms:created>
  <dcterms:modified xsi:type="dcterms:W3CDTF">2026-04-26T00:50:40Z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0x010100065ECE431C49C641835331F8F155C927</vt:lpwstr>
  </property>
</Properties>
</file>